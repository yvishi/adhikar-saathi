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7825" cx="12191675"/>
  <p:notesSz cx="6858000" cy="9144000"/>
  <p:embeddedFontLst>
    <p:embeddedFont>
      <p:font typeface="Instrument Serif"/>
      <p:regular r:id="rId16"/>
      <p:italic r:id="rId17"/>
    </p:embeddedFont>
    <p:embeddedFont>
      <p:font typeface="JetBrains Mono"/>
      <p:regular r:id="rId18"/>
      <p:bold r:id="rId19"/>
      <p:italic r:id="rId20"/>
      <p:boldItalic r:id="rId21"/>
    </p:embeddedFont>
    <p:embeddedFont>
      <p:font typeface="Space Grotesk"/>
      <p:regular r:id="rId22"/>
      <p:bold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JetBrainsMono-italic.fntdata"/><Relationship Id="rId11" Type="http://schemas.openxmlformats.org/officeDocument/2006/relationships/slide" Target="slides/slide6.xml"/><Relationship Id="rId22" Type="http://schemas.openxmlformats.org/officeDocument/2006/relationships/font" Target="fonts/SpaceGrotesk-regular.fntdata"/><Relationship Id="rId10" Type="http://schemas.openxmlformats.org/officeDocument/2006/relationships/slide" Target="slides/slide5.xml"/><Relationship Id="rId21" Type="http://schemas.openxmlformats.org/officeDocument/2006/relationships/font" Target="fonts/JetBrainsMon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SpaceGrotesk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InstrumentSerif-italic.fntdata"/><Relationship Id="rId16" Type="http://schemas.openxmlformats.org/officeDocument/2006/relationships/font" Target="fonts/InstrumentSerif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JetBrainsMono-bold.fntdata"/><Relationship Id="rId6" Type="http://schemas.openxmlformats.org/officeDocument/2006/relationships/slide" Target="slides/slide1.xml"/><Relationship Id="rId18" Type="http://schemas.openxmlformats.org/officeDocument/2006/relationships/font" Target="fonts/JetBrainsMon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ot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782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711182" y="558786"/>
            <a:ext cx="4444888" cy="253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4EFE6"/>
                </a:solidFill>
                <a:latin typeface="Space Grotesk"/>
                <a:ea typeface="Space Grotesk"/>
                <a:cs typeface="Space Grotesk"/>
                <a:sym typeface="Space Grotesk"/>
              </a:rPr>
              <a:t>✱  BFWAI/HACK 26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6984825" y="571485"/>
            <a:ext cx="4495687" cy="253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757068"/>
                </a:solidFill>
                <a:latin typeface="Space Grotesk"/>
                <a:ea typeface="Space Grotesk"/>
                <a:cs typeface="Space Grotesk"/>
                <a:sym typeface="Space Grotesk"/>
              </a:rPr>
              <a:t>Idea submission</a:t>
            </a:r>
            <a:endParaRPr/>
          </a:p>
        </p:txBody>
      </p:sp>
      <p:cxnSp>
        <p:nvCxnSpPr>
          <p:cNvPr id="87" name="Google Shape;87;p13"/>
          <p:cNvCxnSpPr/>
          <p:nvPr/>
        </p:nvCxnSpPr>
        <p:spPr>
          <a:xfrm>
            <a:off x="711182" y="6286342"/>
            <a:ext cx="10769330" cy="0"/>
          </a:xfrm>
          <a:prstGeom prst="straightConnector1">
            <a:avLst/>
          </a:prstGeom>
          <a:noFill/>
          <a:ln cap="flat" cmpd="sng" w="9525">
            <a:solidFill>
              <a:srgbClr val="332D2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88" name="Google Shape;88;p13"/>
          <p:cNvSpPr txBox="1"/>
          <p:nvPr/>
        </p:nvSpPr>
        <p:spPr>
          <a:xfrm>
            <a:off x="711182" y="6413339"/>
            <a:ext cx="5714857" cy="2285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4EFE6"/>
                </a:solidFill>
                <a:latin typeface="Space Grotesk"/>
                <a:ea typeface="Space Grotesk"/>
                <a:cs typeface="Space Grotesk"/>
                <a:sym typeface="Space Grotesk"/>
              </a:rPr>
              <a:t>buildfastwithai.com/hackathon ↗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8254793" y="6426039"/>
            <a:ext cx="3225719" cy="2285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75706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 / 10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711182" y="1904952"/>
            <a:ext cx="5714857" cy="190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2B6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AI BUILD CHALLENGE 2026 · IDEA DECK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711182" y="2222444"/>
            <a:ext cx="9524761" cy="1650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600" u="none" cap="none" strike="noStrike">
                <a:solidFill>
                  <a:srgbClr val="F4EFE6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[Your idea name]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711182" y="3555911"/>
            <a:ext cx="8889777" cy="761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3400" u="none" cap="none" strike="noStrike">
                <a:solidFill>
                  <a:srgbClr val="FFD27A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[One line: what you're building, and who it's for]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711182" y="5016374"/>
            <a:ext cx="3301917" cy="190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75706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TEAM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711182" y="5270368"/>
            <a:ext cx="3428914" cy="380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4EFE6"/>
                </a:solidFill>
                <a:latin typeface="Space Grotesk"/>
                <a:ea typeface="Space Grotesk"/>
                <a:cs typeface="Space Grotesk"/>
                <a:sym typeface="Space Grotesk"/>
              </a:rPr>
              <a:t>[Team name]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4330591" y="5016374"/>
            <a:ext cx="3301917" cy="190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75706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PROBLEM STATEMENT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4330591" y="5270368"/>
            <a:ext cx="3428914" cy="380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4EFE6"/>
                </a:solidFill>
                <a:latin typeface="Space Grotesk"/>
                <a:ea typeface="Space Grotesk"/>
                <a:cs typeface="Space Grotesk"/>
                <a:sym typeface="Space Grotesk"/>
              </a:rPr>
              <a:t>[PS-0X · Title]</a:t>
            </a:r>
            <a:endParaRPr/>
          </a:p>
        </p:txBody>
      </p:sp>
      <p:sp>
        <p:nvSpPr>
          <p:cNvPr id="97" name="Google Shape;97;p13"/>
          <p:cNvSpPr txBox="1"/>
          <p:nvPr/>
        </p:nvSpPr>
        <p:spPr>
          <a:xfrm>
            <a:off x="7950001" y="5016374"/>
            <a:ext cx="3301917" cy="190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75706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MEMBERS</a:t>
            </a:r>
            <a:endParaRPr/>
          </a:p>
        </p:txBody>
      </p:sp>
      <p:sp>
        <p:nvSpPr>
          <p:cNvPr id="98" name="Google Shape;98;p13"/>
          <p:cNvSpPr txBox="1"/>
          <p:nvPr/>
        </p:nvSpPr>
        <p:spPr>
          <a:xfrm>
            <a:off x="7950001" y="5270368"/>
            <a:ext cx="3428914" cy="380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4EFE6"/>
                </a:solidFill>
                <a:latin typeface="Space Grotesk"/>
                <a:ea typeface="Space Grotesk"/>
                <a:cs typeface="Space Grotesk"/>
                <a:sym typeface="Space Grotesk"/>
              </a:rPr>
              <a:t>[Name, Name, Name]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eft.png" id="103" name="Google Shape;10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7828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711182" y="558786"/>
            <a:ext cx="4444888" cy="253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4EFE6"/>
                </a:solidFill>
                <a:latin typeface="Space Grotesk"/>
                <a:ea typeface="Space Grotesk"/>
                <a:cs typeface="Space Grotesk"/>
                <a:sym typeface="Space Grotesk"/>
              </a:rPr>
              <a:t>✱  BFWAI/HACK 26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6984825" y="571485"/>
            <a:ext cx="4495687" cy="253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757068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Read first</a:t>
            </a:r>
            <a:endParaRPr/>
          </a:p>
        </p:txBody>
      </p:sp>
      <p:cxnSp>
        <p:nvCxnSpPr>
          <p:cNvPr id="106" name="Google Shape;106;p14"/>
          <p:cNvCxnSpPr/>
          <p:nvPr/>
        </p:nvCxnSpPr>
        <p:spPr>
          <a:xfrm>
            <a:off x="711182" y="6286342"/>
            <a:ext cx="10769330" cy="0"/>
          </a:xfrm>
          <a:prstGeom prst="straightConnector1">
            <a:avLst/>
          </a:prstGeom>
          <a:noFill/>
          <a:ln cap="flat" cmpd="sng" w="9525">
            <a:solidFill>
              <a:srgbClr val="332D2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07" name="Google Shape;107;p14"/>
          <p:cNvSpPr txBox="1"/>
          <p:nvPr/>
        </p:nvSpPr>
        <p:spPr>
          <a:xfrm>
            <a:off x="711182" y="6413339"/>
            <a:ext cx="5714857" cy="2285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4EFE6"/>
                </a:solidFill>
                <a:latin typeface="Space Grotesk"/>
                <a:ea typeface="Space Grotesk"/>
                <a:cs typeface="Space Grotesk"/>
                <a:sym typeface="Space Grotesk"/>
              </a:rPr>
              <a:t>buildfastwithai.com/hackathon ↗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8254793" y="6426039"/>
            <a:ext cx="3225719" cy="2285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75706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 / 10</a:t>
            </a:r>
            <a:endParaRPr/>
          </a:p>
        </p:txBody>
      </p:sp>
      <p:sp>
        <p:nvSpPr>
          <p:cNvPr id="109" name="Google Shape;109;p14"/>
          <p:cNvSpPr/>
          <p:nvPr/>
        </p:nvSpPr>
        <p:spPr>
          <a:xfrm>
            <a:off x="9207269" y="1079473"/>
            <a:ext cx="2273243" cy="330191"/>
          </a:xfrm>
          <a:prstGeom prst="roundRect">
            <a:avLst>
              <a:gd fmla="val 50000" name="adj"/>
            </a:avLst>
          </a:prstGeom>
          <a:solidFill>
            <a:srgbClr val="F2B632"/>
          </a:solidFill>
          <a:ln cap="flat" cmpd="sng" w="12700">
            <a:solidFill>
              <a:srgbClr val="F2B6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9207269" y="1079473"/>
            <a:ext cx="2273243" cy="33019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140F0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DELETE THIS SLIDE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711182" y="1206469"/>
            <a:ext cx="5714857" cy="190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>
                <a:solidFill>
                  <a:srgbClr val="F2B6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BEFORE YOU START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711182" y="1492212"/>
            <a:ext cx="10794730" cy="9524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00">
                <a:solidFill>
                  <a:srgbClr val="F4EFE6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How to use </a:t>
            </a:r>
            <a:r>
              <a:rPr b="0" i="1" lang="en-US" sz="5600">
                <a:solidFill>
                  <a:srgbClr val="FFD27A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this template</a:t>
            </a:r>
            <a:endParaRPr/>
          </a:p>
        </p:txBody>
      </p:sp>
      <p:sp>
        <p:nvSpPr>
          <p:cNvPr id="113" name="Google Shape;113;p14"/>
          <p:cNvSpPr/>
          <p:nvPr/>
        </p:nvSpPr>
        <p:spPr>
          <a:xfrm>
            <a:off x="711182" y="2666933"/>
            <a:ext cx="380990" cy="380990"/>
          </a:xfrm>
          <a:prstGeom prst="ellipse">
            <a:avLst/>
          </a:prstGeom>
          <a:solidFill>
            <a:srgbClr val="2A2110"/>
          </a:solidFill>
          <a:ln cap="flat" cmpd="sng" w="9525">
            <a:solidFill>
              <a:srgbClr val="8A68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4"/>
          <p:cNvSpPr txBox="1"/>
          <p:nvPr/>
        </p:nvSpPr>
        <p:spPr>
          <a:xfrm>
            <a:off x="711182" y="2666933"/>
            <a:ext cx="380990" cy="3809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700">
                <a:solidFill>
                  <a:srgbClr val="FFD27A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1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1282667" y="2679633"/>
            <a:ext cx="4571885" cy="253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>
                <a:solidFill>
                  <a:srgbClr val="F4EFE6"/>
                </a:solidFill>
                <a:latin typeface="Space Grotesk"/>
                <a:ea typeface="Space Grotesk"/>
                <a:cs typeface="Space Grotesk"/>
                <a:sym typeface="Space Grotesk"/>
              </a:rPr>
              <a:t>Make your own copy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1282667" y="2959026"/>
            <a:ext cx="4571885" cy="5714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>
                <a:solidFill>
                  <a:srgbClr val="9E988E"/>
                </a:solidFill>
                <a:latin typeface="Space Grotesk"/>
                <a:ea typeface="Space Grotesk"/>
                <a:cs typeface="Space Grotesk"/>
                <a:sym typeface="Space Grotesk"/>
              </a:rPr>
              <a:t>File → Make a copy. Edit your copy, not this template.</a:t>
            </a:r>
            <a:endParaRPr/>
          </a:p>
        </p:txBody>
      </p:sp>
      <p:sp>
        <p:nvSpPr>
          <p:cNvPr id="117" name="Google Shape;117;p14"/>
          <p:cNvSpPr/>
          <p:nvPr/>
        </p:nvSpPr>
        <p:spPr>
          <a:xfrm>
            <a:off x="6172045" y="2666933"/>
            <a:ext cx="380990" cy="380990"/>
          </a:xfrm>
          <a:prstGeom prst="ellipse">
            <a:avLst/>
          </a:prstGeom>
          <a:solidFill>
            <a:srgbClr val="2A2110"/>
          </a:solidFill>
          <a:ln cap="flat" cmpd="sng" w="9525">
            <a:solidFill>
              <a:srgbClr val="8A68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/>
        </p:nvSpPr>
        <p:spPr>
          <a:xfrm>
            <a:off x="6172045" y="2666933"/>
            <a:ext cx="380990" cy="3809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700">
                <a:solidFill>
                  <a:srgbClr val="FFD27A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2</a:t>
            </a:r>
            <a:endParaRPr/>
          </a:p>
        </p:txBody>
      </p:sp>
      <p:sp>
        <p:nvSpPr>
          <p:cNvPr id="119" name="Google Shape;119;p14"/>
          <p:cNvSpPr txBox="1"/>
          <p:nvPr/>
        </p:nvSpPr>
        <p:spPr>
          <a:xfrm>
            <a:off x="6743531" y="2679633"/>
            <a:ext cx="4571885" cy="253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>
                <a:solidFill>
                  <a:srgbClr val="F4EFE6"/>
                </a:solidFill>
                <a:latin typeface="Space Grotesk"/>
                <a:ea typeface="Space Grotesk"/>
                <a:cs typeface="Space Grotesk"/>
                <a:sym typeface="Space Grotesk"/>
              </a:rPr>
              <a:t>Replace every [bracket]</a:t>
            </a:r>
            <a:endParaRPr/>
          </a:p>
        </p:txBody>
      </p:sp>
      <p:sp>
        <p:nvSpPr>
          <p:cNvPr id="120" name="Google Shape;120;p14"/>
          <p:cNvSpPr txBox="1"/>
          <p:nvPr/>
        </p:nvSpPr>
        <p:spPr>
          <a:xfrm>
            <a:off x="6743531" y="2959026"/>
            <a:ext cx="4571885" cy="5714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>
                <a:solidFill>
                  <a:srgbClr val="9E988E"/>
                </a:solidFill>
                <a:latin typeface="Space Grotesk"/>
                <a:ea typeface="Space Grotesk"/>
                <a:cs typeface="Space Grotesk"/>
                <a:sym typeface="Space Grotesk"/>
              </a:rPr>
              <a:t>Fill in each slide. Delete the prompts you've answered.</a:t>
            </a:r>
            <a:endParaRPr/>
          </a:p>
        </p:txBody>
      </p:sp>
      <p:sp>
        <p:nvSpPr>
          <p:cNvPr id="121" name="Google Shape;121;p14"/>
          <p:cNvSpPr/>
          <p:nvPr/>
        </p:nvSpPr>
        <p:spPr>
          <a:xfrm>
            <a:off x="711182" y="3809904"/>
            <a:ext cx="380990" cy="380990"/>
          </a:xfrm>
          <a:prstGeom prst="ellipse">
            <a:avLst/>
          </a:prstGeom>
          <a:solidFill>
            <a:srgbClr val="2A2110"/>
          </a:solidFill>
          <a:ln cap="flat" cmpd="sng" w="9525">
            <a:solidFill>
              <a:srgbClr val="8A68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4"/>
          <p:cNvSpPr txBox="1"/>
          <p:nvPr/>
        </p:nvSpPr>
        <p:spPr>
          <a:xfrm>
            <a:off x="711182" y="3809904"/>
            <a:ext cx="380990" cy="3809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700">
                <a:solidFill>
                  <a:srgbClr val="FFD27A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3</a:t>
            </a:r>
            <a:endParaRPr/>
          </a:p>
        </p:txBody>
      </p:sp>
      <p:sp>
        <p:nvSpPr>
          <p:cNvPr id="123" name="Google Shape;123;p14"/>
          <p:cNvSpPr txBox="1"/>
          <p:nvPr/>
        </p:nvSpPr>
        <p:spPr>
          <a:xfrm>
            <a:off x="1282667" y="3822604"/>
            <a:ext cx="4571885" cy="253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>
                <a:solidFill>
                  <a:srgbClr val="F4EFE6"/>
                </a:solidFill>
                <a:latin typeface="Space Grotesk"/>
                <a:ea typeface="Space Grotesk"/>
                <a:cs typeface="Space Grotesk"/>
                <a:sym typeface="Space Grotesk"/>
              </a:rPr>
              <a:t>Keep it to 10 slides</a:t>
            </a:r>
            <a:endParaRPr/>
          </a:p>
        </p:txBody>
      </p:sp>
      <p:sp>
        <p:nvSpPr>
          <p:cNvPr id="124" name="Google Shape;124;p14"/>
          <p:cNvSpPr txBox="1"/>
          <p:nvPr/>
        </p:nvSpPr>
        <p:spPr>
          <a:xfrm>
            <a:off x="1282667" y="4101997"/>
            <a:ext cx="4571885" cy="5714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>
                <a:solidFill>
                  <a:srgbClr val="9E988E"/>
                </a:solidFill>
                <a:latin typeface="Space Grotesk"/>
                <a:ea typeface="Space Grotesk"/>
                <a:cs typeface="Space Grotesk"/>
                <a:sym typeface="Space Grotesk"/>
              </a:rPr>
              <a:t>Add a slide for screens or a diagram if it helps. 10 max.</a:t>
            </a:r>
            <a:endParaRPr/>
          </a:p>
        </p:txBody>
      </p:sp>
      <p:sp>
        <p:nvSpPr>
          <p:cNvPr id="125" name="Google Shape;125;p14"/>
          <p:cNvSpPr/>
          <p:nvPr/>
        </p:nvSpPr>
        <p:spPr>
          <a:xfrm>
            <a:off x="6172045" y="3809904"/>
            <a:ext cx="380990" cy="380990"/>
          </a:xfrm>
          <a:prstGeom prst="ellipse">
            <a:avLst/>
          </a:prstGeom>
          <a:solidFill>
            <a:srgbClr val="2A2110"/>
          </a:solidFill>
          <a:ln cap="flat" cmpd="sng" w="9525">
            <a:solidFill>
              <a:srgbClr val="8A68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4"/>
          <p:cNvSpPr txBox="1"/>
          <p:nvPr/>
        </p:nvSpPr>
        <p:spPr>
          <a:xfrm>
            <a:off x="6172045" y="3809904"/>
            <a:ext cx="380990" cy="3809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700">
                <a:solidFill>
                  <a:srgbClr val="FFD27A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4</a:t>
            </a:r>
            <a:endParaRPr/>
          </a:p>
        </p:txBody>
      </p:sp>
      <p:sp>
        <p:nvSpPr>
          <p:cNvPr id="127" name="Google Shape;127;p14"/>
          <p:cNvSpPr txBox="1"/>
          <p:nvPr/>
        </p:nvSpPr>
        <p:spPr>
          <a:xfrm>
            <a:off x="6743531" y="3822604"/>
            <a:ext cx="4571885" cy="253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>
                <a:solidFill>
                  <a:srgbClr val="F4EFE6"/>
                </a:solidFill>
                <a:latin typeface="Space Grotesk"/>
                <a:ea typeface="Space Grotesk"/>
                <a:cs typeface="Space Grotesk"/>
                <a:sym typeface="Space Grotesk"/>
              </a:rPr>
              <a:t>Export as PDF</a:t>
            </a:r>
            <a:endParaRPr/>
          </a:p>
        </p:txBody>
      </p:sp>
      <p:sp>
        <p:nvSpPr>
          <p:cNvPr id="128" name="Google Shape;128;p14"/>
          <p:cNvSpPr txBox="1"/>
          <p:nvPr/>
        </p:nvSpPr>
        <p:spPr>
          <a:xfrm>
            <a:off x="6743531" y="4101997"/>
            <a:ext cx="4571885" cy="5714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>
                <a:solidFill>
                  <a:srgbClr val="9E988E"/>
                </a:solidFill>
                <a:latin typeface="Space Grotesk"/>
                <a:ea typeface="Space Grotesk"/>
                <a:cs typeface="Space Grotesk"/>
                <a:sym typeface="Space Grotesk"/>
              </a:rPr>
              <a:t>File → Download → PDF document.</a:t>
            </a:r>
            <a:endParaRPr/>
          </a:p>
        </p:txBody>
      </p:sp>
      <p:sp>
        <p:nvSpPr>
          <p:cNvPr id="129" name="Google Shape;129;p14"/>
          <p:cNvSpPr/>
          <p:nvPr/>
        </p:nvSpPr>
        <p:spPr>
          <a:xfrm>
            <a:off x="711182" y="4952876"/>
            <a:ext cx="380990" cy="380990"/>
          </a:xfrm>
          <a:prstGeom prst="ellipse">
            <a:avLst/>
          </a:prstGeom>
          <a:solidFill>
            <a:srgbClr val="2A2110"/>
          </a:solidFill>
          <a:ln cap="flat" cmpd="sng" w="9525">
            <a:solidFill>
              <a:srgbClr val="8A68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4"/>
          <p:cNvSpPr txBox="1"/>
          <p:nvPr/>
        </p:nvSpPr>
        <p:spPr>
          <a:xfrm>
            <a:off x="711182" y="4952876"/>
            <a:ext cx="380990" cy="3809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700">
                <a:solidFill>
                  <a:srgbClr val="FFD27A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5</a:t>
            </a:r>
            <a:endParaRPr/>
          </a:p>
        </p:txBody>
      </p:sp>
      <p:sp>
        <p:nvSpPr>
          <p:cNvPr id="131" name="Google Shape;131;p14"/>
          <p:cNvSpPr txBox="1"/>
          <p:nvPr/>
        </p:nvSpPr>
        <p:spPr>
          <a:xfrm>
            <a:off x="1282667" y="4965575"/>
            <a:ext cx="4571885" cy="253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>
                <a:solidFill>
                  <a:srgbClr val="F4EFE6"/>
                </a:solidFill>
                <a:latin typeface="Space Grotesk"/>
                <a:ea typeface="Space Grotesk"/>
                <a:cs typeface="Space Grotesk"/>
                <a:sym typeface="Space Grotesk"/>
              </a:rPr>
              <a:t>Post your social card</a:t>
            </a:r>
            <a:endParaRPr/>
          </a:p>
        </p:txBody>
      </p:sp>
      <p:sp>
        <p:nvSpPr>
          <p:cNvPr id="132" name="Google Shape;132;p14"/>
          <p:cNvSpPr txBox="1"/>
          <p:nvPr/>
        </p:nvSpPr>
        <p:spPr>
          <a:xfrm>
            <a:off x="1282667" y="5244968"/>
            <a:ext cx="4571885" cy="5714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>
                <a:solidFill>
                  <a:srgbClr val="9E988E"/>
                </a:solidFill>
                <a:latin typeface="Space Grotesk"/>
                <a:ea typeface="Space Grotesk"/>
                <a:cs typeface="Space Grotesk"/>
                <a:sym typeface="Space Grotesk"/>
              </a:rPr>
              <a:t>Generate it on buildfastwithai.com/hackathon. Post on LinkedIn or X and tag Build Fast with AI.</a:t>
            </a:r>
            <a:endParaRPr/>
          </a:p>
        </p:txBody>
      </p:sp>
      <p:sp>
        <p:nvSpPr>
          <p:cNvPr id="133" name="Google Shape;133;p14"/>
          <p:cNvSpPr/>
          <p:nvPr/>
        </p:nvSpPr>
        <p:spPr>
          <a:xfrm>
            <a:off x="6172045" y="4952876"/>
            <a:ext cx="380990" cy="380990"/>
          </a:xfrm>
          <a:prstGeom prst="ellipse">
            <a:avLst/>
          </a:prstGeom>
          <a:solidFill>
            <a:srgbClr val="2A2110"/>
          </a:solidFill>
          <a:ln cap="flat" cmpd="sng" w="9525">
            <a:solidFill>
              <a:srgbClr val="8A68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4"/>
          <p:cNvSpPr txBox="1"/>
          <p:nvPr/>
        </p:nvSpPr>
        <p:spPr>
          <a:xfrm>
            <a:off x="6172045" y="4952876"/>
            <a:ext cx="380990" cy="3809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700">
                <a:solidFill>
                  <a:srgbClr val="FFD27A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6</a:t>
            </a:r>
            <a:endParaRPr/>
          </a:p>
        </p:txBody>
      </p:sp>
      <p:sp>
        <p:nvSpPr>
          <p:cNvPr id="135" name="Google Shape;135;p14"/>
          <p:cNvSpPr txBox="1"/>
          <p:nvPr/>
        </p:nvSpPr>
        <p:spPr>
          <a:xfrm>
            <a:off x="6743531" y="4965575"/>
            <a:ext cx="4571885" cy="253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>
                <a:solidFill>
                  <a:srgbClr val="F4EFE6"/>
                </a:solidFill>
                <a:latin typeface="Space Grotesk"/>
                <a:ea typeface="Space Grotesk"/>
                <a:cs typeface="Space Grotesk"/>
                <a:sym typeface="Space Grotesk"/>
              </a:rPr>
              <a:t>Submit on Unstop</a:t>
            </a:r>
            <a:endParaRPr/>
          </a:p>
        </p:txBody>
      </p:sp>
      <p:sp>
        <p:nvSpPr>
          <p:cNvPr id="136" name="Google Shape;136;p14"/>
          <p:cNvSpPr txBox="1"/>
          <p:nvPr/>
        </p:nvSpPr>
        <p:spPr>
          <a:xfrm>
            <a:off x="6743531" y="5244968"/>
            <a:ext cx="4571885" cy="5714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>
                <a:solidFill>
                  <a:srgbClr val="9E988E"/>
                </a:solidFill>
                <a:latin typeface="Space Grotesk"/>
                <a:ea typeface="Space Grotesk"/>
                <a:cs typeface="Space Grotesk"/>
                <a:sym typeface="Space Grotesk"/>
              </a:rPr>
              <a:t>Upload the PDF and paste your post URL by Sun, 27 Sep, 12:00 PM IST.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ot.png" id="141" name="Google Shape;14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7828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5"/>
          <p:cNvSpPr txBox="1"/>
          <p:nvPr/>
        </p:nvSpPr>
        <p:spPr>
          <a:xfrm>
            <a:off x="711182" y="558786"/>
            <a:ext cx="4444888" cy="253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F4EFE6"/>
                </a:solidFill>
                <a:latin typeface="Space Grotesk"/>
                <a:ea typeface="Space Grotesk"/>
                <a:cs typeface="Space Grotesk"/>
                <a:sym typeface="Space Grotesk"/>
              </a:rPr>
              <a:t>✱  BFWAI/HACK 26</a:t>
            </a:r>
            <a:endParaRPr/>
          </a:p>
        </p:txBody>
      </p:sp>
      <p:sp>
        <p:nvSpPr>
          <p:cNvPr id="143" name="Google Shape;143;p15"/>
          <p:cNvSpPr txBox="1"/>
          <p:nvPr/>
        </p:nvSpPr>
        <p:spPr>
          <a:xfrm>
            <a:off x="6984825" y="571485"/>
            <a:ext cx="4495687" cy="253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757068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Read first</a:t>
            </a:r>
            <a:endParaRPr/>
          </a:p>
        </p:txBody>
      </p:sp>
      <p:cxnSp>
        <p:nvCxnSpPr>
          <p:cNvPr id="144" name="Google Shape;144;p15"/>
          <p:cNvCxnSpPr/>
          <p:nvPr/>
        </p:nvCxnSpPr>
        <p:spPr>
          <a:xfrm>
            <a:off x="711182" y="6286342"/>
            <a:ext cx="10769330" cy="0"/>
          </a:xfrm>
          <a:prstGeom prst="straightConnector1">
            <a:avLst/>
          </a:prstGeom>
          <a:noFill/>
          <a:ln cap="flat" cmpd="sng" w="9525">
            <a:solidFill>
              <a:srgbClr val="332D2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45" name="Google Shape;145;p15"/>
          <p:cNvSpPr txBox="1"/>
          <p:nvPr/>
        </p:nvSpPr>
        <p:spPr>
          <a:xfrm>
            <a:off x="711182" y="6413339"/>
            <a:ext cx="5714857" cy="2285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F4EFE6"/>
                </a:solidFill>
                <a:latin typeface="Space Grotesk"/>
                <a:ea typeface="Space Grotesk"/>
                <a:cs typeface="Space Grotesk"/>
                <a:sym typeface="Space Grotesk"/>
              </a:rPr>
              <a:t>buildfastwithai.com/hackathon ↗</a:t>
            </a:r>
            <a:endParaRPr/>
          </a:p>
        </p:txBody>
      </p:sp>
      <p:sp>
        <p:nvSpPr>
          <p:cNvPr id="146" name="Google Shape;146;p15"/>
          <p:cNvSpPr txBox="1"/>
          <p:nvPr/>
        </p:nvSpPr>
        <p:spPr>
          <a:xfrm>
            <a:off x="8254793" y="6426039"/>
            <a:ext cx="3225719" cy="2285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75706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 / 10</a:t>
            </a:r>
            <a:endParaRPr/>
          </a:p>
        </p:txBody>
      </p:sp>
      <p:sp>
        <p:nvSpPr>
          <p:cNvPr id="147" name="Google Shape;147;p15"/>
          <p:cNvSpPr/>
          <p:nvPr/>
        </p:nvSpPr>
        <p:spPr>
          <a:xfrm>
            <a:off x="9207269" y="1079473"/>
            <a:ext cx="2273243" cy="330191"/>
          </a:xfrm>
          <a:prstGeom prst="roundRect">
            <a:avLst>
              <a:gd fmla="val 50000" name="adj"/>
            </a:avLst>
          </a:prstGeom>
          <a:solidFill>
            <a:srgbClr val="F2B632"/>
          </a:solidFill>
          <a:ln cap="flat" cmpd="sng" w="12700">
            <a:solidFill>
              <a:srgbClr val="F2B6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5"/>
          <p:cNvSpPr txBox="1"/>
          <p:nvPr/>
        </p:nvSpPr>
        <p:spPr>
          <a:xfrm>
            <a:off x="9207269" y="1079473"/>
            <a:ext cx="2273243" cy="33019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140F0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DELETE THIS SLIDE</a:t>
            </a:r>
            <a:endParaRPr/>
          </a:p>
        </p:txBody>
      </p:sp>
      <p:sp>
        <p:nvSpPr>
          <p:cNvPr id="149" name="Google Shape;149;p15"/>
          <p:cNvSpPr txBox="1"/>
          <p:nvPr/>
        </p:nvSpPr>
        <p:spPr>
          <a:xfrm>
            <a:off x="711182" y="1206469"/>
            <a:ext cx="5714857" cy="190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>
                <a:solidFill>
                  <a:srgbClr val="F2B6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YOUR PUBLIC POST</a:t>
            </a:r>
            <a:endParaRPr/>
          </a:p>
        </p:txBody>
      </p:sp>
      <p:sp>
        <p:nvSpPr>
          <p:cNvPr id="150" name="Google Shape;150;p15"/>
          <p:cNvSpPr txBox="1"/>
          <p:nvPr/>
        </p:nvSpPr>
        <p:spPr>
          <a:xfrm>
            <a:off x="711182" y="1492212"/>
            <a:ext cx="10794730" cy="9524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00">
                <a:solidFill>
                  <a:srgbClr val="F4EFE6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Share your </a:t>
            </a:r>
            <a:r>
              <a:rPr b="0" i="1" lang="en-US" sz="5600">
                <a:solidFill>
                  <a:srgbClr val="FFD27A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social card</a:t>
            </a:r>
            <a:endParaRPr/>
          </a:p>
        </p:txBody>
      </p:sp>
      <p:pic>
        <p:nvPicPr>
          <p:cNvPr descr="social-card.png" id="151" name="Google Shape;15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1182" y="2476438"/>
            <a:ext cx="6349841" cy="359401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5"/>
          <p:cNvSpPr/>
          <p:nvPr/>
        </p:nvSpPr>
        <p:spPr>
          <a:xfrm>
            <a:off x="7492812" y="2539936"/>
            <a:ext cx="380990" cy="380990"/>
          </a:xfrm>
          <a:prstGeom prst="ellipse">
            <a:avLst/>
          </a:prstGeom>
          <a:solidFill>
            <a:srgbClr val="2A2110"/>
          </a:solidFill>
          <a:ln cap="flat" cmpd="sng" w="9525">
            <a:solidFill>
              <a:srgbClr val="8A68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5"/>
          <p:cNvSpPr txBox="1"/>
          <p:nvPr/>
        </p:nvSpPr>
        <p:spPr>
          <a:xfrm>
            <a:off x="7492812" y="2539936"/>
            <a:ext cx="380990" cy="3809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700">
                <a:solidFill>
                  <a:srgbClr val="FFD27A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1</a:t>
            </a:r>
            <a:endParaRPr/>
          </a:p>
        </p:txBody>
      </p:sp>
      <p:sp>
        <p:nvSpPr>
          <p:cNvPr id="154" name="Google Shape;154;p15"/>
          <p:cNvSpPr txBox="1"/>
          <p:nvPr/>
        </p:nvSpPr>
        <p:spPr>
          <a:xfrm>
            <a:off x="8064298" y="2552636"/>
            <a:ext cx="3428914" cy="253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>
                <a:solidFill>
                  <a:srgbClr val="F4EFE6"/>
                </a:solidFill>
                <a:latin typeface="Space Grotesk"/>
                <a:ea typeface="Space Grotesk"/>
                <a:cs typeface="Space Grotesk"/>
                <a:sym typeface="Space Grotesk"/>
              </a:rPr>
              <a:t>Generate your card</a:t>
            </a:r>
            <a:endParaRPr/>
          </a:p>
        </p:txBody>
      </p:sp>
      <p:sp>
        <p:nvSpPr>
          <p:cNvPr id="155" name="Google Shape;155;p15"/>
          <p:cNvSpPr txBox="1"/>
          <p:nvPr/>
        </p:nvSpPr>
        <p:spPr>
          <a:xfrm>
            <a:off x="8064298" y="2832029"/>
            <a:ext cx="3428914" cy="698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>
                <a:solidFill>
                  <a:srgbClr val="9E988E"/>
                </a:solidFill>
                <a:latin typeface="Space Grotesk"/>
                <a:ea typeface="Space Grotesk"/>
                <a:cs typeface="Space Grotesk"/>
                <a:sym typeface="Space Grotesk"/>
              </a:rPr>
              <a:t>Your name or team and what you're building, on buildfastwithai.com/hackathon.</a:t>
            </a:r>
            <a:endParaRPr/>
          </a:p>
        </p:txBody>
      </p:sp>
      <p:sp>
        <p:nvSpPr>
          <p:cNvPr id="156" name="Google Shape;156;p15"/>
          <p:cNvSpPr/>
          <p:nvPr/>
        </p:nvSpPr>
        <p:spPr>
          <a:xfrm>
            <a:off x="7492812" y="3746406"/>
            <a:ext cx="380990" cy="380990"/>
          </a:xfrm>
          <a:prstGeom prst="ellipse">
            <a:avLst/>
          </a:prstGeom>
          <a:solidFill>
            <a:srgbClr val="2A2110"/>
          </a:solidFill>
          <a:ln cap="flat" cmpd="sng" w="9525">
            <a:solidFill>
              <a:srgbClr val="8A68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5"/>
          <p:cNvSpPr txBox="1"/>
          <p:nvPr/>
        </p:nvSpPr>
        <p:spPr>
          <a:xfrm>
            <a:off x="7492812" y="3746406"/>
            <a:ext cx="380990" cy="3809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700">
                <a:solidFill>
                  <a:srgbClr val="FFD27A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2</a:t>
            </a:r>
            <a:endParaRPr/>
          </a:p>
        </p:txBody>
      </p:sp>
      <p:sp>
        <p:nvSpPr>
          <p:cNvPr id="158" name="Google Shape;158;p15"/>
          <p:cNvSpPr txBox="1"/>
          <p:nvPr/>
        </p:nvSpPr>
        <p:spPr>
          <a:xfrm>
            <a:off x="8064298" y="3759106"/>
            <a:ext cx="3428914" cy="253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>
                <a:solidFill>
                  <a:srgbClr val="F4EFE6"/>
                </a:solidFill>
                <a:latin typeface="Space Grotesk"/>
                <a:ea typeface="Space Grotesk"/>
                <a:cs typeface="Space Grotesk"/>
                <a:sym typeface="Space Grotesk"/>
              </a:rPr>
              <a:t>Post it on LinkedIn or X</a:t>
            </a:r>
            <a:endParaRPr/>
          </a:p>
        </p:txBody>
      </p:sp>
      <p:sp>
        <p:nvSpPr>
          <p:cNvPr id="159" name="Google Shape;159;p15"/>
          <p:cNvSpPr txBox="1"/>
          <p:nvPr/>
        </p:nvSpPr>
        <p:spPr>
          <a:xfrm>
            <a:off x="8064298" y="4038499"/>
            <a:ext cx="3428914" cy="698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>
                <a:solidFill>
                  <a:srgbClr val="9E988E"/>
                </a:solidFill>
                <a:latin typeface="Space Grotesk"/>
                <a:ea typeface="Space Grotesk"/>
                <a:cs typeface="Space Grotesk"/>
                <a:sym typeface="Space Grotesk"/>
              </a:rPr>
              <a:t>Add a line on what you're building and tag Build Fast with AI.</a:t>
            </a:r>
            <a:endParaRPr/>
          </a:p>
        </p:txBody>
      </p:sp>
      <p:sp>
        <p:nvSpPr>
          <p:cNvPr id="160" name="Google Shape;160;p15"/>
          <p:cNvSpPr/>
          <p:nvPr/>
        </p:nvSpPr>
        <p:spPr>
          <a:xfrm>
            <a:off x="7492812" y="4952876"/>
            <a:ext cx="380990" cy="380990"/>
          </a:xfrm>
          <a:prstGeom prst="ellipse">
            <a:avLst/>
          </a:prstGeom>
          <a:solidFill>
            <a:srgbClr val="2A2110"/>
          </a:solidFill>
          <a:ln cap="flat" cmpd="sng" w="9525">
            <a:solidFill>
              <a:srgbClr val="8A68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5"/>
          <p:cNvSpPr txBox="1"/>
          <p:nvPr/>
        </p:nvSpPr>
        <p:spPr>
          <a:xfrm>
            <a:off x="7492812" y="4952876"/>
            <a:ext cx="380990" cy="3809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700">
                <a:solidFill>
                  <a:srgbClr val="FFD27A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3</a:t>
            </a:r>
            <a:endParaRPr/>
          </a:p>
        </p:txBody>
      </p:sp>
      <p:sp>
        <p:nvSpPr>
          <p:cNvPr id="162" name="Google Shape;162;p15"/>
          <p:cNvSpPr txBox="1"/>
          <p:nvPr/>
        </p:nvSpPr>
        <p:spPr>
          <a:xfrm>
            <a:off x="8064298" y="4965575"/>
            <a:ext cx="3428914" cy="253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>
                <a:solidFill>
                  <a:srgbClr val="F4EFE6"/>
                </a:solidFill>
                <a:latin typeface="Space Grotesk"/>
                <a:ea typeface="Space Grotesk"/>
                <a:cs typeface="Space Grotesk"/>
                <a:sym typeface="Space Grotesk"/>
              </a:rPr>
              <a:t>Paste the post URL</a:t>
            </a:r>
            <a:endParaRPr/>
          </a:p>
        </p:txBody>
      </p:sp>
      <p:sp>
        <p:nvSpPr>
          <p:cNvPr id="163" name="Google Shape;163;p15"/>
          <p:cNvSpPr txBox="1"/>
          <p:nvPr/>
        </p:nvSpPr>
        <p:spPr>
          <a:xfrm>
            <a:off x="8064298" y="5244968"/>
            <a:ext cx="3428914" cy="698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>
                <a:solidFill>
                  <a:srgbClr val="9E988E"/>
                </a:solidFill>
                <a:latin typeface="Space Grotesk"/>
                <a:ea typeface="Space Grotesk"/>
                <a:cs typeface="Space Grotesk"/>
                <a:sym typeface="Space Grotesk"/>
              </a:rPr>
              <a:t>In your Unstop submission, and on the last slide of this deck.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orner.png" id="168" name="Google Shape;16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7828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6"/>
          <p:cNvSpPr txBox="1"/>
          <p:nvPr/>
        </p:nvSpPr>
        <p:spPr>
          <a:xfrm>
            <a:off x="711182" y="558786"/>
            <a:ext cx="4444888" cy="253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F4EFE6"/>
                </a:solidFill>
                <a:latin typeface="Space Grotesk"/>
                <a:ea typeface="Space Grotesk"/>
                <a:cs typeface="Space Grotesk"/>
                <a:sym typeface="Space Grotesk"/>
              </a:rPr>
              <a:t>✱  BFWAI/HACK 26</a:t>
            </a:r>
            <a:endParaRPr/>
          </a:p>
        </p:txBody>
      </p:sp>
      <p:sp>
        <p:nvSpPr>
          <p:cNvPr id="170" name="Google Shape;170;p16"/>
          <p:cNvSpPr txBox="1"/>
          <p:nvPr/>
        </p:nvSpPr>
        <p:spPr>
          <a:xfrm>
            <a:off x="6984825" y="571485"/>
            <a:ext cx="4495687" cy="253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757068"/>
                </a:solidFill>
                <a:latin typeface="Space Grotesk"/>
                <a:ea typeface="Space Grotesk"/>
                <a:cs typeface="Space Grotesk"/>
                <a:sym typeface="Space Grotesk"/>
              </a:rPr>
              <a:t>02 · The problem</a:t>
            </a:r>
            <a:endParaRPr/>
          </a:p>
        </p:txBody>
      </p:sp>
      <p:cxnSp>
        <p:nvCxnSpPr>
          <p:cNvPr id="171" name="Google Shape;171;p16"/>
          <p:cNvCxnSpPr/>
          <p:nvPr/>
        </p:nvCxnSpPr>
        <p:spPr>
          <a:xfrm>
            <a:off x="711182" y="6286342"/>
            <a:ext cx="10769330" cy="0"/>
          </a:xfrm>
          <a:prstGeom prst="straightConnector1">
            <a:avLst/>
          </a:prstGeom>
          <a:noFill/>
          <a:ln cap="flat" cmpd="sng" w="9525">
            <a:solidFill>
              <a:srgbClr val="332D2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72" name="Google Shape;172;p16"/>
          <p:cNvSpPr txBox="1"/>
          <p:nvPr/>
        </p:nvSpPr>
        <p:spPr>
          <a:xfrm>
            <a:off x="711182" y="6413339"/>
            <a:ext cx="5714857" cy="2285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F4EFE6"/>
                </a:solidFill>
                <a:latin typeface="Space Grotesk"/>
                <a:ea typeface="Space Grotesk"/>
                <a:cs typeface="Space Grotesk"/>
                <a:sym typeface="Space Grotesk"/>
              </a:rPr>
              <a:t>buildfastwithai.com/hackathon ↗</a:t>
            </a:r>
            <a:endParaRPr/>
          </a:p>
        </p:txBody>
      </p:sp>
      <p:sp>
        <p:nvSpPr>
          <p:cNvPr id="173" name="Google Shape;173;p16"/>
          <p:cNvSpPr txBox="1"/>
          <p:nvPr/>
        </p:nvSpPr>
        <p:spPr>
          <a:xfrm>
            <a:off x="8254793" y="6426039"/>
            <a:ext cx="3225719" cy="2285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75706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04 / 10</a:t>
            </a:r>
            <a:endParaRPr/>
          </a:p>
        </p:txBody>
      </p:sp>
      <p:sp>
        <p:nvSpPr>
          <p:cNvPr id="174" name="Google Shape;174;p16"/>
          <p:cNvSpPr txBox="1"/>
          <p:nvPr/>
        </p:nvSpPr>
        <p:spPr>
          <a:xfrm>
            <a:off x="711182" y="1206469"/>
            <a:ext cx="5714857" cy="190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>
                <a:solidFill>
                  <a:srgbClr val="F2B6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THE PROBLEM</a:t>
            </a:r>
            <a:endParaRPr/>
          </a:p>
        </p:txBody>
      </p:sp>
      <p:sp>
        <p:nvSpPr>
          <p:cNvPr id="175" name="Google Shape;175;p16"/>
          <p:cNvSpPr txBox="1"/>
          <p:nvPr/>
        </p:nvSpPr>
        <p:spPr>
          <a:xfrm>
            <a:off x="711182" y="1492212"/>
            <a:ext cx="10794730" cy="9524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>
                <a:solidFill>
                  <a:srgbClr val="F4EFE6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The problem </a:t>
            </a:r>
            <a:r>
              <a:rPr b="0" i="1" lang="en-US" sz="5000">
                <a:solidFill>
                  <a:srgbClr val="FFD27A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we're solving</a:t>
            </a:r>
            <a:endParaRPr/>
          </a:p>
        </p:txBody>
      </p:sp>
      <p:sp>
        <p:nvSpPr>
          <p:cNvPr id="176" name="Google Shape;176;p16"/>
          <p:cNvSpPr/>
          <p:nvPr/>
        </p:nvSpPr>
        <p:spPr>
          <a:xfrm>
            <a:off x="711182" y="2539936"/>
            <a:ext cx="5206869" cy="1587460"/>
          </a:xfrm>
          <a:prstGeom prst="roundRect">
            <a:avLst>
              <a:gd fmla="val 6000" name="adj"/>
            </a:avLst>
          </a:prstGeom>
          <a:solidFill>
            <a:srgbClr val="17130E"/>
          </a:solidFill>
          <a:ln cap="flat" cmpd="sng" w="12700">
            <a:solidFill>
              <a:srgbClr val="332D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6"/>
          <p:cNvSpPr txBox="1"/>
          <p:nvPr/>
        </p:nvSpPr>
        <p:spPr>
          <a:xfrm>
            <a:off x="914377" y="2717732"/>
            <a:ext cx="4800479" cy="190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>
                <a:solidFill>
                  <a:srgbClr val="F2B6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PROBLEM STATEMENT</a:t>
            </a:r>
            <a:endParaRPr/>
          </a:p>
        </p:txBody>
      </p:sp>
      <p:sp>
        <p:nvSpPr>
          <p:cNvPr id="178" name="Google Shape;178;p16"/>
          <p:cNvSpPr txBox="1"/>
          <p:nvPr/>
        </p:nvSpPr>
        <p:spPr>
          <a:xfrm>
            <a:off x="914377" y="2984425"/>
            <a:ext cx="4800479" cy="977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>
                <a:solidFill>
                  <a:srgbClr val="9E988E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[PS-0X · Title]</a:t>
            </a:r>
            <a:endParaRPr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>
                <a:solidFill>
                  <a:srgbClr val="9E988E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[The specific problem you're picking inside it]</a:t>
            </a:r>
            <a:endParaRPr/>
          </a:p>
        </p:txBody>
      </p:sp>
      <p:sp>
        <p:nvSpPr>
          <p:cNvPr id="179" name="Google Shape;179;p16"/>
          <p:cNvSpPr/>
          <p:nvPr/>
        </p:nvSpPr>
        <p:spPr>
          <a:xfrm>
            <a:off x="6273643" y="2539936"/>
            <a:ext cx="5206869" cy="1587460"/>
          </a:xfrm>
          <a:prstGeom prst="roundRect">
            <a:avLst>
              <a:gd fmla="val 6000" name="adj"/>
            </a:avLst>
          </a:prstGeom>
          <a:solidFill>
            <a:srgbClr val="17130E"/>
          </a:solidFill>
          <a:ln cap="flat" cmpd="sng" w="12700">
            <a:solidFill>
              <a:srgbClr val="332D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6"/>
          <p:cNvSpPr txBox="1"/>
          <p:nvPr/>
        </p:nvSpPr>
        <p:spPr>
          <a:xfrm>
            <a:off x="6476838" y="2717732"/>
            <a:ext cx="4800479" cy="190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>
                <a:solidFill>
                  <a:srgbClr val="F2B6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WHO FACES IT</a:t>
            </a:r>
            <a:endParaRPr/>
          </a:p>
        </p:txBody>
      </p:sp>
      <p:sp>
        <p:nvSpPr>
          <p:cNvPr id="181" name="Google Shape;181;p16"/>
          <p:cNvSpPr txBox="1"/>
          <p:nvPr/>
        </p:nvSpPr>
        <p:spPr>
          <a:xfrm>
            <a:off x="6476838" y="2984425"/>
            <a:ext cx="4800479" cy="977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>
                <a:solidFill>
                  <a:srgbClr val="9E988E"/>
                </a:solidFill>
                <a:latin typeface="Space Grotesk"/>
                <a:ea typeface="Space Grotesk"/>
                <a:cs typeface="Space Grotesk"/>
                <a:sym typeface="Space Grotesk"/>
              </a:rPr>
              <a:t>[The person whose day this makes better. A support agent, a creator, a sales team. Be specific.]</a:t>
            </a:r>
            <a:endParaRPr/>
          </a:p>
        </p:txBody>
      </p:sp>
      <p:sp>
        <p:nvSpPr>
          <p:cNvPr id="182" name="Google Shape;182;p16"/>
          <p:cNvSpPr/>
          <p:nvPr/>
        </p:nvSpPr>
        <p:spPr>
          <a:xfrm>
            <a:off x="711182" y="4381390"/>
            <a:ext cx="10769330" cy="1587460"/>
          </a:xfrm>
          <a:prstGeom prst="roundRect">
            <a:avLst>
              <a:gd fmla="val 6000" name="adj"/>
            </a:avLst>
          </a:prstGeom>
          <a:solidFill>
            <a:srgbClr val="17130E"/>
          </a:solidFill>
          <a:ln cap="flat" cmpd="sng" w="12700">
            <a:solidFill>
              <a:srgbClr val="332D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6"/>
          <p:cNvSpPr txBox="1"/>
          <p:nvPr/>
        </p:nvSpPr>
        <p:spPr>
          <a:xfrm>
            <a:off x="914377" y="4559186"/>
            <a:ext cx="10362940" cy="190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>
                <a:solidFill>
                  <a:srgbClr val="F2B6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WHAT IT COSTS THEM TODAY</a:t>
            </a:r>
            <a:endParaRPr/>
          </a:p>
        </p:txBody>
      </p:sp>
      <p:sp>
        <p:nvSpPr>
          <p:cNvPr id="184" name="Google Shape;184;p16"/>
          <p:cNvSpPr txBox="1"/>
          <p:nvPr/>
        </p:nvSpPr>
        <p:spPr>
          <a:xfrm>
            <a:off x="914377" y="4825879"/>
            <a:ext cx="10362940" cy="977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>
                <a:solidFill>
                  <a:srgbClr val="9E988E"/>
                </a:solidFill>
                <a:latin typeface="Space Grotesk"/>
                <a:ea typeface="Space Grotesk"/>
                <a:cs typeface="Space Grotesk"/>
                <a:sym typeface="Space Grotesk"/>
              </a:rPr>
              <a:t>[Time spent, money lost, errors made, people left out. Numbers if you have them: "a reviewer spends 30 minutes per claim".]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op.png" id="189" name="Google Shape;18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7828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7"/>
          <p:cNvSpPr txBox="1"/>
          <p:nvPr/>
        </p:nvSpPr>
        <p:spPr>
          <a:xfrm>
            <a:off x="711182" y="558786"/>
            <a:ext cx="4444888" cy="253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F4EFE6"/>
                </a:solidFill>
                <a:latin typeface="Space Grotesk"/>
                <a:ea typeface="Space Grotesk"/>
                <a:cs typeface="Space Grotesk"/>
                <a:sym typeface="Space Grotesk"/>
              </a:rPr>
              <a:t>✱  BFWAI/HACK 26</a:t>
            </a:r>
            <a:endParaRPr/>
          </a:p>
        </p:txBody>
      </p:sp>
      <p:sp>
        <p:nvSpPr>
          <p:cNvPr id="191" name="Google Shape;191;p17"/>
          <p:cNvSpPr txBox="1"/>
          <p:nvPr/>
        </p:nvSpPr>
        <p:spPr>
          <a:xfrm>
            <a:off x="6984825" y="571485"/>
            <a:ext cx="4495687" cy="253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757068"/>
                </a:solidFill>
                <a:latin typeface="Space Grotesk"/>
                <a:ea typeface="Space Grotesk"/>
                <a:cs typeface="Space Grotesk"/>
                <a:sym typeface="Space Grotesk"/>
              </a:rPr>
              <a:t>03 · Solution overview</a:t>
            </a:r>
            <a:endParaRPr/>
          </a:p>
        </p:txBody>
      </p:sp>
      <p:cxnSp>
        <p:nvCxnSpPr>
          <p:cNvPr id="192" name="Google Shape;192;p17"/>
          <p:cNvCxnSpPr/>
          <p:nvPr/>
        </p:nvCxnSpPr>
        <p:spPr>
          <a:xfrm>
            <a:off x="711182" y="6286342"/>
            <a:ext cx="10769330" cy="0"/>
          </a:xfrm>
          <a:prstGeom prst="straightConnector1">
            <a:avLst/>
          </a:prstGeom>
          <a:noFill/>
          <a:ln cap="flat" cmpd="sng" w="9525">
            <a:solidFill>
              <a:srgbClr val="332D2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93" name="Google Shape;193;p17"/>
          <p:cNvSpPr txBox="1"/>
          <p:nvPr/>
        </p:nvSpPr>
        <p:spPr>
          <a:xfrm>
            <a:off x="711182" y="6413339"/>
            <a:ext cx="5714857" cy="2285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F4EFE6"/>
                </a:solidFill>
                <a:latin typeface="Space Grotesk"/>
                <a:ea typeface="Space Grotesk"/>
                <a:cs typeface="Space Grotesk"/>
                <a:sym typeface="Space Grotesk"/>
              </a:rPr>
              <a:t>buildfastwithai.com/hackathon ↗</a:t>
            </a:r>
            <a:endParaRPr/>
          </a:p>
        </p:txBody>
      </p:sp>
      <p:sp>
        <p:nvSpPr>
          <p:cNvPr id="194" name="Google Shape;194;p17"/>
          <p:cNvSpPr txBox="1"/>
          <p:nvPr/>
        </p:nvSpPr>
        <p:spPr>
          <a:xfrm>
            <a:off x="8254793" y="6426039"/>
            <a:ext cx="3225719" cy="2285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75706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05 / 10</a:t>
            </a:r>
            <a:endParaRPr/>
          </a:p>
        </p:txBody>
      </p:sp>
      <p:sp>
        <p:nvSpPr>
          <p:cNvPr id="195" name="Google Shape;195;p17"/>
          <p:cNvSpPr txBox="1"/>
          <p:nvPr/>
        </p:nvSpPr>
        <p:spPr>
          <a:xfrm>
            <a:off x="711182" y="1206469"/>
            <a:ext cx="5714857" cy="190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>
                <a:solidFill>
                  <a:srgbClr val="F2B6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SOLUTION OVERVIEW</a:t>
            </a:r>
            <a:endParaRPr/>
          </a:p>
        </p:txBody>
      </p:sp>
      <p:sp>
        <p:nvSpPr>
          <p:cNvPr id="196" name="Google Shape;196;p17"/>
          <p:cNvSpPr txBox="1"/>
          <p:nvPr/>
        </p:nvSpPr>
        <p:spPr>
          <a:xfrm>
            <a:off x="711182" y="1492212"/>
            <a:ext cx="10794730" cy="9524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>
                <a:solidFill>
                  <a:srgbClr val="F4EFE6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What </a:t>
            </a:r>
            <a:r>
              <a:rPr b="0" i="1" lang="en-US" sz="5000">
                <a:solidFill>
                  <a:srgbClr val="FFD27A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we're building</a:t>
            </a:r>
            <a:endParaRPr/>
          </a:p>
        </p:txBody>
      </p:sp>
      <p:sp>
        <p:nvSpPr>
          <p:cNvPr id="197" name="Google Shape;197;p17"/>
          <p:cNvSpPr/>
          <p:nvPr/>
        </p:nvSpPr>
        <p:spPr>
          <a:xfrm>
            <a:off x="711182" y="2539936"/>
            <a:ext cx="10769330" cy="1587460"/>
          </a:xfrm>
          <a:prstGeom prst="roundRect">
            <a:avLst>
              <a:gd fmla="val 6000" name="adj"/>
            </a:avLst>
          </a:prstGeom>
          <a:solidFill>
            <a:srgbClr val="17130E"/>
          </a:solidFill>
          <a:ln cap="flat" cmpd="sng" w="12700">
            <a:solidFill>
              <a:srgbClr val="332D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7"/>
          <p:cNvSpPr txBox="1"/>
          <p:nvPr/>
        </p:nvSpPr>
        <p:spPr>
          <a:xfrm>
            <a:off x="914377" y="2717732"/>
            <a:ext cx="10362940" cy="190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>
                <a:solidFill>
                  <a:srgbClr val="F2B6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TWO OR THREE LINES</a:t>
            </a:r>
            <a:endParaRPr/>
          </a:p>
        </p:txBody>
      </p:sp>
      <p:sp>
        <p:nvSpPr>
          <p:cNvPr id="199" name="Google Shape;199;p17"/>
          <p:cNvSpPr txBox="1"/>
          <p:nvPr/>
        </p:nvSpPr>
        <p:spPr>
          <a:xfrm>
            <a:off x="914377" y="2984425"/>
            <a:ext cx="10362940" cy="977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>
                <a:solidFill>
                  <a:srgbClr val="9E988E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[What your product does, in plain words. If someone reads only this, they should get it.]</a:t>
            </a:r>
            <a:endParaRPr/>
          </a:p>
        </p:txBody>
      </p:sp>
      <p:sp>
        <p:nvSpPr>
          <p:cNvPr id="200" name="Google Shape;200;p17"/>
          <p:cNvSpPr/>
          <p:nvPr/>
        </p:nvSpPr>
        <p:spPr>
          <a:xfrm>
            <a:off x="711182" y="4381390"/>
            <a:ext cx="5206869" cy="1587460"/>
          </a:xfrm>
          <a:prstGeom prst="roundRect">
            <a:avLst>
              <a:gd fmla="val 6000" name="adj"/>
            </a:avLst>
          </a:prstGeom>
          <a:solidFill>
            <a:srgbClr val="17130E"/>
          </a:solidFill>
          <a:ln cap="flat" cmpd="sng" w="12700">
            <a:solidFill>
              <a:srgbClr val="332D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7"/>
          <p:cNvSpPr txBox="1"/>
          <p:nvPr/>
        </p:nvSpPr>
        <p:spPr>
          <a:xfrm>
            <a:off x="914377" y="4559186"/>
            <a:ext cx="4800479" cy="190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>
                <a:solidFill>
                  <a:srgbClr val="F2B6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WHAT THE USER DOES</a:t>
            </a:r>
            <a:endParaRPr/>
          </a:p>
        </p:txBody>
      </p:sp>
      <p:sp>
        <p:nvSpPr>
          <p:cNvPr id="202" name="Google Shape;202;p17"/>
          <p:cNvSpPr txBox="1"/>
          <p:nvPr/>
        </p:nvSpPr>
        <p:spPr>
          <a:xfrm>
            <a:off x="914377" y="4825879"/>
            <a:ext cx="4800479" cy="977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>
                <a:solidFill>
                  <a:srgbClr val="9E988E"/>
                </a:solidFill>
                <a:latin typeface="Space Grotesk"/>
                <a:ea typeface="Space Grotesk"/>
                <a:cs typeface="Space Grotesk"/>
                <a:sym typeface="Space Grotesk"/>
              </a:rPr>
              <a:t>[The input: they upload a claim, speak a question, paste a brief, connect their CRM...]</a:t>
            </a:r>
            <a:endParaRPr/>
          </a:p>
        </p:txBody>
      </p:sp>
      <p:sp>
        <p:nvSpPr>
          <p:cNvPr id="203" name="Google Shape;203;p17"/>
          <p:cNvSpPr/>
          <p:nvPr/>
        </p:nvSpPr>
        <p:spPr>
          <a:xfrm>
            <a:off x="6273643" y="4381390"/>
            <a:ext cx="5206869" cy="1587460"/>
          </a:xfrm>
          <a:prstGeom prst="roundRect">
            <a:avLst>
              <a:gd fmla="val 6000" name="adj"/>
            </a:avLst>
          </a:prstGeom>
          <a:solidFill>
            <a:srgbClr val="17130E"/>
          </a:solidFill>
          <a:ln cap="flat" cmpd="sng" w="12700">
            <a:solidFill>
              <a:srgbClr val="332D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7"/>
          <p:cNvSpPr txBox="1"/>
          <p:nvPr/>
        </p:nvSpPr>
        <p:spPr>
          <a:xfrm>
            <a:off x="6476838" y="4559186"/>
            <a:ext cx="4800479" cy="190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>
                <a:solidFill>
                  <a:srgbClr val="F2B6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WHAT THEY GET BACK</a:t>
            </a:r>
            <a:endParaRPr/>
          </a:p>
        </p:txBody>
      </p:sp>
      <p:sp>
        <p:nvSpPr>
          <p:cNvPr id="205" name="Google Shape;205;p17"/>
          <p:cNvSpPr txBox="1"/>
          <p:nvPr/>
        </p:nvSpPr>
        <p:spPr>
          <a:xfrm>
            <a:off x="6476838" y="4825879"/>
            <a:ext cx="4800479" cy="977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>
                <a:solidFill>
                  <a:srgbClr val="9E988E"/>
                </a:solidFill>
                <a:latin typeface="Space Grotesk"/>
                <a:ea typeface="Space Grotesk"/>
                <a:cs typeface="Space Grotesk"/>
                <a:sym typeface="Space Grotesk"/>
              </a:rPr>
              <a:t>[The output: a ranked list, a publish-ready post, an answer with sources, a finished task...]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eft.png" id="210" name="Google Shape;21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7828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8"/>
          <p:cNvSpPr txBox="1"/>
          <p:nvPr/>
        </p:nvSpPr>
        <p:spPr>
          <a:xfrm>
            <a:off x="711182" y="558786"/>
            <a:ext cx="4444888" cy="253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F4EFE6"/>
                </a:solidFill>
                <a:latin typeface="Space Grotesk"/>
                <a:ea typeface="Space Grotesk"/>
                <a:cs typeface="Space Grotesk"/>
                <a:sym typeface="Space Grotesk"/>
              </a:rPr>
              <a:t>✱  BFWAI/HACK 26</a:t>
            </a:r>
            <a:endParaRPr/>
          </a:p>
        </p:txBody>
      </p:sp>
      <p:sp>
        <p:nvSpPr>
          <p:cNvPr id="212" name="Google Shape;212;p18"/>
          <p:cNvSpPr txBox="1"/>
          <p:nvPr/>
        </p:nvSpPr>
        <p:spPr>
          <a:xfrm>
            <a:off x="6984825" y="571485"/>
            <a:ext cx="4495687" cy="253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757068"/>
                </a:solidFill>
                <a:latin typeface="Space Grotesk"/>
                <a:ea typeface="Space Grotesk"/>
                <a:cs typeface="Space Grotesk"/>
                <a:sym typeface="Space Grotesk"/>
              </a:rPr>
              <a:t>04 · Technical approach</a:t>
            </a:r>
            <a:endParaRPr/>
          </a:p>
        </p:txBody>
      </p:sp>
      <p:cxnSp>
        <p:nvCxnSpPr>
          <p:cNvPr id="213" name="Google Shape;213;p18"/>
          <p:cNvCxnSpPr/>
          <p:nvPr/>
        </p:nvCxnSpPr>
        <p:spPr>
          <a:xfrm>
            <a:off x="711182" y="6286342"/>
            <a:ext cx="10769330" cy="0"/>
          </a:xfrm>
          <a:prstGeom prst="straightConnector1">
            <a:avLst/>
          </a:prstGeom>
          <a:noFill/>
          <a:ln cap="flat" cmpd="sng" w="9525">
            <a:solidFill>
              <a:srgbClr val="332D2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14" name="Google Shape;214;p18"/>
          <p:cNvSpPr txBox="1"/>
          <p:nvPr/>
        </p:nvSpPr>
        <p:spPr>
          <a:xfrm>
            <a:off x="711182" y="6413339"/>
            <a:ext cx="5714857" cy="2285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F4EFE6"/>
                </a:solidFill>
                <a:latin typeface="Space Grotesk"/>
                <a:ea typeface="Space Grotesk"/>
                <a:cs typeface="Space Grotesk"/>
                <a:sym typeface="Space Grotesk"/>
              </a:rPr>
              <a:t>buildfastwithai.com/hackathon ↗</a:t>
            </a:r>
            <a:endParaRPr/>
          </a:p>
        </p:txBody>
      </p:sp>
      <p:sp>
        <p:nvSpPr>
          <p:cNvPr id="215" name="Google Shape;215;p18"/>
          <p:cNvSpPr txBox="1"/>
          <p:nvPr/>
        </p:nvSpPr>
        <p:spPr>
          <a:xfrm>
            <a:off x="8254793" y="6426039"/>
            <a:ext cx="3225719" cy="2285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75706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06 / 10</a:t>
            </a:r>
            <a:endParaRPr/>
          </a:p>
        </p:txBody>
      </p:sp>
      <p:sp>
        <p:nvSpPr>
          <p:cNvPr id="216" name="Google Shape;216;p18"/>
          <p:cNvSpPr txBox="1"/>
          <p:nvPr/>
        </p:nvSpPr>
        <p:spPr>
          <a:xfrm>
            <a:off x="711182" y="1206469"/>
            <a:ext cx="5714857" cy="190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>
                <a:solidFill>
                  <a:srgbClr val="F2B6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TECHNICAL APPROACH</a:t>
            </a:r>
            <a:endParaRPr/>
          </a:p>
        </p:txBody>
      </p:sp>
      <p:sp>
        <p:nvSpPr>
          <p:cNvPr id="217" name="Google Shape;217;p18"/>
          <p:cNvSpPr txBox="1"/>
          <p:nvPr/>
        </p:nvSpPr>
        <p:spPr>
          <a:xfrm>
            <a:off x="711182" y="1492212"/>
            <a:ext cx="10794730" cy="9524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>
                <a:solidFill>
                  <a:srgbClr val="F4EFE6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How </a:t>
            </a:r>
            <a:r>
              <a:rPr b="0" i="1" lang="en-US" sz="5000">
                <a:solidFill>
                  <a:srgbClr val="FFD27A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it works</a:t>
            </a:r>
            <a:endParaRPr/>
          </a:p>
        </p:txBody>
      </p:sp>
      <p:sp>
        <p:nvSpPr>
          <p:cNvPr id="218" name="Google Shape;218;p18"/>
          <p:cNvSpPr/>
          <p:nvPr/>
        </p:nvSpPr>
        <p:spPr>
          <a:xfrm>
            <a:off x="711182" y="2539936"/>
            <a:ext cx="5206869" cy="1587460"/>
          </a:xfrm>
          <a:prstGeom prst="roundRect">
            <a:avLst>
              <a:gd fmla="val 6000" name="adj"/>
            </a:avLst>
          </a:prstGeom>
          <a:solidFill>
            <a:srgbClr val="17130E"/>
          </a:solidFill>
          <a:ln cap="flat" cmpd="sng" w="12700">
            <a:solidFill>
              <a:srgbClr val="332D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8"/>
          <p:cNvSpPr txBox="1"/>
          <p:nvPr/>
        </p:nvSpPr>
        <p:spPr>
          <a:xfrm>
            <a:off x="914377" y="2717732"/>
            <a:ext cx="4800479" cy="190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>
                <a:solidFill>
                  <a:srgbClr val="F2B6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MODELS</a:t>
            </a:r>
            <a:endParaRPr/>
          </a:p>
        </p:txBody>
      </p:sp>
      <p:sp>
        <p:nvSpPr>
          <p:cNvPr id="220" name="Google Shape;220;p18"/>
          <p:cNvSpPr txBox="1"/>
          <p:nvPr/>
        </p:nvSpPr>
        <p:spPr>
          <a:xfrm>
            <a:off x="914377" y="2984425"/>
            <a:ext cx="4800479" cy="977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>
                <a:solidFill>
                  <a:srgbClr val="9E988E"/>
                </a:solidFill>
                <a:latin typeface="Space Grotesk"/>
                <a:ea typeface="Space Grotesk"/>
                <a:cs typeface="Space Grotesk"/>
                <a:sym typeface="Space Grotesk"/>
              </a:rPr>
              <a:t>[Which LLMs or models you'll use, and what each one does]</a:t>
            </a:r>
            <a:endParaRPr/>
          </a:p>
        </p:txBody>
      </p:sp>
      <p:sp>
        <p:nvSpPr>
          <p:cNvPr id="221" name="Google Shape;221;p18"/>
          <p:cNvSpPr/>
          <p:nvPr/>
        </p:nvSpPr>
        <p:spPr>
          <a:xfrm>
            <a:off x="6273643" y="2539936"/>
            <a:ext cx="5206869" cy="1587460"/>
          </a:xfrm>
          <a:prstGeom prst="roundRect">
            <a:avLst>
              <a:gd fmla="val 6000" name="adj"/>
            </a:avLst>
          </a:prstGeom>
          <a:solidFill>
            <a:srgbClr val="17130E"/>
          </a:solidFill>
          <a:ln cap="flat" cmpd="sng" w="12700">
            <a:solidFill>
              <a:srgbClr val="332D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8"/>
          <p:cNvSpPr txBox="1"/>
          <p:nvPr/>
        </p:nvSpPr>
        <p:spPr>
          <a:xfrm>
            <a:off x="6476838" y="2717732"/>
            <a:ext cx="4800479" cy="190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>
                <a:solidFill>
                  <a:srgbClr val="F2B6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TOOLS &amp; FRAMEWORKS</a:t>
            </a:r>
            <a:endParaRPr/>
          </a:p>
        </p:txBody>
      </p:sp>
      <p:sp>
        <p:nvSpPr>
          <p:cNvPr id="223" name="Google Shape;223;p18"/>
          <p:cNvSpPr txBox="1"/>
          <p:nvPr/>
        </p:nvSpPr>
        <p:spPr>
          <a:xfrm>
            <a:off x="6476838" y="2984425"/>
            <a:ext cx="4800479" cy="977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>
                <a:solidFill>
                  <a:srgbClr val="9E988E"/>
                </a:solidFill>
                <a:latin typeface="Space Grotesk"/>
                <a:ea typeface="Space Grotesk"/>
                <a:cs typeface="Space Grotesk"/>
                <a:sym typeface="Space Grotesk"/>
              </a:rPr>
              <a:t>[Agents, RAG, browser use, MCP, APIs, databases, and how they connect]</a:t>
            </a:r>
            <a:endParaRPr/>
          </a:p>
        </p:txBody>
      </p:sp>
      <p:sp>
        <p:nvSpPr>
          <p:cNvPr id="224" name="Google Shape;224;p18"/>
          <p:cNvSpPr/>
          <p:nvPr/>
        </p:nvSpPr>
        <p:spPr>
          <a:xfrm>
            <a:off x="711182" y="4381390"/>
            <a:ext cx="5206869" cy="1587460"/>
          </a:xfrm>
          <a:prstGeom prst="roundRect">
            <a:avLst>
              <a:gd fmla="val 6000" name="adj"/>
            </a:avLst>
          </a:prstGeom>
          <a:solidFill>
            <a:srgbClr val="17130E"/>
          </a:solidFill>
          <a:ln cap="flat" cmpd="sng" w="12700">
            <a:solidFill>
              <a:srgbClr val="332D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8"/>
          <p:cNvSpPr txBox="1"/>
          <p:nvPr/>
        </p:nvSpPr>
        <p:spPr>
          <a:xfrm>
            <a:off x="914377" y="4559186"/>
            <a:ext cx="4800479" cy="190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>
                <a:solidFill>
                  <a:srgbClr val="F2B6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DATA</a:t>
            </a:r>
            <a:endParaRPr/>
          </a:p>
        </p:txBody>
      </p:sp>
      <p:sp>
        <p:nvSpPr>
          <p:cNvPr id="226" name="Google Shape;226;p18"/>
          <p:cNvSpPr txBox="1"/>
          <p:nvPr/>
        </p:nvSpPr>
        <p:spPr>
          <a:xfrm>
            <a:off x="914377" y="4825879"/>
            <a:ext cx="4800479" cy="977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>
                <a:solidFill>
                  <a:srgbClr val="9E988E"/>
                </a:solidFill>
                <a:latin typeface="Space Grotesk"/>
                <a:ea typeface="Space Grotesk"/>
                <a:cs typeface="Space Grotesk"/>
                <a:sym typeface="Space Grotesk"/>
              </a:rPr>
              <a:t>[Where your data comes from: public, generated or sample data]</a:t>
            </a:r>
            <a:endParaRPr/>
          </a:p>
        </p:txBody>
      </p:sp>
      <p:sp>
        <p:nvSpPr>
          <p:cNvPr id="227" name="Google Shape;227;p18"/>
          <p:cNvSpPr/>
          <p:nvPr/>
        </p:nvSpPr>
        <p:spPr>
          <a:xfrm>
            <a:off x="6273643" y="4381390"/>
            <a:ext cx="5206869" cy="1587460"/>
          </a:xfrm>
          <a:prstGeom prst="roundRect">
            <a:avLst>
              <a:gd fmla="val 6000" name="adj"/>
            </a:avLst>
          </a:prstGeom>
          <a:solidFill>
            <a:srgbClr val="17130E"/>
          </a:solidFill>
          <a:ln cap="flat" cmpd="sng" w="12700">
            <a:solidFill>
              <a:srgbClr val="332D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8"/>
          <p:cNvSpPr txBox="1"/>
          <p:nvPr/>
        </p:nvSpPr>
        <p:spPr>
          <a:xfrm>
            <a:off x="6476838" y="4559186"/>
            <a:ext cx="4800479" cy="190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>
                <a:solidFill>
                  <a:srgbClr val="F2B6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HUMAN APPROVAL</a:t>
            </a:r>
            <a:endParaRPr/>
          </a:p>
        </p:txBody>
      </p:sp>
      <p:sp>
        <p:nvSpPr>
          <p:cNvPr id="229" name="Google Shape;229;p18"/>
          <p:cNvSpPr txBox="1"/>
          <p:nvPr/>
        </p:nvSpPr>
        <p:spPr>
          <a:xfrm>
            <a:off x="6476838" y="4825879"/>
            <a:ext cx="4800479" cy="977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>
                <a:solidFill>
                  <a:srgbClr val="9E988E"/>
                </a:solidFill>
                <a:latin typeface="Space Grotesk"/>
                <a:ea typeface="Space Grotesk"/>
                <a:cs typeface="Space Grotesk"/>
                <a:sym typeface="Space Grotesk"/>
              </a:rPr>
              <a:t>[Which step waits for a person, and why]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orner.png" id="234" name="Google Shape;23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7828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19"/>
          <p:cNvSpPr txBox="1"/>
          <p:nvPr/>
        </p:nvSpPr>
        <p:spPr>
          <a:xfrm>
            <a:off x="711182" y="558786"/>
            <a:ext cx="4444888" cy="253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F4EFE6"/>
                </a:solidFill>
                <a:latin typeface="Space Grotesk"/>
                <a:ea typeface="Space Grotesk"/>
                <a:cs typeface="Space Grotesk"/>
                <a:sym typeface="Space Grotesk"/>
              </a:rPr>
              <a:t>✱  BFWAI/HACK 26</a:t>
            </a:r>
            <a:endParaRPr/>
          </a:p>
        </p:txBody>
      </p:sp>
      <p:sp>
        <p:nvSpPr>
          <p:cNvPr id="236" name="Google Shape;236;p19"/>
          <p:cNvSpPr txBox="1"/>
          <p:nvPr/>
        </p:nvSpPr>
        <p:spPr>
          <a:xfrm>
            <a:off x="6984825" y="571485"/>
            <a:ext cx="4495687" cy="253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757068"/>
                </a:solidFill>
                <a:latin typeface="Space Grotesk"/>
                <a:ea typeface="Space Grotesk"/>
                <a:cs typeface="Space Grotesk"/>
                <a:sym typeface="Space Grotesk"/>
              </a:rPr>
              <a:t>05 · Key features</a:t>
            </a:r>
            <a:endParaRPr/>
          </a:p>
        </p:txBody>
      </p:sp>
      <p:cxnSp>
        <p:nvCxnSpPr>
          <p:cNvPr id="237" name="Google Shape;237;p19"/>
          <p:cNvCxnSpPr/>
          <p:nvPr/>
        </p:nvCxnSpPr>
        <p:spPr>
          <a:xfrm>
            <a:off x="711182" y="6286342"/>
            <a:ext cx="10769330" cy="0"/>
          </a:xfrm>
          <a:prstGeom prst="straightConnector1">
            <a:avLst/>
          </a:prstGeom>
          <a:noFill/>
          <a:ln cap="flat" cmpd="sng" w="9525">
            <a:solidFill>
              <a:srgbClr val="332D2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38" name="Google Shape;238;p19"/>
          <p:cNvSpPr txBox="1"/>
          <p:nvPr/>
        </p:nvSpPr>
        <p:spPr>
          <a:xfrm>
            <a:off x="711182" y="6413339"/>
            <a:ext cx="5714857" cy="2285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F4EFE6"/>
                </a:solidFill>
                <a:latin typeface="Space Grotesk"/>
                <a:ea typeface="Space Grotesk"/>
                <a:cs typeface="Space Grotesk"/>
                <a:sym typeface="Space Grotesk"/>
              </a:rPr>
              <a:t>buildfastwithai.com/hackathon ↗</a:t>
            </a:r>
            <a:endParaRPr/>
          </a:p>
        </p:txBody>
      </p:sp>
      <p:sp>
        <p:nvSpPr>
          <p:cNvPr id="239" name="Google Shape;239;p19"/>
          <p:cNvSpPr txBox="1"/>
          <p:nvPr/>
        </p:nvSpPr>
        <p:spPr>
          <a:xfrm>
            <a:off x="8254793" y="6426039"/>
            <a:ext cx="3225719" cy="2285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75706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07 / 10</a:t>
            </a:r>
            <a:endParaRPr/>
          </a:p>
        </p:txBody>
      </p:sp>
      <p:sp>
        <p:nvSpPr>
          <p:cNvPr id="240" name="Google Shape;240;p19"/>
          <p:cNvSpPr txBox="1"/>
          <p:nvPr/>
        </p:nvSpPr>
        <p:spPr>
          <a:xfrm>
            <a:off x="711182" y="1206469"/>
            <a:ext cx="5714857" cy="190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>
                <a:solidFill>
                  <a:srgbClr val="F2B6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KEY FEATURES</a:t>
            </a:r>
            <a:endParaRPr/>
          </a:p>
        </p:txBody>
      </p:sp>
      <p:sp>
        <p:nvSpPr>
          <p:cNvPr id="241" name="Google Shape;241;p19"/>
          <p:cNvSpPr txBox="1"/>
          <p:nvPr/>
        </p:nvSpPr>
        <p:spPr>
          <a:xfrm>
            <a:off x="711182" y="1492212"/>
            <a:ext cx="10794730" cy="9524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>
                <a:solidFill>
                  <a:srgbClr val="F4EFE6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What it will do </a:t>
            </a:r>
            <a:r>
              <a:rPr b="0" i="1" lang="en-US" sz="5000">
                <a:solidFill>
                  <a:srgbClr val="FFD27A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by 1 Oct</a:t>
            </a:r>
            <a:endParaRPr/>
          </a:p>
        </p:txBody>
      </p:sp>
      <p:cxnSp>
        <p:nvCxnSpPr>
          <p:cNvPr id="242" name="Google Shape;242;p19"/>
          <p:cNvCxnSpPr/>
          <p:nvPr/>
        </p:nvCxnSpPr>
        <p:spPr>
          <a:xfrm>
            <a:off x="711182" y="2539936"/>
            <a:ext cx="10769330" cy="0"/>
          </a:xfrm>
          <a:prstGeom prst="straightConnector1">
            <a:avLst/>
          </a:prstGeom>
          <a:noFill/>
          <a:ln cap="flat" cmpd="sng" w="9525">
            <a:solidFill>
              <a:srgbClr val="332D2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43" name="Google Shape;243;p19"/>
          <p:cNvSpPr txBox="1"/>
          <p:nvPr/>
        </p:nvSpPr>
        <p:spPr>
          <a:xfrm>
            <a:off x="711182" y="2679633"/>
            <a:ext cx="634984" cy="444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400">
                <a:solidFill>
                  <a:srgbClr val="FFD27A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01</a:t>
            </a:r>
            <a:endParaRPr/>
          </a:p>
        </p:txBody>
      </p:sp>
      <p:sp>
        <p:nvSpPr>
          <p:cNvPr id="244" name="Google Shape;244;p19"/>
          <p:cNvSpPr txBox="1"/>
          <p:nvPr/>
        </p:nvSpPr>
        <p:spPr>
          <a:xfrm>
            <a:off x="1460463" y="2705032"/>
            <a:ext cx="3555911" cy="380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>
                <a:solidFill>
                  <a:srgbClr val="F4EFE6"/>
                </a:solidFill>
                <a:latin typeface="Space Grotesk"/>
                <a:ea typeface="Space Grotesk"/>
                <a:cs typeface="Space Grotesk"/>
                <a:sym typeface="Space Grotesk"/>
              </a:rPr>
              <a:t>[Feature name]</a:t>
            </a:r>
            <a:endParaRPr/>
          </a:p>
        </p:txBody>
      </p:sp>
      <p:sp>
        <p:nvSpPr>
          <p:cNvPr id="245" name="Google Shape;245;p19"/>
          <p:cNvSpPr txBox="1"/>
          <p:nvPr/>
        </p:nvSpPr>
        <p:spPr>
          <a:xfrm>
            <a:off x="5206869" y="2730431"/>
            <a:ext cx="6273643" cy="380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>
                <a:solidFill>
                  <a:srgbClr val="9E988E"/>
                </a:solidFill>
                <a:latin typeface="Space Grotesk"/>
                <a:ea typeface="Space Grotesk"/>
                <a:cs typeface="Space Grotesk"/>
                <a:sym typeface="Space Grotesk"/>
              </a:rPr>
              <a:t>[What it does for the user, in one line]</a:t>
            </a:r>
            <a:endParaRPr/>
          </a:p>
        </p:txBody>
      </p:sp>
      <p:cxnSp>
        <p:nvCxnSpPr>
          <p:cNvPr id="246" name="Google Shape;246;p19"/>
          <p:cNvCxnSpPr/>
          <p:nvPr/>
        </p:nvCxnSpPr>
        <p:spPr>
          <a:xfrm>
            <a:off x="711182" y="3238419"/>
            <a:ext cx="10769330" cy="0"/>
          </a:xfrm>
          <a:prstGeom prst="straightConnector1">
            <a:avLst/>
          </a:prstGeom>
          <a:noFill/>
          <a:ln cap="flat" cmpd="sng" w="9525">
            <a:solidFill>
              <a:srgbClr val="332D2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47" name="Google Shape;247;p19"/>
          <p:cNvSpPr txBox="1"/>
          <p:nvPr/>
        </p:nvSpPr>
        <p:spPr>
          <a:xfrm>
            <a:off x="711182" y="3378115"/>
            <a:ext cx="634984" cy="444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400">
                <a:solidFill>
                  <a:srgbClr val="FFD27A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02</a:t>
            </a:r>
            <a:endParaRPr/>
          </a:p>
        </p:txBody>
      </p:sp>
      <p:sp>
        <p:nvSpPr>
          <p:cNvPr id="248" name="Google Shape;248;p19"/>
          <p:cNvSpPr txBox="1"/>
          <p:nvPr/>
        </p:nvSpPr>
        <p:spPr>
          <a:xfrm>
            <a:off x="1460463" y="3403514"/>
            <a:ext cx="3555911" cy="380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>
                <a:solidFill>
                  <a:srgbClr val="F4EFE6"/>
                </a:solidFill>
                <a:latin typeface="Space Grotesk"/>
                <a:ea typeface="Space Grotesk"/>
                <a:cs typeface="Space Grotesk"/>
                <a:sym typeface="Space Grotesk"/>
              </a:rPr>
              <a:t>[Feature name]</a:t>
            </a:r>
            <a:endParaRPr/>
          </a:p>
        </p:txBody>
      </p:sp>
      <p:sp>
        <p:nvSpPr>
          <p:cNvPr id="249" name="Google Shape;249;p19"/>
          <p:cNvSpPr txBox="1"/>
          <p:nvPr/>
        </p:nvSpPr>
        <p:spPr>
          <a:xfrm>
            <a:off x="5206869" y="3428914"/>
            <a:ext cx="6273643" cy="380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>
                <a:solidFill>
                  <a:srgbClr val="9E988E"/>
                </a:solidFill>
                <a:latin typeface="Space Grotesk"/>
                <a:ea typeface="Space Grotesk"/>
                <a:cs typeface="Space Grotesk"/>
                <a:sym typeface="Space Grotesk"/>
              </a:rPr>
              <a:t>[What it does for the user, in one line]</a:t>
            </a:r>
            <a:endParaRPr/>
          </a:p>
        </p:txBody>
      </p:sp>
      <p:cxnSp>
        <p:nvCxnSpPr>
          <p:cNvPr id="250" name="Google Shape;250;p19"/>
          <p:cNvCxnSpPr/>
          <p:nvPr/>
        </p:nvCxnSpPr>
        <p:spPr>
          <a:xfrm>
            <a:off x="711182" y="3936901"/>
            <a:ext cx="10769330" cy="0"/>
          </a:xfrm>
          <a:prstGeom prst="straightConnector1">
            <a:avLst/>
          </a:prstGeom>
          <a:noFill/>
          <a:ln cap="flat" cmpd="sng" w="9525">
            <a:solidFill>
              <a:srgbClr val="332D2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51" name="Google Shape;251;p19"/>
          <p:cNvSpPr txBox="1"/>
          <p:nvPr/>
        </p:nvSpPr>
        <p:spPr>
          <a:xfrm>
            <a:off x="711182" y="4076598"/>
            <a:ext cx="634984" cy="444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400">
                <a:solidFill>
                  <a:srgbClr val="FFD27A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03</a:t>
            </a:r>
            <a:endParaRPr/>
          </a:p>
        </p:txBody>
      </p:sp>
      <p:sp>
        <p:nvSpPr>
          <p:cNvPr id="252" name="Google Shape;252;p19"/>
          <p:cNvSpPr txBox="1"/>
          <p:nvPr/>
        </p:nvSpPr>
        <p:spPr>
          <a:xfrm>
            <a:off x="1460463" y="4101997"/>
            <a:ext cx="3555911" cy="380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>
                <a:solidFill>
                  <a:srgbClr val="F4EFE6"/>
                </a:solidFill>
                <a:latin typeface="Space Grotesk"/>
                <a:ea typeface="Space Grotesk"/>
                <a:cs typeface="Space Grotesk"/>
                <a:sym typeface="Space Grotesk"/>
              </a:rPr>
              <a:t>[Feature name]</a:t>
            </a:r>
            <a:endParaRPr/>
          </a:p>
        </p:txBody>
      </p:sp>
      <p:sp>
        <p:nvSpPr>
          <p:cNvPr id="253" name="Google Shape;253;p19"/>
          <p:cNvSpPr txBox="1"/>
          <p:nvPr/>
        </p:nvSpPr>
        <p:spPr>
          <a:xfrm>
            <a:off x="5206869" y="4127396"/>
            <a:ext cx="6273643" cy="380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>
                <a:solidFill>
                  <a:srgbClr val="9E988E"/>
                </a:solidFill>
                <a:latin typeface="Space Grotesk"/>
                <a:ea typeface="Space Grotesk"/>
                <a:cs typeface="Space Grotesk"/>
                <a:sym typeface="Space Grotesk"/>
              </a:rPr>
              <a:t>[What it does for the user, in one line]</a:t>
            </a:r>
            <a:endParaRPr/>
          </a:p>
        </p:txBody>
      </p:sp>
      <p:cxnSp>
        <p:nvCxnSpPr>
          <p:cNvPr id="254" name="Google Shape;254;p19"/>
          <p:cNvCxnSpPr/>
          <p:nvPr/>
        </p:nvCxnSpPr>
        <p:spPr>
          <a:xfrm>
            <a:off x="711182" y="4635384"/>
            <a:ext cx="10769330" cy="0"/>
          </a:xfrm>
          <a:prstGeom prst="straightConnector1">
            <a:avLst/>
          </a:prstGeom>
          <a:noFill/>
          <a:ln cap="flat" cmpd="sng" w="9525">
            <a:solidFill>
              <a:srgbClr val="332D2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55" name="Google Shape;255;p19"/>
          <p:cNvSpPr txBox="1"/>
          <p:nvPr/>
        </p:nvSpPr>
        <p:spPr>
          <a:xfrm>
            <a:off x="711182" y="4775080"/>
            <a:ext cx="634984" cy="444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400">
                <a:solidFill>
                  <a:srgbClr val="FFD27A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04</a:t>
            </a:r>
            <a:endParaRPr/>
          </a:p>
        </p:txBody>
      </p:sp>
      <p:sp>
        <p:nvSpPr>
          <p:cNvPr id="256" name="Google Shape;256;p19"/>
          <p:cNvSpPr txBox="1"/>
          <p:nvPr/>
        </p:nvSpPr>
        <p:spPr>
          <a:xfrm>
            <a:off x="1460463" y="4800479"/>
            <a:ext cx="3555911" cy="380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>
                <a:solidFill>
                  <a:srgbClr val="F4EFE6"/>
                </a:solidFill>
                <a:latin typeface="Space Grotesk"/>
                <a:ea typeface="Space Grotesk"/>
                <a:cs typeface="Space Grotesk"/>
                <a:sym typeface="Space Grotesk"/>
              </a:rPr>
              <a:t>[Feature name]</a:t>
            </a:r>
            <a:endParaRPr/>
          </a:p>
        </p:txBody>
      </p:sp>
      <p:sp>
        <p:nvSpPr>
          <p:cNvPr id="257" name="Google Shape;257;p19"/>
          <p:cNvSpPr txBox="1"/>
          <p:nvPr/>
        </p:nvSpPr>
        <p:spPr>
          <a:xfrm>
            <a:off x="5206869" y="4825879"/>
            <a:ext cx="6273643" cy="380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>
                <a:solidFill>
                  <a:srgbClr val="9E988E"/>
                </a:solidFill>
                <a:latin typeface="Space Grotesk"/>
                <a:ea typeface="Space Grotesk"/>
                <a:cs typeface="Space Grotesk"/>
                <a:sym typeface="Space Grotesk"/>
              </a:rPr>
              <a:t>[What it does for the user, in one line]</a:t>
            </a:r>
            <a:endParaRPr/>
          </a:p>
        </p:txBody>
      </p:sp>
      <p:cxnSp>
        <p:nvCxnSpPr>
          <p:cNvPr id="258" name="Google Shape;258;p19"/>
          <p:cNvCxnSpPr/>
          <p:nvPr/>
        </p:nvCxnSpPr>
        <p:spPr>
          <a:xfrm>
            <a:off x="711182" y="5333866"/>
            <a:ext cx="10769330" cy="0"/>
          </a:xfrm>
          <a:prstGeom prst="straightConnector1">
            <a:avLst/>
          </a:prstGeom>
          <a:noFill/>
          <a:ln cap="flat" cmpd="sng" w="9525">
            <a:solidFill>
              <a:srgbClr val="332D2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59" name="Google Shape;259;p19"/>
          <p:cNvSpPr txBox="1"/>
          <p:nvPr/>
        </p:nvSpPr>
        <p:spPr>
          <a:xfrm>
            <a:off x="711182" y="5473563"/>
            <a:ext cx="634984" cy="444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400">
                <a:solidFill>
                  <a:srgbClr val="FFD27A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05</a:t>
            </a:r>
            <a:endParaRPr/>
          </a:p>
        </p:txBody>
      </p:sp>
      <p:sp>
        <p:nvSpPr>
          <p:cNvPr id="260" name="Google Shape;260;p19"/>
          <p:cNvSpPr txBox="1"/>
          <p:nvPr/>
        </p:nvSpPr>
        <p:spPr>
          <a:xfrm>
            <a:off x="1460463" y="5498962"/>
            <a:ext cx="3555911" cy="380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>
                <a:solidFill>
                  <a:srgbClr val="F4EFE6"/>
                </a:solidFill>
                <a:latin typeface="Space Grotesk"/>
                <a:ea typeface="Space Grotesk"/>
                <a:cs typeface="Space Grotesk"/>
                <a:sym typeface="Space Grotesk"/>
              </a:rPr>
              <a:t>[Feature name]</a:t>
            </a:r>
            <a:endParaRPr/>
          </a:p>
        </p:txBody>
      </p:sp>
      <p:sp>
        <p:nvSpPr>
          <p:cNvPr id="261" name="Google Shape;261;p19"/>
          <p:cNvSpPr txBox="1"/>
          <p:nvPr/>
        </p:nvSpPr>
        <p:spPr>
          <a:xfrm>
            <a:off x="5206869" y="5524361"/>
            <a:ext cx="6273643" cy="380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>
                <a:solidFill>
                  <a:srgbClr val="9E988E"/>
                </a:solidFill>
                <a:latin typeface="Space Grotesk"/>
                <a:ea typeface="Space Grotesk"/>
                <a:cs typeface="Space Grotesk"/>
                <a:sym typeface="Space Grotesk"/>
              </a:rPr>
              <a:t>[What it does for the user, in one line]</a:t>
            </a:r>
            <a:endParaRPr/>
          </a:p>
        </p:txBody>
      </p:sp>
      <p:cxnSp>
        <p:nvCxnSpPr>
          <p:cNvPr id="262" name="Google Shape;262;p19"/>
          <p:cNvCxnSpPr/>
          <p:nvPr/>
        </p:nvCxnSpPr>
        <p:spPr>
          <a:xfrm>
            <a:off x="711182" y="6032349"/>
            <a:ext cx="10769330" cy="0"/>
          </a:xfrm>
          <a:prstGeom prst="straightConnector1">
            <a:avLst/>
          </a:prstGeom>
          <a:noFill/>
          <a:ln cap="flat" cmpd="sng" w="9525">
            <a:solidFill>
              <a:srgbClr val="332D2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ot.png" id="267" name="Google Shape;26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7828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0"/>
          <p:cNvSpPr txBox="1"/>
          <p:nvPr/>
        </p:nvSpPr>
        <p:spPr>
          <a:xfrm>
            <a:off x="711182" y="558786"/>
            <a:ext cx="4444888" cy="253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F4EFE6"/>
                </a:solidFill>
                <a:latin typeface="Space Grotesk"/>
                <a:ea typeface="Space Grotesk"/>
                <a:cs typeface="Space Grotesk"/>
                <a:sym typeface="Space Grotesk"/>
              </a:rPr>
              <a:t>✱  BFWAI/HACK 26</a:t>
            </a:r>
            <a:endParaRPr/>
          </a:p>
        </p:txBody>
      </p:sp>
      <p:sp>
        <p:nvSpPr>
          <p:cNvPr id="269" name="Google Shape;269;p20"/>
          <p:cNvSpPr txBox="1"/>
          <p:nvPr/>
        </p:nvSpPr>
        <p:spPr>
          <a:xfrm>
            <a:off x="6984825" y="571485"/>
            <a:ext cx="4495687" cy="253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757068"/>
                </a:solidFill>
                <a:latin typeface="Space Grotesk"/>
                <a:ea typeface="Space Grotesk"/>
                <a:cs typeface="Space Grotesk"/>
                <a:sym typeface="Space Grotesk"/>
              </a:rPr>
              <a:t>06 · Baseline &amp; evaluation</a:t>
            </a:r>
            <a:endParaRPr/>
          </a:p>
        </p:txBody>
      </p:sp>
      <p:cxnSp>
        <p:nvCxnSpPr>
          <p:cNvPr id="270" name="Google Shape;270;p20"/>
          <p:cNvCxnSpPr/>
          <p:nvPr/>
        </p:nvCxnSpPr>
        <p:spPr>
          <a:xfrm>
            <a:off x="711182" y="6286342"/>
            <a:ext cx="10769330" cy="0"/>
          </a:xfrm>
          <a:prstGeom prst="straightConnector1">
            <a:avLst/>
          </a:prstGeom>
          <a:noFill/>
          <a:ln cap="flat" cmpd="sng" w="9525">
            <a:solidFill>
              <a:srgbClr val="332D2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71" name="Google Shape;271;p20"/>
          <p:cNvSpPr txBox="1"/>
          <p:nvPr/>
        </p:nvSpPr>
        <p:spPr>
          <a:xfrm>
            <a:off x="711182" y="6413339"/>
            <a:ext cx="5714857" cy="2285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F4EFE6"/>
                </a:solidFill>
                <a:latin typeface="Space Grotesk"/>
                <a:ea typeface="Space Grotesk"/>
                <a:cs typeface="Space Grotesk"/>
                <a:sym typeface="Space Grotesk"/>
              </a:rPr>
              <a:t>buildfastwithai.com/hackathon ↗</a:t>
            </a:r>
            <a:endParaRPr/>
          </a:p>
        </p:txBody>
      </p:sp>
      <p:sp>
        <p:nvSpPr>
          <p:cNvPr id="272" name="Google Shape;272;p20"/>
          <p:cNvSpPr txBox="1"/>
          <p:nvPr/>
        </p:nvSpPr>
        <p:spPr>
          <a:xfrm>
            <a:off x="8254793" y="6426039"/>
            <a:ext cx="3225719" cy="2285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75706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08 / 10</a:t>
            </a:r>
            <a:endParaRPr/>
          </a:p>
        </p:txBody>
      </p:sp>
      <p:sp>
        <p:nvSpPr>
          <p:cNvPr id="273" name="Google Shape;273;p20"/>
          <p:cNvSpPr txBox="1"/>
          <p:nvPr/>
        </p:nvSpPr>
        <p:spPr>
          <a:xfrm>
            <a:off x="711182" y="1206469"/>
            <a:ext cx="5714857" cy="190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>
                <a:solidFill>
                  <a:srgbClr val="F2B6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BASELINE &amp; EVALUATION</a:t>
            </a:r>
            <a:endParaRPr/>
          </a:p>
        </p:txBody>
      </p:sp>
      <p:sp>
        <p:nvSpPr>
          <p:cNvPr id="274" name="Google Shape;274;p20"/>
          <p:cNvSpPr txBox="1"/>
          <p:nvPr/>
        </p:nvSpPr>
        <p:spPr>
          <a:xfrm>
            <a:off x="711182" y="1492212"/>
            <a:ext cx="10794730" cy="9524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>
                <a:solidFill>
                  <a:srgbClr val="F4EFE6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How we'll </a:t>
            </a:r>
            <a:r>
              <a:rPr b="0" i="1" lang="en-US" sz="5000">
                <a:solidFill>
                  <a:srgbClr val="FFD27A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prove it works</a:t>
            </a:r>
            <a:endParaRPr/>
          </a:p>
        </p:txBody>
      </p:sp>
      <p:sp>
        <p:nvSpPr>
          <p:cNvPr id="275" name="Google Shape;275;p20"/>
          <p:cNvSpPr/>
          <p:nvPr/>
        </p:nvSpPr>
        <p:spPr>
          <a:xfrm>
            <a:off x="711182" y="2539936"/>
            <a:ext cx="5206869" cy="1714457"/>
          </a:xfrm>
          <a:prstGeom prst="roundRect">
            <a:avLst>
              <a:gd fmla="val 6000" name="adj"/>
            </a:avLst>
          </a:prstGeom>
          <a:solidFill>
            <a:srgbClr val="17130E"/>
          </a:solidFill>
          <a:ln cap="flat" cmpd="sng" w="12700">
            <a:solidFill>
              <a:srgbClr val="332D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0"/>
          <p:cNvSpPr txBox="1"/>
          <p:nvPr/>
        </p:nvSpPr>
        <p:spPr>
          <a:xfrm>
            <a:off x="914377" y="2717732"/>
            <a:ext cx="4825879" cy="190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>
                <a:solidFill>
                  <a:srgbClr val="F2B6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TODAY · WITHOUT YOUR SYSTEM</a:t>
            </a:r>
            <a:endParaRPr/>
          </a:p>
        </p:txBody>
      </p:sp>
      <p:sp>
        <p:nvSpPr>
          <p:cNvPr id="277" name="Google Shape;277;p20"/>
          <p:cNvSpPr txBox="1"/>
          <p:nvPr/>
        </p:nvSpPr>
        <p:spPr>
          <a:xfrm>
            <a:off x="914377" y="2984425"/>
            <a:ext cx="4800479" cy="507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>
                <a:solidFill>
                  <a:srgbClr val="F4EFE6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[e.g. 30 min → 3 min]</a:t>
            </a:r>
            <a:endParaRPr/>
          </a:p>
        </p:txBody>
      </p:sp>
      <p:sp>
        <p:nvSpPr>
          <p:cNvPr id="278" name="Google Shape;278;p20"/>
          <p:cNvSpPr txBox="1"/>
          <p:nvPr/>
        </p:nvSpPr>
        <p:spPr>
          <a:xfrm>
            <a:off x="914377" y="3619409"/>
            <a:ext cx="4800479" cy="5714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9E988E"/>
                </a:solidFill>
                <a:latin typeface="Space Grotesk"/>
                <a:ea typeface="Space Grotesk"/>
                <a:cs typeface="Space Grotesk"/>
                <a:sym typeface="Space Grotesk"/>
              </a:rPr>
              <a:t>[Time per task, error rate, cost, throughput. How you know.]</a:t>
            </a:r>
            <a:endParaRPr/>
          </a:p>
        </p:txBody>
      </p:sp>
      <p:sp>
        <p:nvSpPr>
          <p:cNvPr id="279" name="Google Shape;279;p20"/>
          <p:cNvSpPr/>
          <p:nvPr/>
        </p:nvSpPr>
        <p:spPr>
          <a:xfrm>
            <a:off x="6273643" y="2539936"/>
            <a:ext cx="5206869" cy="1714457"/>
          </a:xfrm>
          <a:prstGeom prst="roundRect">
            <a:avLst>
              <a:gd fmla="val 6000" name="adj"/>
            </a:avLst>
          </a:prstGeom>
          <a:solidFill>
            <a:srgbClr val="2A2110"/>
          </a:solidFill>
          <a:ln cap="flat" cmpd="sng" w="12700">
            <a:solidFill>
              <a:srgbClr val="8A68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0"/>
          <p:cNvSpPr txBox="1"/>
          <p:nvPr/>
        </p:nvSpPr>
        <p:spPr>
          <a:xfrm>
            <a:off x="6476838" y="2717732"/>
            <a:ext cx="4825879" cy="190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>
                <a:solidFill>
                  <a:srgbClr val="F2B6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TARGET · WITH YOUR SYSTEM</a:t>
            </a:r>
            <a:endParaRPr/>
          </a:p>
        </p:txBody>
      </p:sp>
      <p:sp>
        <p:nvSpPr>
          <p:cNvPr id="281" name="Google Shape;281;p20"/>
          <p:cNvSpPr txBox="1"/>
          <p:nvPr/>
        </p:nvSpPr>
        <p:spPr>
          <a:xfrm>
            <a:off x="6476838" y="2984425"/>
            <a:ext cx="4800479" cy="507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>
                <a:solidFill>
                  <a:srgbClr val="FFD27A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[e.g. 30 min → 3 min]</a:t>
            </a:r>
            <a:endParaRPr/>
          </a:p>
        </p:txBody>
      </p:sp>
      <p:sp>
        <p:nvSpPr>
          <p:cNvPr id="282" name="Google Shape;282;p20"/>
          <p:cNvSpPr txBox="1"/>
          <p:nvPr/>
        </p:nvSpPr>
        <p:spPr>
          <a:xfrm>
            <a:off x="6476838" y="3619409"/>
            <a:ext cx="4800479" cy="5714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9E988E"/>
                </a:solidFill>
                <a:latin typeface="Space Grotesk"/>
                <a:ea typeface="Space Grotesk"/>
                <a:cs typeface="Space Grotesk"/>
                <a:sym typeface="Space Grotesk"/>
              </a:rPr>
              <a:t>[The number you're aiming for on the same measure.]</a:t>
            </a:r>
            <a:endParaRPr/>
          </a:p>
        </p:txBody>
      </p:sp>
      <p:sp>
        <p:nvSpPr>
          <p:cNvPr id="283" name="Google Shape;283;p20"/>
          <p:cNvSpPr txBox="1"/>
          <p:nvPr/>
        </p:nvSpPr>
        <p:spPr>
          <a:xfrm>
            <a:off x="5918052" y="3206669"/>
            <a:ext cx="355591" cy="380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>
                <a:solidFill>
                  <a:srgbClr val="F2B632"/>
                </a:solidFill>
                <a:latin typeface="Space Grotesk"/>
                <a:ea typeface="Space Grotesk"/>
                <a:cs typeface="Space Grotesk"/>
                <a:sym typeface="Space Grotesk"/>
              </a:rPr>
              <a:t>→</a:t>
            </a:r>
            <a:endParaRPr/>
          </a:p>
        </p:txBody>
      </p:sp>
      <p:sp>
        <p:nvSpPr>
          <p:cNvPr id="284" name="Google Shape;284;p20"/>
          <p:cNvSpPr/>
          <p:nvPr/>
        </p:nvSpPr>
        <p:spPr>
          <a:xfrm>
            <a:off x="711182" y="4508387"/>
            <a:ext cx="10769330" cy="1460463"/>
          </a:xfrm>
          <a:prstGeom prst="roundRect">
            <a:avLst>
              <a:gd fmla="val 6000" name="adj"/>
            </a:avLst>
          </a:prstGeom>
          <a:solidFill>
            <a:srgbClr val="17130E"/>
          </a:solidFill>
          <a:ln cap="flat" cmpd="sng" w="12700">
            <a:solidFill>
              <a:srgbClr val="332D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0"/>
          <p:cNvSpPr txBox="1"/>
          <p:nvPr/>
        </p:nvSpPr>
        <p:spPr>
          <a:xfrm>
            <a:off x="914377" y="4686182"/>
            <a:ext cx="10362940" cy="190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>
                <a:solidFill>
                  <a:srgbClr val="F2B6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HOW YOU'LL EVALUATE IT</a:t>
            </a:r>
            <a:endParaRPr/>
          </a:p>
        </p:txBody>
      </p:sp>
      <p:sp>
        <p:nvSpPr>
          <p:cNvPr id="286" name="Google Shape;286;p20"/>
          <p:cNvSpPr txBox="1"/>
          <p:nvPr/>
        </p:nvSpPr>
        <p:spPr>
          <a:xfrm>
            <a:off x="914377" y="4952876"/>
            <a:ext cx="10362940" cy="850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>
                <a:solidFill>
                  <a:srgbClr val="9E988E"/>
                </a:solidFill>
                <a:latin typeface="Space Grotesk"/>
                <a:ea typeface="Space Grotesk"/>
                <a:cs typeface="Space Grotesk"/>
                <a:sym typeface="Space Grotesk"/>
              </a:rPr>
              <a:t>[Your test set: how many examples, where they come from, and the metrics you'll report (accuracy, time saved, pass rate). Say how you'll catch failures.]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op.png" id="291" name="Google Shape;29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7828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21"/>
          <p:cNvSpPr txBox="1"/>
          <p:nvPr/>
        </p:nvSpPr>
        <p:spPr>
          <a:xfrm>
            <a:off x="711182" y="558786"/>
            <a:ext cx="4444888" cy="253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F4EFE6"/>
                </a:solidFill>
                <a:latin typeface="Space Grotesk"/>
                <a:ea typeface="Space Grotesk"/>
                <a:cs typeface="Space Grotesk"/>
                <a:sym typeface="Space Grotesk"/>
              </a:rPr>
              <a:t>✱  BFWAI/HACK 26</a:t>
            </a:r>
            <a:endParaRPr/>
          </a:p>
        </p:txBody>
      </p:sp>
      <p:sp>
        <p:nvSpPr>
          <p:cNvPr id="293" name="Google Shape;293;p21"/>
          <p:cNvSpPr txBox="1"/>
          <p:nvPr/>
        </p:nvSpPr>
        <p:spPr>
          <a:xfrm>
            <a:off x="6984825" y="571485"/>
            <a:ext cx="4495687" cy="253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757068"/>
                </a:solidFill>
                <a:latin typeface="Space Grotesk"/>
                <a:ea typeface="Space Grotesk"/>
                <a:cs typeface="Space Grotesk"/>
                <a:sym typeface="Space Grotesk"/>
              </a:rPr>
              <a:t>07 · Team</a:t>
            </a:r>
            <a:endParaRPr/>
          </a:p>
        </p:txBody>
      </p:sp>
      <p:cxnSp>
        <p:nvCxnSpPr>
          <p:cNvPr id="294" name="Google Shape;294;p21"/>
          <p:cNvCxnSpPr/>
          <p:nvPr/>
        </p:nvCxnSpPr>
        <p:spPr>
          <a:xfrm>
            <a:off x="711182" y="6286342"/>
            <a:ext cx="10769330" cy="0"/>
          </a:xfrm>
          <a:prstGeom prst="straightConnector1">
            <a:avLst/>
          </a:prstGeom>
          <a:noFill/>
          <a:ln cap="flat" cmpd="sng" w="9525">
            <a:solidFill>
              <a:srgbClr val="332D2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95" name="Google Shape;295;p21"/>
          <p:cNvSpPr txBox="1"/>
          <p:nvPr/>
        </p:nvSpPr>
        <p:spPr>
          <a:xfrm>
            <a:off x="711182" y="6413339"/>
            <a:ext cx="5714857" cy="2285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F4EFE6"/>
                </a:solidFill>
                <a:latin typeface="Space Grotesk"/>
                <a:ea typeface="Space Grotesk"/>
                <a:cs typeface="Space Grotesk"/>
                <a:sym typeface="Space Grotesk"/>
              </a:rPr>
              <a:t>buildfastwithai.com/hackathon ↗</a:t>
            </a:r>
            <a:endParaRPr/>
          </a:p>
        </p:txBody>
      </p:sp>
      <p:sp>
        <p:nvSpPr>
          <p:cNvPr id="296" name="Google Shape;296;p21"/>
          <p:cNvSpPr txBox="1"/>
          <p:nvPr/>
        </p:nvSpPr>
        <p:spPr>
          <a:xfrm>
            <a:off x="8254793" y="6426039"/>
            <a:ext cx="3225719" cy="2285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75706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09 / 10</a:t>
            </a:r>
            <a:endParaRPr/>
          </a:p>
        </p:txBody>
      </p:sp>
      <p:sp>
        <p:nvSpPr>
          <p:cNvPr id="297" name="Google Shape;297;p21"/>
          <p:cNvSpPr txBox="1"/>
          <p:nvPr/>
        </p:nvSpPr>
        <p:spPr>
          <a:xfrm>
            <a:off x="711182" y="1206469"/>
            <a:ext cx="5714857" cy="190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>
                <a:solidFill>
                  <a:srgbClr val="F2B6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TEAM</a:t>
            </a:r>
            <a:endParaRPr/>
          </a:p>
        </p:txBody>
      </p:sp>
      <p:sp>
        <p:nvSpPr>
          <p:cNvPr id="298" name="Google Shape;298;p21"/>
          <p:cNvSpPr txBox="1"/>
          <p:nvPr/>
        </p:nvSpPr>
        <p:spPr>
          <a:xfrm>
            <a:off x="711182" y="1492212"/>
            <a:ext cx="10794730" cy="9524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>
                <a:solidFill>
                  <a:srgbClr val="F4EFE6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[Team name]</a:t>
            </a:r>
            <a:endParaRPr/>
          </a:p>
        </p:txBody>
      </p:sp>
      <p:sp>
        <p:nvSpPr>
          <p:cNvPr id="299" name="Google Shape;299;p21"/>
          <p:cNvSpPr/>
          <p:nvPr/>
        </p:nvSpPr>
        <p:spPr>
          <a:xfrm>
            <a:off x="711182" y="2666933"/>
            <a:ext cx="3428914" cy="3174920"/>
          </a:xfrm>
          <a:prstGeom prst="roundRect">
            <a:avLst>
              <a:gd fmla="val 6000" name="adj"/>
            </a:avLst>
          </a:prstGeom>
          <a:solidFill>
            <a:srgbClr val="17130E"/>
          </a:solidFill>
          <a:ln cap="flat" cmpd="sng" w="12700">
            <a:solidFill>
              <a:srgbClr val="332D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1"/>
          <p:cNvSpPr txBox="1"/>
          <p:nvPr/>
        </p:nvSpPr>
        <p:spPr>
          <a:xfrm>
            <a:off x="939776" y="2870128"/>
            <a:ext cx="2984425" cy="190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>
                <a:solidFill>
                  <a:srgbClr val="F2B6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MEMBER 01</a:t>
            </a:r>
            <a:endParaRPr/>
          </a:p>
        </p:txBody>
      </p:sp>
      <p:sp>
        <p:nvSpPr>
          <p:cNvPr id="301" name="Google Shape;301;p21"/>
          <p:cNvSpPr txBox="1"/>
          <p:nvPr/>
        </p:nvSpPr>
        <p:spPr>
          <a:xfrm>
            <a:off x="939776" y="3174920"/>
            <a:ext cx="2984425" cy="444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>
                <a:solidFill>
                  <a:srgbClr val="F4EFE6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[Full name]</a:t>
            </a:r>
            <a:endParaRPr/>
          </a:p>
        </p:txBody>
      </p:sp>
      <p:sp>
        <p:nvSpPr>
          <p:cNvPr id="302" name="Google Shape;302;p21"/>
          <p:cNvSpPr txBox="1"/>
          <p:nvPr/>
        </p:nvSpPr>
        <p:spPr>
          <a:xfrm>
            <a:off x="939776" y="3873403"/>
            <a:ext cx="1015974" cy="253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>
                <a:solidFill>
                  <a:srgbClr val="75706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COLLEGE</a:t>
            </a:r>
            <a:endParaRPr/>
          </a:p>
        </p:txBody>
      </p:sp>
      <p:sp>
        <p:nvSpPr>
          <p:cNvPr id="303" name="Google Shape;303;p21"/>
          <p:cNvSpPr txBox="1"/>
          <p:nvPr/>
        </p:nvSpPr>
        <p:spPr>
          <a:xfrm>
            <a:off x="1981150" y="3848003"/>
            <a:ext cx="1968450" cy="380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>
                <a:solidFill>
                  <a:srgbClr val="9E988E"/>
                </a:solidFill>
                <a:latin typeface="Space Grotesk"/>
                <a:ea typeface="Space Grotesk"/>
                <a:cs typeface="Space Grotesk"/>
                <a:sym typeface="Space Grotesk"/>
              </a:rPr>
              <a:t>[College name]</a:t>
            </a:r>
            <a:endParaRPr/>
          </a:p>
        </p:txBody>
      </p:sp>
      <p:sp>
        <p:nvSpPr>
          <p:cNvPr id="304" name="Google Shape;304;p21"/>
          <p:cNvSpPr txBox="1"/>
          <p:nvPr/>
        </p:nvSpPr>
        <p:spPr>
          <a:xfrm>
            <a:off x="939776" y="4330591"/>
            <a:ext cx="1015974" cy="253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>
                <a:solidFill>
                  <a:srgbClr val="75706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YEAR</a:t>
            </a:r>
            <a:endParaRPr/>
          </a:p>
        </p:txBody>
      </p:sp>
      <p:sp>
        <p:nvSpPr>
          <p:cNvPr id="305" name="Google Shape;305;p21"/>
          <p:cNvSpPr txBox="1"/>
          <p:nvPr/>
        </p:nvSpPr>
        <p:spPr>
          <a:xfrm>
            <a:off x="1981150" y="4305192"/>
            <a:ext cx="1968450" cy="380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>
                <a:solidFill>
                  <a:srgbClr val="9E988E"/>
                </a:solidFill>
                <a:latin typeface="Space Grotesk"/>
                <a:ea typeface="Space Grotesk"/>
                <a:cs typeface="Space Grotesk"/>
                <a:sym typeface="Space Grotesk"/>
              </a:rPr>
              <a:t>[3rd / final / fresher]</a:t>
            </a:r>
            <a:endParaRPr/>
          </a:p>
        </p:txBody>
      </p:sp>
      <p:sp>
        <p:nvSpPr>
          <p:cNvPr id="306" name="Google Shape;306;p21"/>
          <p:cNvSpPr txBox="1"/>
          <p:nvPr/>
        </p:nvSpPr>
        <p:spPr>
          <a:xfrm>
            <a:off x="939776" y="4787780"/>
            <a:ext cx="1015974" cy="253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>
                <a:solidFill>
                  <a:srgbClr val="75706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ROLE</a:t>
            </a:r>
            <a:endParaRPr/>
          </a:p>
        </p:txBody>
      </p:sp>
      <p:sp>
        <p:nvSpPr>
          <p:cNvPr id="307" name="Google Shape;307;p21"/>
          <p:cNvSpPr txBox="1"/>
          <p:nvPr/>
        </p:nvSpPr>
        <p:spPr>
          <a:xfrm>
            <a:off x="1981150" y="4762380"/>
            <a:ext cx="1968450" cy="380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>
                <a:solidFill>
                  <a:srgbClr val="9E988E"/>
                </a:solidFill>
                <a:latin typeface="Space Grotesk"/>
                <a:ea typeface="Space Grotesk"/>
                <a:cs typeface="Space Grotesk"/>
                <a:sym typeface="Space Grotesk"/>
              </a:rPr>
              <a:t>[What you own in this build]</a:t>
            </a:r>
            <a:endParaRPr/>
          </a:p>
        </p:txBody>
      </p:sp>
      <p:sp>
        <p:nvSpPr>
          <p:cNvPr id="308" name="Google Shape;308;p21"/>
          <p:cNvSpPr txBox="1"/>
          <p:nvPr/>
        </p:nvSpPr>
        <p:spPr>
          <a:xfrm>
            <a:off x="939776" y="5244968"/>
            <a:ext cx="1015974" cy="253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>
                <a:solidFill>
                  <a:srgbClr val="75706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LINKEDIN</a:t>
            </a:r>
            <a:endParaRPr/>
          </a:p>
        </p:txBody>
      </p:sp>
      <p:sp>
        <p:nvSpPr>
          <p:cNvPr id="309" name="Google Shape;309;p21"/>
          <p:cNvSpPr txBox="1"/>
          <p:nvPr/>
        </p:nvSpPr>
        <p:spPr>
          <a:xfrm>
            <a:off x="1981150" y="5219569"/>
            <a:ext cx="1968450" cy="380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>
                <a:solidFill>
                  <a:srgbClr val="9E988E"/>
                </a:solidFill>
                <a:latin typeface="Space Grotesk"/>
                <a:ea typeface="Space Grotesk"/>
                <a:cs typeface="Space Grotesk"/>
                <a:sym typeface="Space Grotesk"/>
              </a:rPr>
              <a:t>[Profile URL]</a:t>
            </a:r>
            <a:endParaRPr/>
          </a:p>
        </p:txBody>
      </p:sp>
      <p:sp>
        <p:nvSpPr>
          <p:cNvPr id="310" name="Google Shape;310;p21"/>
          <p:cNvSpPr/>
          <p:nvPr/>
        </p:nvSpPr>
        <p:spPr>
          <a:xfrm>
            <a:off x="4381390" y="2666933"/>
            <a:ext cx="3428914" cy="3174920"/>
          </a:xfrm>
          <a:prstGeom prst="roundRect">
            <a:avLst>
              <a:gd fmla="val 6000" name="adj"/>
            </a:avLst>
          </a:prstGeom>
          <a:solidFill>
            <a:srgbClr val="17130E"/>
          </a:solidFill>
          <a:ln cap="flat" cmpd="sng" w="12700">
            <a:solidFill>
              <a:srgbClr val="332D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1"/>
          <p:cNvSpPr txBox="1"/>
          <p:nvPr/>
        </p:nvSpPr>
        <p:spPr>
          <a:xfrm>
            <a:off x="4609984" y="2870128"/>
            <a:ext cx="2984425" cy="190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>
                <a:solidFill>
                  <a:srgbClr val="F2B6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MEMBER 02</a:t>
            </a:r>
            <a:endParaRPr/>
          </a:p>
        </p:txBody>
      </p:sp>
      <p:sp>
        <p:nvSpPr>
          <p:cNvPr id="312" name="Google Shape;312;p21"/>
          <p:cNvSpPr txBox="1"/>
          <p:nvPr/>
        </p:nvSpPr>
        <p:spPr>
          <a:xfrm>
            <a:off x="4609984" y="3174920"/>
            <a:ext cx="2984425" cy="444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>
                <a:solidFill>
                  <a:srgbClr val="F4EFE6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[Full name]</a:t>
            </a:r>
            <a:endParaRPr/>
          </a:p>
        </p:txBody>
      </p:sp>
      <p:sp>
        <p:nvSpPr>
          <p:cNvPr id="313" name="Google Shape;313;p21"/>
          <p:cNvSpPr txBox="1"/>
          <p:nvPr/>
        </p:nvSpPr>
        <p:spPr>
          <a:xfrm>
            <a:off x="4609984" y="3873403"/>
            <a:ext cx="1015974" cy="253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>
                <a:solidFill>
                  <a:srgbClr val="75706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COLLEGE</a:t>
            </a:r>
            <a:endParaRPr/>
          </a:p>
        </p:txBody>
      </p:sp>
      <p:sp>
        <p:nvSpPr>
          <p:cNvPr id="314" name="Google Shape;314;p21"/>
          <p:cNvSpPr txBox="1"/>
          <p:nvPr/>
        </p:nvSpPr>
        <p:spPr>
          <a:xfrm>
            <a:off x="5651358" y="3848003"/>
            <a:ext cx="1968450" cy="380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>
                <a:solidFill>
                  <a:srgbClr val="9E988E"/>
                </a:solidFill>
                <a:latin typeface="Space Grotesk"/>
                <a:ea typeface="Space Grotesk"/>
                <a:cs typeface="Space Grotesk"/>
                <a:sym typeface="Space Grotesk"/>
              </a:rPr>
              <a:t>[College name]</a:t>
            </a:r>
            <a:endParaRPr/>
          </a:p>
        </p:txBody>
      </p:sp>
      <p:sp>
        <p:nvSpPr>
          <p:cNvPr id="315" name="Google Shape;315;p21"/>
          <p:cNvSpPr txBox="1"/>
          <p:nvPr/>
        </p:nvSpPr>
        <p:spPr>
          <a:xfrm>
            <a:off x="4609984" y="4330591"/>
            <a:ext cx="1015974" cy="253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>
                <a:solidFill>
                  <a:srgbClr val="75706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YEAR</a:t>
            </a:r>
            <a:endParaRPr/>
          </a:p>
        </p:txBody>
      </p:sp>
      <p:sp>
        <p:nvSpPr>
          <p:cNvPr id="316" name="Google Shape;316;p21"/>
          <p:cNvSpPr txBox="1"/>
          <p:nvPr/>
        </p:nvSpPr>
        <p:spPr>
          <a:xfrm>
            <a:off x="5651358" y="4305192"/>
            <a:ext cx="1968450" cy="380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>
                <a:solidFill>
                  <a:srgbClr val="9E988E"/>
                </a:solidFill>
                <a:latin typeface="Space Grotesk"/>
                <a:ea typeface="Space Grotesk"/>
                <a:cs typeface="Space Grotesk"/>
                <a:sym typeface="Space Grotesk"/>
              </a:rPr>
              <a:t>[3rd / final / fresher]</a:t>
            </a:r>
            <a:endParaRPr/>
          </a:p>
        </p:txBody>
      </p:sp>
      <p:sp>
        <p:nvSpPr>
          <p:cNvPr id="317" name="Google Shape;317;p21"/>
          <p:cNvSpPr txBox="1"/>
          <p:nvPr/>
        </p:nvSpPr>
        <p:spPr>
          <a:xfrm>
            <a:off x="4609984" y="4787780"/>
            <a:ext cx="1015974" cy="253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>
                <a:solidFill>
                  <a:srgbClr val="75706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ROLE</a:t>
            </a:r>
            <a:endParaRPr/>
          </a:p>
        </p:txBody>
      </p:sp>
      <p:sp>
        <p:nvSpPr>
          <p:cNvPr id="318" name="Google Shape;318;p21"/>
          <p:cNvSpPr txBox="1"/>
          <p:nvPr/>
        </p:nvSpPr>
        <p:spPr>
          <a:xfrm>
            <a:off x="5651358" y="4762380"/>
            <a:ext cx="1968450" cy="380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>
                <a:solidFill>
                  <a:srgbClr val="9E988E"/>
                </a:solidFill>
                <a:latin typeface="Space Grotesk"/>
                <a:ea typeface="Space Grotesk"/>
                <a:cs typeface="Space Grotesk"/>
                <a:sym typeface="Space Grotesk"/>
              </a:rPr>
              <a:t>[What you own in this build]</a:t>
            </a:r>
            <a:endParaRPr/>
          </a:p>
        </p:txBody>
      </p:sp>
      <p:sp>
        <p:nvSpPr>
          <p:cNvPr id="319" name="Google Shape;319;p21"/>
          <p:cNvSpPr txBox="1"/>
          <p:nvPr/>
        </p:nvSpPr>
        <p:spPr>
          <a:xfrm>
            <a:off x="4609984" y="5244968"/>
            <a:ext cx="1015974" cy="253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>
                <a:solidFill>
                  <a:srgbClr val="75706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LINKEDIN</a:t>
            </a:r>
            <a:endParaRPr/>
          </a:p>
        </p:txBody>
      </p:sp>
      <p:sp>
        <p:nvSpPr>
          <p:cNvPr id="320" name="Google Shape;320;p21"/>
          <p:cNvSpPr txBox="1"/>
          <p:nvPr/>
        </p:nvSpPr>
        <p:spPr>
          <a:xfrm>
            <a:off x="5651358" y="5219569"/>
            <a:ext cx="1968450" cy="380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>
                <a:solidFill>
                  <a:srgbClr val="9E988E"/>
                </a:solidFill>
                <a:latin typeface="Space Grotesk"/>
                <a:ea typeface="Space Grotesk"/>
                <a:cs typeface="Space Grotesk"/>
                <a:sym typeface="Space Grotesk"/>
              </a:rPr>
              <a:t>[Profile URL]</a:t>
            </a:r>
            <a:endParaRPr/>
          </a:p>
        </p:txBody>
      </p:sp>
      <p:sp>
        <p:nvSpPr>
          <p:cNvPr id="321" name="Google Shape;321;p21"/>
          <p:cNvSpPr/>
          <p:nvPr/>
        </p:nvSpPr>
        <p:spPr>
          <a:xfrm>
            <a:off x="8051598" y="2666933"/>
            <a:ext cx="3428914" cy="3174920"/>
          </a:xfrm>
          <a:prstGeom prst="roundRect">
            <a:avLst>
              <a:gd fmla="val 6000" name="adj"/>
            </a:avLst>
          </a:prstGeom>
          <a:solidFill>
            <a:srgbClr val="17130E"/>
          </a:solidFill>
          <a:ln cap="flat" cmpd="sng" w="12700">
            <a:solidFill>
              <a:srgbClr val="332D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1"/>
          <p:cNvSpPr txBox="1"/>
          <p:nvPr/>
        </p:nvSpPr>
        <p:spPr>
          <a:xfrm>
            <a:off x="8280192" y="2870128"/>
            <a:ext cx="2984425" cy="190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>
                <a:solidFill>
                  <a:srgbClr val="F2B6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MEMBER 03</a:t>
            </a:r>
            <a:endParaRPr/>
          </a:p>
        </p:txBody>
      </p:sp>
      <p:sp>
        <p:nvSpPr>
          <p:cNvPr id="323" name="Google Shape;323;p21"/>
          <p:cNvSpPr txBox="1"/>
          <p:nvPr/>
        </p:nvSpPr>
        <p:spPr>
          <a:xfrm>
            <a:off x="8280192" y="3174920"/>
            <a:ext cx="2984425" cy="444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>
                <a:solidFill>
                  <a:srgbClr val="F4EFE6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[Full name]</a:t>
            </a:r>
            <a:endParaRPr/>
          </a:p>
        </p:txBody>
      </p:sp>
      <p:sp>
        <p:nvSpPr>
          <p:cNvPr id="324" name="Google Shape;324;p21"/>
          <p:cNvSpPr txBox="1"/>
          <p:nvPr/>
        </p:nvSpPr>
        <p:spPr>
          <a:xfrm>
            <a:off x="8280192" y="3873403"/>
            <a:ext cx="1015974" cy="253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>
                <a:solidFill>
                  <a:srgbClr val="75706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COLLEGE</a:t>
            </a:r>
            <a:endParaRPr/>
          </a:p>
        </p:txBody>
      </p:sp>
      <p:sp>
        <p:nvSpPr>
          <p:cNvPr id="325" name="Google Shape;325;p21"/>
          <p:cNvSpPr txBox="1"/>
          <p:nvPr/>
        </p:nvSpPr>
        <p:spPr>
          <a:xfrm>
            <a:off x="9321566" y="3848003"/>
            <a:ext cx="1968450" cy="380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>
                <a:solidFill>
                  <a:srgbClr val="9E988E"/>
                </a:solidFill>
                <a:latin typeface="Space Grotesk"/>
                <a:ea typeface="Space Grotesk"/>
                <a:cs typeface="Space Grotesk"/>
                <a:sym typeface="Space Grotesk"/>
              </a:rPr>
              <a:t>[College name]</a:t>
            </a:r>
            <a:endParaRPr/>
          </a:p>
        </p:txBody>
      </p:sp>
      <p:sp>
        <p:nvSpPr>
          <p:cNvPr id="326" name="Google Shape;326;p21"/>
          <p:cNvSpPr txBox="1"/>
          <p:nvPr/>
        </p:nvSpPr>
        <p:spPr>
          <a:xfrm>
            <a:off x="8280192" y="4330591"/>
            <a:ext cx="1015974" cy="253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>
                <a:solidFill>
                  <a:srgbClr val="75706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YEAR</a:t>
            </a:r>
            <a:endParaRPr/>
          </a:p>
        </p:txBody>
      </p:sp>
      <p:sp>
        <p:nvSpPr>
          <p:cNvPr id="327" name="Google Shape;327;p21"/>
          <p:cNvSpPr txBox="1"/>
          <p:nvPr/>
        </p:nvSpPr>
        <p:spPr>
          <a:xfrm>
            <a:off x="9321566" y="4305192"/>
            <a:ext cx="1968450" cy="380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>
                <a:solidFill>
                  <a:srgbClr val="9E988E"/>
                </a:solidFill>
                <a:latin typeface="Space Grotesk"/>
                <a:ea typeface="Space Grotesk"/>
                <a:cs typeface="Space Grotesk"/>
                <a:sym typeface="Space Grotesk"/>
              </a:rPr>
              <a:t>[3rd / final / fresher]</a:t>
            </a:r>
            <a:endParaRPr/>
          </a:p>
        </p:txBody>
      </p:sp>
      <p:sp>
        <p:nvSpPr>
          <p:cNvPr id="328" name="Google Shape;328;p21"/>
          <p:cNvSpPr txBox="1"/>
          <p:nvPr/>
        </p:nvSpPr>
        <p:spPr>
          <a:xfrm>
            <a:off x="8280192" y="4787780"/>
            <a:ext cx="1015974" cy="253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>
                <a:solidFill>
                  <a:srgbClr val="75706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ROLE</a:t>
            </a:r>
            <a:endParaRPr/>
          </a:p>
        </p:txBody>
      </p:sp>
      <p:sp>
        <p:nvSpPr>
          <p:cNvPr id="329" name="Google Shape;329;p21"/>
          <p:cNvSpPr txBox="1"/>
          <p:nvPr/>
        </p:nvSpPr>
        <p:spPr>
          <a:xfrm>
            <a:off x="9321566" y="4762380"/>
            <a:ext cx="1968450" cy="380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>
                <a:solidFill>
                  <a:srgbClr val="9E988E"/>
                </a:solidFill>
                <a:latin typeface="Space Grotesk"/>
                <a:ea typeface="Space Grotesk"/>
                <a:cs typeface="Space Grotesk"/>
                <a:sym typeface="Space Grotesk"/>
              </a:rPr>
              <a:t>[What you own in this build]</a:t>
            </a:r>
            <a:endParaRPr/>
          </a:p>
        </p:txBody>
      </p:sp>
      <p:sp>
        <p:nvSpPr>
          <p:cNvPr id="330" name="Google Shape;330;p21"/>
          <p:cNvSpPr txBox="1"/>
          <p:nvPr/>
        </p:nvSpPr>
        <p:spPr>
          <a:xfrm>
            <a:off x="8280192" y="5244968"/>
            <a:ext cx="1015974" cy="253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>
                <a:solidFill>
                  <a:srgbClr val="75706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LINKEDIN</a:t>
            </a:r>
            <a:endParaRPr/>
          </a:p>
        </p:txBody>
      </p:sp>
      <p:sp>
        <p:nvSpPr>
          <p:cNvPr id="331" name="Google Shape;331;p21"/>
          <p:cNvSpPr txBox="1"/>
          <p:nvPr/>
        </p:nvSpPr>
        <p:spPr>
          <a:xfrm>
            <a:off x="9321566" y="5219569"/>
            <a:ext cx="1968450" cy="380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>
                <a:solidFill>
                  <a:srgbClr val="9E988E"/>
                </a:solidFill>
                <a:latin typeface="Space Grotesk"/>
                <a:ea typeface="Space Grotesk"/>
                <a:cs typeface="Space Grotesk"/>
                <a:sym typeface="Space Grotesk"/>
              </a:rPr>
              <a:t>[Profile URL]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ot.png" id="336" name="Google Shape;33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7828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22"/>
          <p:cNvSpPr txBox="1"/>
          <p:nvPr/>
        </p:nvSpPr>
        <p:spPr>
          <a:xfrm>
            <a:off x="711182" y="558786"/>
            <a:ext cx="4444888" cy="253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F4EFE6"/>
                </a:solidFill>
                <a:latin typeface="Space Grotesk"/>
                <a:ea typeface="Space Grotesk"/>
                <a:cs typeface="Space Grotesk"/>
                <a:sym typeface="Space Grotesk"/>
              </a:rPr>
              <a:t>✱  BFWAI/HACK 26</a:t>
            </a:r>
            <a:endParaRPr/>
          </a:p>
        </p:txBody>
      </p:sp>
      <p:sp>
        <p:nvSpPr>
          <p:cNvPr id="338" name="Google Shape;338;p22"/>
          <p:cNvSpPr txBox="1"/>
          <p:nvPr/>
        </p:nvSpPr>
        <p:spPr>
          <a:xfrm>
            <a:off x="6984825" y="571485"/>
            <a:ext cx="4495687" cy="253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757068"/>
                </a:solidFill>
                <a:latin typeface="Space Grotesk"/>
                <a:ea typeface="Space Grotesk"/>
                <a:cs typeface="Space Grotesk"/>
                <a:sym typeface="Space Grotesk"/>
              </a:rPr>
              <a:t>Thank you</a:t>
            </a:r>
            <a:endParaRPr/>
          </a:p>
        </p:txBody>
      </p:sp>
      <p:cxnSp>
        <p:nvCxnSpPr>
          <p:cNvPr id="339" name="Google Shape;339;p22"/>
          <p:cNvCxnSpPr/>
          <p:nvPr/>
        </p:nvCxnSpPr>
        <p:spPr>
          <a:xfrm>
            <a:off x="711182" y="6286342"/>
            <a:ext cx="10769330" cy="0"/>
          </a:xfrm>
          <a:prstGeom prst="straightConnector1">
            <a:avLst/>
          </a:prstGeom>
          <a:noFill/>
          <a:ln cap="flat" cmpd="sng" w="9525">
            <a:solidFill>
              <a:srgbClr val="332D2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40" name="Google Shape;340;p22"/>
          <p:cNvSpPr txBox="1"/>
          <p:nvPr/>
        </p:nvSpPr>
        <p:spPr>
          <a:xfrm>
            <a:off x="711182" y="6413339"/>
            <a:ext cx="5714857" cy="2285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F4EFE6"/>
                </a:solidFill>
                <a:latin typeface="Space Grotesk"/>
                <a:ea typeface="Space Grotesk"/>
                <a:cs typeface="Space Grotesk"/>
                <a:sym typeface="Space Grotesk"/>
              </a:rPr>
              <a:t>buildfastwithai.com/hackathon ↗</a:t>
            </a:r>
            <a:endParaRPr/>
          </a:p>
        </p:txBody>
      </p:sp>
      <p:sp>
        <p:nvSpPr>
          <p:cNvPr id="341" name="Google Shape;341;p22"/>
          <p:cNvSpPr txBox="1"/>
          <p:nvPr/>
        </p:nvSpPr>
        <p:spPr>
          <a:xfrm>
            <a:off x="8254793" y="6426039"/>
            <a:ext cx="3225719" cy="2285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75706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 / 10</a:t>
            </a:r>
            <a:endParaRPr/>
          </a:p>
        </p:txBody>
      </p:sp>
      <p:sp>
        <p:nvSpPr>
          <p:cNvPr id="342" name="Google Shape;342;p22"/>
          <p:cNvSpPr txBox="1"/>
          <p:nvPr/>
        </p:nvSpPr>
        <p:spPr>
          <a:xfrm>
            <a:off x="711182" y="2984425"/>
            <a:ext cx="5714857" cy="190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>
                <a:solidFill>
                  <a:srgbClr val="F2B6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[TEAM NAME] · [PS-0X]</a:t>
            </a:r>
            <a:endParaRPr/>
          </a:p>
        </p:txBody>
      </p:sp>
      <p:sp>
        <p:nvSpPr>
          <p:cNvPr id="343" name="Google Shape;343;p22"/>
          <p:cNvSpPr txBox="1"/>
          <p:nvPr/>
        </p:nvSpPr>
        <p:spPr>
          <a:xfrm>
            <a:off x="711182" y="3238419"/>
            <a:ext cx="10159746" cy="13969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0">
                <a:solidFill>
                  <a:srgbClr val="F4EFE6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Thank </a:t>
            </a:r>
            <a:r>
              <a:rPr b="0" i="1" lang="en-US" sz="11000">
                <a:solidFill>
                  <a:srgbClr val="FFD27A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you.</a:t>
            </a:r>
            <a:endParaRPr/>
          </a:p>
        </p:txBody>
      </p:sp>
      <p:sp>
        <p:nvSpPr>
          <p:cNvPr id="344" name="Google Shape;344;p22"/>
          <p:cNvSpPr txBox="1"/>
          <p:nvPr/>
        </p:nvSpPr>
        <p:spPr>
          <a:xfrm>
            <a:off x="711182" y="5079873"/>
            <a:ext cx="5714857" cy="190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>
                <a:solidFill>
                  <a:srgbClr val="75706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OUR PUBLIC POST</a:t>
            </a:r>
            <a:endParaRPr/>
          </a:p>
        </p:txBody>
      </p:sp>
      <p:sp>
        <p:nvSpPr>
          <p:cNvPr id="345" name="Google Shape;345;p22"/>
          <p:cNvSpPr txBox="1"/>
          <p:nvPr/>
        </p:nvSpPr>
        <p:spPr>
          <a:xfrm>
            <a:off x="711182" y="5333866"/>
            <a:ext cx="8889777" cy="3174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>
                <a:solidFill>
                  <a:srgbClr val="F4EFE6"/>
                </a:solidFill>
                <a:latin typeface="Space Grotesk"/>
                <a:ea typeface="Space Grotesk"/>
                <a:cs typeface="Space Grotesk"/>
                <a:sym typeface="Space Grotesk"/>
              </a:rPr>
              <a:t>[Paste your LinkedIn or X post URL]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
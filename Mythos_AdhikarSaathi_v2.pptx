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9" r:id="rId9"/>
    <p:sldId id="266" r:id="rId24"/>
    <p:sldId id="260" r:id="rId10"/>
    <p:sldId id="261" r:id="rId11"/>
    <p:sldId id="267" r:id="rId25"/>
    <p:sldId id="262" r:id="rId12"/>
    <p:sldId id="263" r:id="rId13"/>
    <p:sldId id="264" r:id="rId14"/>
    <p:sldId id="265" r:id="rId15"/>
  </p:sldIdLst>
  <p:sldSz cy="6857825" cx="12191675"/>
  <p:notesSz cx="6858000" cy="9144000"/>
  <p:embeddedFontLst>
    <p:embeddedFont>
      <p:font typeface="Instrument Serif"/>
      <p:regular r:id="rId16"/>
      <p:italic r:id="rId17"/>
    </p:embeddedFont>
    <p:embeddedFont>
      <p:font typeface="JetBrains Mono"/>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font" Target="fonts/JetBrainsMono-italic.fntdata"/><Relationship Id="rId11" Type="http://schemas.openxmlformats.org/officeDocument/2006/relationships/slide" Target="slides/slide6.xml"/><Relationship Id="rId22" Type="http://schemas.openxmlformats.org/officeDocument/2006/relationships/font" Target="fonts/SpaceGrotesk-regular.fntdata"/><Relationship Id="rId10" Type="http://schemas.openxmlformats.org/officeDocument/2006/relationships/slide" Target="slides/slide5.xml"/><Relationship Id="rId21" Type="http://schemas.openxmlformats.org/officeDocument/2006/relationships/font" Target="fonts/JetBrainsMon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Space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strumentSerif-italic.fntdata"/><Relationship Id="rId16" Type="http://schemas.openxmlformats.org/officeDocument/2006/relationships/font" Target="fonts/InstrumentSerif-regular.fntdata"/><Relationship Id="rId5" Type="http://schemas.openxmlformats.org/officeDocument/2006/relationships/notesMaster" Target="notesMasters/notesMaster1.xml"/><Relationship Id="rId19" Type="http://schemas.openxmlformats.org/officeDocument/2006/relationships/font" Target="fonts/JetBrainsMono-bold.fntdata"/><Relationship Id="rId6" Type="http://schemas.openxmlformats.org/officeDocument/2006/relationships/slide" Target="slides/slide1.xml"/><Relationship Id="rId18" Type="http://schemas.openxmlformats.org/officeDocument/2006/relationships/font" Target="fonts/JetBrainsMono-regular.fntdata"/>  <Relationship Id="rId24" Type="http://schemas.openxmlformats.org/officeDocument/2006/relationships/slide" Target="slides/slide11.xml"/>
  <Relationship Id="rId25"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LinkedIn" Type="http://schemas.openxmlformats.org/officeDocument/2006/relationships/hyperlink" Target="https://www.linkedin.com/in/yash-vishnoi-8656a731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hot.png" id="84" name="Google Shape;84;p13"/>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85" name="Google Shape;85;p13"/>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4EFE6"/>
                </a:solidFill>
                <a:latin typeface="Space Grotesk"/>
                <a:ea typeface="Space Grotesk"/>
                <a:cs typeface="Space Grotesk"/>
                <a:sym typeface="Space Grotesk"/>
              </a:rPr>
              <a:t>✱  BFWAI/HACK 26</a:t>
            </a:r>
            <a:endParaRPr/>
          </a:p>
        </p:txBody>
      </p:sp>
      <p:sp>
        <p:nvSpPr>
          <p:cNvPr id="86" name="Google Shape;86;p13"/>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u="none" cap="none" strike="noStrike">
                <a:solidFill>
                  <a:srgbClr val="757068"/>
                </a:solidFill>
                <a:latin typeface="Space Grotesk"/>
                <a:ea typeface="Space Grotesk"/>
                <a:cs typeface="Space Grotesk"/>
                <a:sym typeface="Space Grotesk"/>
              </a:rPr>
              <a:t>Idea submission</a:t>
            </a:r>
            <a:endParaRPr/>
          </a:p>
        </p:txBody>
      </p:sp>
      <p:cxnSp>
        <p:nvCxnSpPr>
          <p:cNvPr id="87" name="Google Shape;87;p13"/>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88" name="Google Shape;88;p13"/>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F4EFE6"/>
                </a:solidFill>
                <a:latin typeface="Space Grotesk"/>
                <a:ea typeface="Space Grotesk"/>
                <a:cs typeface="Space Grotesk"/>
                <a:sym typeface="Space Grotesk"/>
              </a:rPr>
              <a:t>buildfastwithai.com/hackathon ↗</a:t>
            </a:r>
            <a:endParaRPr/>
          </a:p>
        </p:txBody>
      </p:sp>
      <p:sp>
        <p:nvSpPr>
          <p:cNvPr id="89" name="Google Shape;89;p13"/>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u="none" cap="none" strike="noStrike">
                <a:solidFill>
                  <a:srgbClr val="757068"/>
                </a:solidFill>
                <a:latin typeface="JetBrains Mono"/>
                <a:ea typeface="JetBrains Mono"/>
                <a:cs typeface="JetBrains Mono"/>
                <a:sym typeface="JetBrains Mono"/>
              </a:rPr>
              <a:t>01 / 10</a:t>
            </a:r>
            <a:endParaRPr/>
          </a:p>
        </p:txBody>
      </p:sp>
      <p:sp>
        <p:nvSpPr>
          <p:cNvPr id="90" name="Google Shape;90;p13"/>
          <p:cNvSpPr txBox="1"/>
          <p:nvPr/>
        </p:nvSpPr>
        <p:spPr>
          <a:xfrm>
            <a:off x="711182" y="1904952"/>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F2B632"/>
                </a:solidFill>
                <a:latin typeface="JetBrains Mono"/>
                <a:ea typeface="JetBrains Mono"/>
                <a:cs typeface="JetBrains Mono"/>
                <a:sym typeface="JetBrains Mono"/>
              </a:rPr>
              <a:t>AI BUILD CHALLENGE 2026 · IDEA DECK</a:t>
            </a:r>
            <a:endParaRPr/>
          </a:p>
        </p:txBody>
      </p:sp>
      <p:sp>
        <p:nvSpPr>
          <p:cNvPr id="91" name="Google Shape;91;p13"/>
          <p:cNvSpPr txBox="1"/>
          <p:nvPr/>
        </p:nvSpPr>
        <p:spPr>
          <a:xfrm>
            <a:off x="711182" y="2222444"/>
            <a:ext cx="9524761" cy="165095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9600" u="none" cap="none" strike="noStrike">
                <a:solidFill>
                  <a:srgbClr val="F4EFE6"/>
                </a:solidFill>
                <a:latin typeface="Instrument Serif"/>
                <a:ea typeface="Instrument Serif"/>
                <a:cs typeface="Instrument Serif"/>
                <a:sym typeface="Instrument Serif"/>
              </a:rPr>
              <a:t>Adhikar Saathi</a:t>
            </a:r>
            <a:endParaRPr/>
          </a:p>
        </p:txBody>
      </p:sp>
      <p:sp>
        <p:nvSpPr>
          <p:cNvPr id="92" name="Google Shape;92;p13"/>
          <p:cNvSpPr txBox="1"/>
          <p:nvPr/>
        </p:nvSpPr>
        <p:spPr>
          <a:xfrm>
            <a:off x="711182" y="3555911"/>
            <a:ext cx="8889777" cy="7619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1" lang="en-US" sz="2800" u="none" cap="none" strike="noStrike">
                <a:solidFill>
                  <a:srgbClr val="FFD27A"/>
                </a:solidFill>
                <a:latin typeface="Instrument Serif"/>
                <a:ea typeface="Instrument Serif"/>
                <a:cs typeface="Instrument Serif"/>
                <a:sym typeface="Instrument Serif"/>
              </a:rPr>
              <a:t>A Hindi voice assistant that tells daily-wage workers their legal rights, with the law cited.</a:t>
            </a:r>
            <a:endParaRPr/>
          </a:p>
        </p:txBody>
      </p:sp>
      <p:sp>
        <p:nvSpPr>
          <p:cNvPr id="93" name="Google Shape;93;p13"/>
          <p:cNvSpPr txBox="1"/>
          <p:nvPr/>
        </p:nvSpPr>
        <p:spPr>
          <a:xfrm>
            <a:off x="711182"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TEAM</a:t>
            </a:r>
            <a:endParaRPr/>
          </a:p>
        </p:txBody>
      </p:sp>
      <p:sp>
        <p:nvSpPr>
          <p:cNvPr id="94" name="Google Shape;94;p13"/>
          <p:cNvSpPr txBox="1"/>
          <p:nvPr/>
        </p:nvSpPr>
        <p:spPr>
          <a:xfrm>
            <a:off x="711182"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Mythos</a:t>
            </a:r>
            <a:endParaRPr/>
          </a:p>
        </p:txBody>
      </p:sp>
      <p:sp>
        <p:nvSpPr>
          <p:cNvPr id="95" name="Google Shape;95;p13"/>
          <p:cNvSpPr txBox="1"/>
          <p:nvPr/>
        </p:nvSpPr>
        <p:spPr>
          <a:xfrm>
            <a:off x="433059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PROBLEM STATEMENT</a:t>
            </a:r>
            <a:endParaRPr/>
          </a:p>
        </p:txBody>
      </p:sp>
      <p:sp>
        <p:nvSpPr>
          <p:cNvPr id="96" name="Google Shape;96;p13"/>
          <p:cNvSpPr txBox="1"/>
          <p:nvPr/>
        </p:nvSpPr>
        <p:spPr>
          <a:xfrm>
            <a:off x="433059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PS-06 · AI for Bharat in Indian Languages</a:t>
            </a:r>
            <a:endParaRPr/>
          </a:p>
        </p:txBody>
      </p:sp>
      <p:sp>
        <p:nvSpPr>
          <p:cNvPr id="97" name="Google Shape;97;p13"/>
          <p:cNvSpPr txBox="1"/>
          <p:nvPr/>
        </p:nvSpPr>
        <p:spPr>
          <a:xfrm>
            <a:off x="795000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MEMBERS</a:t>
            </a:r>
            <a:endParaRPr/>
          </a:p>
        </p:txBody>
      </p:sp>
      <p:sp>
        <p:nvSpPr>
          <p:cNvPr id="98" name="Google Shape;98;p13"/>
          <p:cNvSpPr txBox="1"/>
          <p:nvPr/>
        </p:nvSpPr>
        <p:spPr>
          <a:xfrm>
            <a:off x="795000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Yash Vishnoi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corner.png" id="168" name="Google Shape;168;p16"/>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69" name="Google Shape;169;p16"/>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70" name="Google Shape;170;p16"/>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02 · The problem</a:t>
            </a:r>
            <a:endParaRPr/>
          </a:p>
        </p:txBody>
      </p:sp>
      <p:cxnSp>
        <p:nvCxnSpPr>
          <p:cNvPr id="171" name="Google Shape;171;p16"/>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72" name="Google Shape;172;p16"/>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73" name="Google Shape;173;p16"/>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02 / 10</a:t>
            </a:r>
            <a:endParaRPr/>
          </a:p>
        </p:txBody>
      </p:sp>
      <p:sp>
        <p:nvSpPr>
          <p:cNvPr id="174" name="Google Shape;174;p16"/>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PROBLEM</a:t>
            </a:r>
            <a:endParaRPr/>
          </a:p>
        </p:txBody>
      </p:sp>
      <p:sp>
        <p:nvSpPr>
          <p:cNvPr id="175" name="Google Shape;175;p16"/>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problem </a:t>
            </a:r>
            <a:r>
              <a:rPr b="0" i="1" lang="en-US" sz="5000">
                <a:solidFill>
                  <a:srgbClr val="FFD27A"/>
                </a:solidFill>
                <a:latin typeface="Instrument Serif"/>
                <a:ea typeface="Instrument Serif"/>
                <a:cs typeface="Instrument Serif"/>
                <a:sym typeface="Instrument Serif"/>
              </a:rPr>
              <a:t>we're solving</a:t>
            </a:r>
            <a:endParaRPr/>
          </a:p>
        </p:txBody>
      </p:sp>
      <p:sp>
        <p:nvSpPr>
          <p:cNvPr id="176" name="Google Shape;176;p16"/>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6"/>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PROBLEM STATEMENT</a:t>
            </a:r>
            <a:endParaRPr/>
          </a:p>
        </p:txBody>
      </p:sp>
      <p:sp>
        <p:nvSpPr>
          <p:cNvPr id="178" name="Google Shape;178;p16"/>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PS-06 · AI for Bharat in Indian Languages</a:t>
            </a:r>
            <a:endParaRPr/>
          </a:p>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Informal workers can't find out, in Hindi and in a form they can trust, what the law says they are owed.</a:t>
            </a:r>
            <a:endParaRPr/>
          </a:p>
        </p:txBody>
      </p:sp>
      <p:sp>
        <p:nvSpPr>
          <p:cNvPr id="179" name="Google Shape;179;p16"/>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6"/>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WHO FACES IT</a:t>
            </a:r>
            <a:endParaRPr/>
          </a:p>
        </p:txBody>
      </p:sp>
      <p:sp>
        <p:nvSpPr>
          <p:cNvPr id="181" name="Google Shape;181;p16"/>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Hindi-speaking daily-wage, construction and domestic workers, mostly in UP, Bihar, Chhattisgarh and Jharkhand, with low literacy and often only a basic phone.</a:t>
            </a:r>
            <a:endParaRPr/>
          </a:p>
        </p:txBody>
      </p:sp>
      <p:sp>
        <p:nvSpPr>
          <p:cNvPr id="182" name="Google Shape;182;p16"/>
          <p:cNvSpPr/>
          <p:nvPr/>
        </p:nvSpPr>
        <p:spPr>
          <a:xfrm>
            <a:off x="711182" y="4381390"/>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6"/>
          <p:cNvSpPr txBox="1"/>
          <p:nvPr/>
        </p:nvSpPr>
        <p:spPr>
          <a:xfrm>
            <a:off x="914377" y="4559186"/>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IT COSTS THEM TODAY</a:t>
            </a:r>
            <a:endParaRPr/>
          </a:p>
        </p:txBody>
      </p:sp>
      <p:sp>
        <p:nvSpPr>
          <p:cNvPr id="184" name="Google Shape;184;p16"/>
          <p:cNvSpPr txBox="1"/>
          <p:nvPr/>
        </p:nvSpPr>
        <p:spPr>
          <a:xfrm>
            <a:off x="914377" y="4825879"/>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a:solidFill>
                  <a:srgbClr val="9E988E"/>
                </a:solidFill>
                <a:latin typeface="Space Grotesk"/>
                <a:ea typeface="Space Grotesk"/>
                <a:cs typeface="Space Grotesk"/>
                <a:sym typeface="Space Grotesk"/>
              </a:rPr>
              <a:t>Underpaid: about 65–70% of casual workers in Chhattisgarh, Odisha and Jharkhand earn below the legal minimum wage.</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Locked out: the law and government portals are English-first, yet only 2–5% of people in Chhattisgarh and Jharkhand know English.</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Time-bound: wage claims must be filed within 3 years, so not knowing your rights can mean losing them.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top.png" id="189" name="Google Shape;189;p17"/>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90" name="Google Shape;190;p17"/>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91" name="Google Shape;191;p17"/>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04 · Solution overview</a:t>
            </a:r>
            <a:endParaRPr/>
          </a:p>
        </p:txBody>
      </p:sp>
      <p:cxnSp>
        <p:nvCxnSpPr>
          <p:cNvPr id="192" name="Google Shape;192;p17"/>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93" name="Google Shape;193;p17"/>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94" name="Google Shape;194;p17"/>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04 / 10</a:t>
            </a:r>
            <a:endParaRPr/>
          </a:p>
        </p:txBody>
      </p:sp>
      <p:sp>
        <p:nvSpPr>
          <p:cNvPr id="195" name="Google Shape;195;p17"/>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SOLUTION OVERVIEW</a:t>
            </a:r>
            <a:endParaRPr/>
          </a:p>
        </p:txBody>
      </p:sp>
      <p:sp>
        <p:nvSpPr>
          <p:cNvPr id="196" name="Google Shape;196;p17"/>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a:t>
            </a:r>
            <a:r>
              <a:rPr b="0" i="1" lang="en-US" sz="5000">
                <a:solidFill>
                  <a:srgbClr val="FFD27A"/>
                </a:solidFill>
                <a:latin typeface="Instrument Serif"/>
                <a:ea typeface="Instrument Serif"/>
                <a:cs typeface="Instrument Serif"/>
                <a:sym typeface="Instrument Serif"/>
              </a:rPr>
              <a:t>we're building</a:t>
            </a:r>
            <a:endParaRPr/>
          </a:p>
        </p:txBody>
      </p:sp>
      <p:sp>
        <p:nvSpPr>
          <p:cNvPr id="197" name="Google Shape;197;p17"/>
          <p:cNvSpPr/>
          <p:nvPr/>
        </p:nvSpPr>
        <p:spPr>
          <a:xfrm>
            <a:off x="711182" y="2539936"/>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7"/>
          <p:cNvSpPr txBox="1"/>
          <p:nvPr/>
        </p:nvSpPr>
        <p:spPr>
          <a:xfrm>
            <a:off x="914377" y="271773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IN TWO OR THREE LINES</a:t>
            </a:r>
            <a:endParaRPr/>
          </a:p>
        </p:txBody>
      </p:sp>
      <p:sp>
        <p:nvSpPr>
          <p:cNvPr id="199" name="Google Shape;199;p17"/>
          <p:cNvSpPr txBox="1"/>
          <p:nvPr/>
        </p:nvSpPr>
        <p:spPr>
          <a:xfrm>
            <a:off x="914377" y="2984425"/>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700">
                <a:solidFill>
                  <a:srgbClr val="9E988E"/>
                </a:solidFill>
                <a:latin typeface="Instrument Serif"/>
                <a:ea typeface="Instrument Serif"/>
                <a:cs typeface="Instrument Serif"/>
                <a:sym typeface="Instrument Serif"/>
              </a:rPr>
              <a:t>A Hindi voice assistant for daily-wage, construction and domestic workers. Ask out loud and it answers in spoken Hindi, with the exact law or scheme cited, or says it does not know and points to the helpline.</a:t>
            </a:r>
            <a:endParaRPr/>
          </a:p>
        </p:txBody>
      </p:sp>
      <p:sp>
        <p:nvSpPr>
          <p:cNvPr id="200" name="Google Shape;200;p17"/>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7"/>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 USER DOES</a:t>
            </a:r>
            <a:endParaRPr/>
          </a:p>
        </p:txBody>
      </p:sp>
      <p:sp>
        <p:nvSpPr>
          <p:cNvPr id="202" name="Google Shape;202;p17"/>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Presses the mic and asks in Hindi, for example </a:t>
            </a:r>
            <a:r>
              <a:rPr b="0" i="0" lang="hi-IN" sz="1200">
                <a:solidFill>
                  <a:srgbClr val="9E988E"/>
                </a:solidFill>
                <a:latin typeface="Space Grotesk"/>
                <a:ea typeface="Space Grotesk"/>
                <a:cs typeface="Nirmala UI"/>
                <a:sym typeface="Space Grotesk"/>
              </a:rPr>
              <a:t>“ठेकेदार ने मजदूरी नहीं दी, मैं क्या करूँ?”</a:t>
            </a:r>
            <a:r>
              <a:rPr b="0" i="0" lang="en-US" sz="1200">
                <a:solidFill>
                  <a:srgbClr val="9E988E"/>
                </a:solidFill>
                <a:latin typeface="Space Grotesk"/>
                <a:ea typeface="Space Grotesk"/>
                <a:cs typeface="Space Grotesk"/>
                <a:sym typeface="Space Grotesk"/>
              </a:rPr>
              <a:t> No typing, no English, no forms.</a:t>
            </a:r>
            <a:endParaRPr/>
          </a:p>
        </p:txBody>
      </p:sp>
      <p:sp>
        <p:nvSpPr>
          <p:cNvPr id="203" name="Google Shape;203;p17"/>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7"/>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THEY GET BACK</a:t>
            </a:r>
            <a:endParaRPr/>
          </a:p>
        </p:txBody>
      </p:sp>
      <p:sp>
        <p:nvSpPr>
          <p:cNvPr id="205" name="Google Shape;205;p17"/>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spoken Hindi answer, a source card (Act, section, link) with an English transcript, and a next-step card: who to call or where to complain.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left.png" id="210" name="Google Shape;210;p18"/>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11" name="Google Shape;211;p18"/>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12" name="Google Shape;212;p18"/>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05 · Technical approach</a:t>
            </a:r>
            <a:endParaRPr/>
          </a:p>
        </p:txBody>
      </p:sp>
      <p:cxnSp>
        <p:nvCxnSpPr>
          <p:cNvPr id="213" name="Google Shape;213;p18"/>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18"/>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15" name="Google Shape;215;p18"/>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05 / 10</a:t>
            </a:r>
            <a:endParaRPr/>
          </a:p>
        </p:txBody>
      </p:sp>
      <p:sp>
        <p:nvSpPr>
          <p:cNvPr id="216" name="Google Shape;216;p18"/>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TECHNICAL APPROACH</a:t>
            </a:r>
            <a:endParaRPr/>
          </a:p>
        </p:txBody>
      </p:sp>
      <p:sp>
        <p:nvSpPr>
          <p:cNvPr id="217" name="Google Shape;217;p18"/>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a:t>
            </a:r>
            <a:r>
              <a:rPr b="0" i="1" lang="en-US" sz="5000">
                <a:solidFill>
                  <a:srgbClr val="FFD27A"/>
                </a:solidFill>
                <a:latin typeface="Instrument Serif"/>
                <a:ea typeface="Instrument Serif"/>
                <a:cs typeface="Instrument Serif"/>
                <a:sym typeface="Instrument Serif"/>
              </a:rPr>
              <a:t>it works</a:t>
            </a:r>
            <a:endParaRPr/>
          </a:p>
        </p:txBody>
      </p:sp>
      <p:sp>
        <p:nvSpPr>
          <p:cNvPr id="218" name="Google Shape;218;p18"/>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8"/>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MODELS</a:t>
            </a:r>
            <a:endParaRPr/>
          </a:p>
        </p:txBody>
      </p:sp>
      <p:sp>
        <p:nvSpPr>
          <p:cNvPr id="220" name="Google Shape;220;p18"/>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Sarvam speech-to-text for Hindi and Hinglish, then an LLM that answers only from retrieved rights cards and must cite one, then Sarvam text-to-speech. Turn-based, not a live stream.</a:t>
            </a:r>
            <a:endParaRPr/>
          </a:p>
        </p:txBody>
      </p:sp>
      <p:sp>
        <p:nvSpPr>
          <p:cNvPr id="221" name="Google Shape;221;p18"/>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8"/>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TOOLS &amp; FRAMEWORKS</a:t>
            </a:r>
            <a:endParaRPr/>
          </a:p>
        </p:txBody>
      </p:sp>
      <p:sp>
        <p:nvSpPr>
          <p:cNvPr id="223" name="Google Shape;223;p18"/>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RAG over about 15–20 curated Hindi rights cards in a vector store, a small rule table for scheme eligibility, and a web app with a mic button. Answer = retrieved card plus citation, or a refusal.</a:t>
            </a:r>
            <a:endParaRPr/>
          </a:p>
        </p:txBody>
      </p:sp>
      <p:sp>
        <p:nvSpPr>
          <p:cNvPr id="224" name="Google Shape;224;p18"/>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8"/>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a:t>
            </a:r>
            <a:endParaRPr/>
          </a:p>
        </p:txBody>
      </p:sp>
      <p:sp>
        <p:nvSpPr>
          <p:cNvPr id="226" name="Google Shape;226;p18"/>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Public government sources only: Labour Codes, PIB explainers, e-Shram, PM-SYM, Maternity and POSH Acts. Details on the next slide.</a:t>
            </a:r>
            <a:endParaRPr/>
          </a:p>
        </p:txBody>
      </p:sp>
      <p:sp>
        <p:nvSpPr>
          <p:cNvPr id="227" name="Google Shape;227;p18"/>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8"/>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HUMAN APPROVAL</a:t>
            </a:r>
            <a:endParaRPr/>
          </a:p>
        </p:txBody>
      </p:sp>
      <p:sp>
        <p:nvSpPr>
          <p:cNvPr id="229" name="Google Shape;229;p18"/>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native Hindi speaker reviews every card before it is indexed. The app never files anything; it only drafts a complaint for the worker to review. Case-specific advice goes to helpline 14434.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07 · Key features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07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KEY FEATURES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it will do </a:t>
            </a:r>
            <a:r>
              <a:rPr b="0" i="1" lang="en-US" sz="5000">
                <a:solidFill>
                  <a:srgbClr val="FFD27A"/>
                </a:solidFill>
                <a:latin typeface="Instrument Serif"/>
                <a:ea typeface="Instrument Serif"/>
                <a:cs typeface="Instrument Serif"/>
                <a:sym typeface="Instrument Serif"/>
              </a:rPr>
              <a:t>by 1 Oct</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Hindi voice Q&amp;A</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Press the mic, ask in Hindi or Hinglish, hear the answer in Hindi.</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Cited answers</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Every answer shows its source card: Act, section, link.</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Refuse, don't guess</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No supporting card? It says so and points to helpline 14434.</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Scheme matcher</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A few questions check eligibility for e-Shram, PM-SYM and maternity.</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Wage-complaint draft</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A printable Hindi complaint letter the worker reviews first.</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08 · Baseline &amp; evaluation</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08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BASELINE &amp; EVALUATION</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we'll </a:t>
            </a:r>
            <a:r>
              <a:rPr b="0" i="1" lang="en-US" sz="5000">
                <a:solidFill>
                  <a:srgbClr val="FFD27A"/>
                </a:solidFill>
                <a:latin typeface="Instrument Serif"/>
                <a:ea typeface="Instrument Serif"/>
                <a:cs typeface="Instrument Serif"/>
                <a:sym typeface="Instrument Serif"/>
              </a:rPr>
              <a:t>prove it works</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TODAY · WITHOUT YOUR SYSTEM</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Ungrounded LLM</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Same 60 Hindi questions, same LLM, no rights corpus. We measure the share of uncited or wrong answers by 1 Oct.</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TARGET · WITH YOUR SYSTEM</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≥90% cited</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Answers whose cited card supports the claim; ≥95% of out-of-scope questions refused; under 10 s end to end.</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HOW YOU'LL EVALUATE IT</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60 Hindi questions written by the builder (fluent in Hindi): 50 in scope across wages, schemes, maternity and harassment, plus 10 out-of-scope traps. Metrics: citation accuracy, correct-refusal rate, Hindi speech-to-text error rate on our own recordings, and latency. Every failure is logged per question and fixed in the cards, not hidden in the prompt.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top.png" id="291" name="Google Shape;291;p21"/>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92" name="Google Shape;292;p21"/>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93" name="Google Shape;293;p21"/>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09 · Team</a:t>
            </a:r>
            <a:endParaRPr/>
          </a:p>
        </p:txBody>
      </p:sp>
      <p:cxnSp>
        <p:nvCxnSpPr>
          <p:cNvPr id="294" name="Google Shape;294;p21"/>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95" name="Google Shape;295;p21"/>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96" name="Google Shape;296;p21"/>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09 / 10</a:t>
            </a:r>
            <a:endParaRPr/>
          </a:p>
        </p:txBody>
      </p:sp>
      <p:sp>
        <p:nvSpPr>
          <p:cNvPr id="297" name="Google Shape;297;p21"/>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TEAM</a:t>
            </a:r>
            <a:endParaRPr/>
          </a:p>
        </p:txBody>
      </p:sp>
      <p:sp>
        <p:nvSpPr>
          <p:cNvPr id="298" name="Google Shape;298;p21"/>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Mythos</a:t>
            </a:r>
            <a:endParaRPr/>
          </a:p>
        </p:txBody>
      </p:sp>
      <p:sp>
        <p:nvSpPr>
          <p:cNvPr id="310" name="Google Shape;310;p21"/>
          <p:cNvSpPr/>
          <p:nvPr/>
        </p:nvSpPr>
        <p:spPr>
          <a:xfrm>
            <a:off x="4381390" y="2666933"/>
            <a:ext cx="3428914" cy="317492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1"/>
          <p:cNvSpPr txBox="1"/>
          <p:nvPr/>
        </p:nvSpPr>
        <p:spPr>
          <a:xfrm>
            <a:off x="4609984" y="2870128"/>
            <a:ext cx="2984425"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MEMBER 01</a:t>
            </a:r>
            <a:endParaRPr/>
          </a:p>
        </p:txBody>
      </p:sp>
      <p:sp>
        <p:nvSpPr>
          <p:cNvPr id="312" name="Google Shape;312;p21"/>
          <p:cNvSpPr txBox="1"/>
          <p:nvPr/>
        </p:nvSpPr>
        <p:spPr>
          <a:xfrm>
            <a:off x="4609984" y="3174920"/>
            <a:ext cx="2984425"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00">
                <a:solidFill>
                  <a:srgbClr val="F4EFE6"/>
                </a:solidFill>
                <a:latin typeface="Instrument Serif"/>
                <a:ea typeface="Instrument Serif"/>
                <a:cs typeface="Instrument Serif"/>
                <a:sym typeface="Instrument Serif"/>
              </a:rPr>
              <a:t>Yash Vishnoi</a:t>
            </a:r>
            <a:endParaRPr/>
          </a:p>
        </p:txBody>
      </p:sp>
      <p:sp>
        <p:nvSpPr>
          <p:cNvPr id="313" name="Google Shape;313;p21"/>
          <p:cNvSpPr txBox="1"/>
          <p:nvPr/>
        </p:nvSpPr>
        <p:spPr>
          <a:xfrm>
            <a:off x="4609984" y="3873403"/>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COLLEGE</a:t>
            </a:r>
            <a:endParaRPr/>
          </a:p>
        </p:txBody>
      </p:sp>
      <p:sp>
        <p:nvSpPr>
          <p:cNvPr id="314" name="Google Shape;314;p21"/>
          <p:cNvSpPr txBox="1"/>
          <p:nvPr/>
        </p:nvSpPr>
        <p:spPr>
          <a:xfrm>
            <a:off x="5651358" y="3848003"/>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rPr>
              <a:t>Thapar Institute of Engineering and Technology</a:t>
            </a:r>
            <a:endParaRPr/>
          </a:p>
        </p:txBody>
      </p:sp>
      <p:sp>
        <p:nvSpPr>
          <p:cNvPr id="315" name="Google Shape;315;p21"/>
          <p:cNvSpPr txBox="1"/>
          <p:nvPr/>
        </p:nvSpPr>
        <p:spPr>
          <a:xfrm>
            <a:off x="4609984" y="4330591"/>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YEAR</a:t>
            </a:r>
            <a:endParaRPr/>
          </a:p>
        </p:txBody>
      </p:sp>
      <p:sp>
        <p:nvSpPr>
          <p:cNvPr id="316" name="Google Shape;316;p21"/>
          <p:cNvSpPr txBox="1"/>
          <p:nvPr/>
        </p:nvSpPr>
        <p:spPr>
          <a:xfrm>
            <a:off x="5651358" y="4305192"/>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3rd year</a:t>
            </a:r>
            <a:endParaRPr/>
          </a:p>
        </p:txBody>
      </p:sp>
      <p:sp>
        <p:nvSpPr>
          <p:cNvPr id="317" name="Google Shape;317;p21"/>
          <p:cNvSpPr txBox="1"/>
          <p:nvPr/>
        </p:nvSpPr>
        <p:spPr>
          <a:xfrm>
            <a:off x="4609984" y="4787780"/>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ROLE</a:t>
            </a:r>
            <a:endParaRPr/>
          </a:p>
        </p:txBody>
      </p:sp>
      <p:sp>
        <p:nvSpPr>
          <p:cNvPr id="318" name="Google Shape;318;p21"/>
          <p:cNvSpPr txBox="1"/>
          <p:nvPr/>
        </p:nvSpPr>
        <p:spPr>
          <a:xfrm>
            <a:off x="5651358" y="4762380"/>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Entire build: idea, data, code, demo</a:t>
            </a:r>
            <a:endParaRPr/>
          </a:p>
        </p:txBody>
      </p:sp>
      <p:sp>
        <p:nvSpPr>
          <p:cNvPr id="319" name="Google Shape;319;p21"/>
          <p:cNvSpPr txBox="1"/>
          <p:nvPr/>
        </p:nvSpPr>
        <p:spPr>
          <a:xfrm>
            <a:off x="4609984" y="5244968"/>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LINKEDIN</a:t>
            </a:r>
            <a:endParaRPr/>
          </a:p>
        </p:txBody>
      </p:sp>
      <p:sp>
        <p:nvSpPr>
          <p:cNvPr id="320" name="Google Shape;320;p21"/>
          <p:cNvSpPr txBox="1"/>
          <p:nvPr/>
        </p:nvSpPr>
        <p:spPr>
          <a:xfrm>
            <a:off x="5651358" y="5219569"/>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hlinkClick r:id="rIdLinkedIn"/>
              </a:rPr>
              <a:t>linkedin.com/in/yash-vishnoi-8656a7312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hot.png" id="336" name="Google Shape;336;p22"/>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337" name="Google Shape;337;p22"/>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338" name="Google Shape;338;p22"/>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Thank you</a:t>
            </a:r>
            <a:endParaRPr/>
          </a:p>
        </p:txBody>
      </p:sp>
      <p:cxnSp>
        <p:nvCxnSpPr>
          <p:cNvPr id="339" name="Google Shape;339;p22"/>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340" name="Google Shape;340;p22"/>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341" name="Google Shape;341;p22"/>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10 / 10</a:t>
            </a:r>
            <a:endParaRPr/>
          </a:p>
        </p:txBody>
      </p:sp>
      <p:sp>
        <p:nvSpPr>
          <p:cNvPr id="342" name="Google Shape;342;p22"/>
          <p:cNvSpPr txBox="1"/>
          <p:nvPr/>
        </p:nvSpPr>
        <p:spPr>
          <a:xfrm>
            <a:off x="711182" y="2984425"/>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MYTHOS · PS-06</a:t>
            </a:r>
            <a:endParaRPr/>
          </a:p>
        </p:txBody>
      </p:sp>
      <p:sp>
        <p:nvSpPr>
          <p:cNvPr id="343" name="Google Shape;343;p22"/>
          <p:cNvSpPr txBox="1"/>
          <p:nvPr/>
        </p:nvSpPr>
        <p:spPr>
          <a:xfrm>
            <a:off x="711182" y="3238419"/>
            <a:ext cx="10159746" cy="13969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0">
                <a:solidFill>
                  <a:srgbClr val="F4EFE6"/>
                </a:solidFill>
                <a:latin typeface="Instrument Serif"/>
                <a:ea typeface="Instrument Serif"/>
                <a:cs typeface="Instrument Serif"/>
                <a:sym typeface="Instrument Serif"/>
              </a:rPr>
              <a:t>Thank </a:t>
            </a:r>
            <a:r>
              <a:rPr b="0" i="1" lang="en-US" sz="11000">
                <a:solidFill>
                  <a:srgbClr val="FFD27A"/>
                </a:solidFill>
                <a:latin typeface="Instrument Serif"/>
                <a:ea typeface="Instrument Serif"/>
                <a:cs typeface="Instrument Serif"/>
                <a:sym typeface="Instrument Serif"/>
              </a:rPr>
              <a:t>you.</a:t>
            </a:r>
            <a:endParaRPr/>
          </a:p>
        </p:txBody>
      </p:sp>
      <p:sp>
        <p:nvSpPr>
          <p:cNvPr id="344" name="Google Shape;344;p22"/>
          <p:cNvSpPr txBox="1"/>
          <p:nvPr/>
        </p:nvSpPr>
        <p:spPr>
          <a:xfrm>
            <a:off x="711182" y="5079873"/>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757068"/>
                </a:solidFill>
                <a:latin typeface="JetBrains Mono"/>
                <a:ea typeface="JetBrains Mono"/>
                <a:cs typeface="JetBrains Mono"/>
                <a:sym typeface="JetBrains Mono"/>
              </a:rPr>
              <a:t>OUR PUBLIC POST</a:t>
            </a:r>
            <a:endParaRPr/>
          </a:p>
        </p:txBody>
      </p:sp>
      <p:sp>
        <p:nvSpPr>
          <p:cNvPr id="345" name="Google Shape;345;p22"/>
          <p:cNvSpPr txBox="1"/>
          <p:nvPr/>
        </p:nvSpPr>
        <p:spPr>
          <a:xfrm>
            <a:off x="711182" y="5333866"/>
            <a:ext cx="8889777" cy="3174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[Paste your LinkedIn or X post URL]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03 · The evidence</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03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EVIDENCE</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proof </a:t>
            </a:r>
            <a:r>
              <a:rPr b="0" i="1" lang="en-US" sz="5000">
                <a:solidFill>
                  <a:srgbClr val="FFD27A"/>
                </a:solidFill>
                <a:latin typeface="Instrument Serif"/>
                <a:ea typeface="Instrument Serif"/>
                <a:cs typeface="Instrument Serif"/>
                <a:sym typeface="Instrument Serif"/>
              </a:rPr>
              <a:t>it's real</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BELOW MINIMUM WAGE · CASUAL WORKERS</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~70%</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Chhattisgarh (Odisha ~66%, Jharkhand ~65%). SBI Research on PLFS 2025 data, May 2026.</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ENGLISH SPEAKERS · CHHATTISGARH</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2.29%</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Hindi proficiency is 93.64%. Same state, highest below-minimum-wage rate. Census 2011.</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MORE SIGNALS</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100">
                <a:solidFill>
                  <a:srgbClr val="9E988E"/>
                </a:solidFill>
                <a:latin typeface="Space Grotesk"/>
                <a:ea typeface="Space Grotesk"/>
                <a:cs typeface="Space Grotesk"/>
                <a:sym typeface="Space Grotesk"/>
              </a:rPr>
              <a:t>89% of 11,159 stranded migrant workers went unpaid during the 2020 lockdown (SWAN survey).</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₹22,000+ crore collected for construction workers’ welfare sat unspent (Factly, 2017); 30.58 crore workers are on e-Shram (Feb 2025).</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No dedicated central law for domestic workers: the Supreme Court ordered a study in Jan 2025; the committee said none is needed (Jul 2025).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06 · Data &amp; sources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06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 &amp; SOURCES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Where the data </a:t>
            </a:r>
            <a:r>
              <a:rPr b="0" i="1" lang="en-US" sz="5000">
                <a:solidFill>
                  <a:srgbClr val="FFD27A"/>
                </a:solidFill>
                <a:latin typeface="Instrument Serif"/>
                <a:ea typeface="Instrument Serif"/>
                <a:cs typeface="Instrument Serif"/>
                <a:sym typeface="Instrument Serif"/>
              </a:rPr>
              <a:t>comes from</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Wages, 2019</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gazette (labour.gov.in). Minimum wage (s.5), payment deadlines (s.17) and the 3-year claim window become wage-rights cards.</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Social Security</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PIB and PRS summaries. Covers unorganised and domestic workers; becomes benefits and registration cards.</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e-Shram · PM-SYM</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portals. Free registration and a ₹3,000 monthly pension (ages 18–40) feed the scheme matcher.</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Maternity &amp; POSH Acts</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Bare Acts and the ILO guide. Maternity leave and workplace-harassment redress become two rights cards.</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How we use it</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Each source becomes short Hindi cards with section and link, embedded and retrieved; the answer must cite a card, or refuse.</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
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9" r:id="rId9"/>
    <p:sldId id="266" r:id="rId24"/>
    <p:sldId id="260" r:id="rId10"/>
    <p:sldId id="261" r:id="rId11"/>
    <p:sldId id="267" r:id="rId25"/>
    <p:sldId id="262" r:id="rId12"/>
    <p:sldId id="263" r:id="rId13"/>
    <p:sldId id="264" r:id="rId14"/>
    <p:sldId id="265" r:id="rId15"/>
  </p:sldIdLst>
  <p:sldSz cy="6857825" cx="12191675"/>
  <p:notesSz cx="6858000" cy="9144000"/>
  <p:embeddedFontLst>
    <p:embeddedFont>
      <p:font typeface="Instrument Serif"/>
      <p:regular r:id="rId16"/>
      <p:italic r:id="rId17"/>
    </p:embeddedFont>
    <p:embeddedFont>
      <p:font typeface="JetBrains Mono"/>
      <p:regular r:id="rId18"/>
      <p:bold r:id="rId19"/>
      <p:italic r:id="rId20"/>
      <p:boldItalic r:id="rId21"/>
    </p:embeddedFont>
    <p:embeddedFont>
      <p:font typeface="Space Grotesk"/>
      <p:regular r:id="rId22"/>
      <p:bold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Relationships xmlns="http://schemas.openxmlformats.org/package/2006/relationships"><Relationship Id="rId20" Type="http://schemas.openxmlformats.org/officeDocument/2006/relationships/font" Target="fonts/JetBrainsMono-italic.fntdata"/><Relationship Id="rId11" Type="http://schemas.openxmlformats.org/officeDocument/2006/relationships/slide" Target="slides/slide6.xml"/><Relationship Id="rId22" Type="http://schemas.openxmlformats.org/officeDocument/2006/relationships/font" Target="fonts/SpaceGrotesk-regular.fntdata"/><Relationship Id="rId10" Type="http://schemas.openxmlformats.org/officeDocument/2006/relationships/slide" Target="slides/slide5.xml"/><Relationship Id="rId21" Type="http://schemas.openxmlformats.org/officeDocument/2006/relationships/font" Target="fonts/JetBrainsMono-boldItalic.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SpaceGrotesk-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nstrumentSerif-italic.fntdata"/><Relationship Id="rId16" Type="http://schemas.openxmlformats.org/officeDocument/2006/relationships/font" Target="fonts/InstrumentSerif-regular.fntdata"/><Relationship Id="rId5" Type="http://schemas.openxmlformats.org/officeDocument/2006/relationships/notesMaster" Target="notesMasters/notesMaster1.xml"/><Relationship Id="rId19" Type="http://schemas.openxmlformats.org/officeDocument/2006/relationships/font" Target="fonts/JetBrainsMono-bold.fntdata"/><Relationship Id="rId6" Type="http://schemas.openxmlformats.org/officeDocument/2006/relationships/slide" Target="slides/slide1.xml"/><Relationship Id="rId18" Type="http://schemas.openxmlformats.org/officeDocument/2006/relationships/font" Target="fonts/JetBrainsMono-regular.fntdata"/>  <Relationship Id="rId24" Type="http://schemas.openxmlformats.org/officeDocument/2006/relationships/slide" Target="slides/slide11.xml"/>
  <Relationship Id="rId25" Type="http://schemas.openxmlformats.org/officeDocument/2006/relationships/slide" Target="slides/slide1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LinkedIn" Type="http://schemas.openxmlformats.org/officeDocument/2006/relationships/hyperlink" Target="https://www.linkedin.com/in/yash-vishnoi-8656a731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hot.png" id="84" name="Google Shape;84;p13"/>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85" name="Google Shape;85;p13"/>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F4EFE6"/>
                </a:solidFill>
                <a:latin typeface="Space Grotesk"/>
                <a:ea typeface="Space Grotesk"/>
                <a:cs typeface="Space Grotesk"/>
                <a:sym typeface="Space Grotesk"/>
              </a:rPr>
              <a:t>✱  BFWAI/HACK 26</a:t>
            </a:r>
            <a:endParaRPr/>
          </a:p>
        </p:txBody>
      </p:sp>
      <p:sp>
        <p:nvSpPr>
          <p:cNvPr id="86" name="Google Shape;86;p13"/>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u="none" cap="none" strike="noStrike">
                <a:solidFill>
                  <a:srgbClr val="757068"/>
                </a:solidFill>
                <a:latin typeface="Space Grotesk"/>
                <a:ea typeface="Space Grotesk"/>
                <a:cs typeface="Space Grotesk"/>
                <a:sym typeface="Space Grotesk"/>
              </a:rPr>
              <a:t>Idea submission</a:t>
            </a:r>
            <a:endParaRPr/>
          </a:p>
        </p:txBody>
      </p:sp>
      <p:cxnSp>
        <p:nvCxnSpPr>
          <p:cNvPr id="87" name="Google Shape;87;p13"/>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88" name="Google Shape;88;p13"/>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F4EFE6"/>
                </a:solidFill>
                <a:latin typeface="Space Grotesk"/>
                <a:ea typeface="Space Grotesk"/>
                <a:cs typeface="Space Grotesk"/>
                <a:sym typeface="Space Grotesk"/>
              </a:rPr>
              <a:t>buildfastwithai.com/hackathon ↗</a:t>
            </a:r>
            <a:endParaRPr/>
          </a:p>
        </p:txBody>
      </p:sp>
      <p:sp>
        <p:nvSpPr>
          <p:cNvPr id="89" name="Google Shape;89;p13"/>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u="none" cap="none" strike="noStrike">
                <a:solidFill>
                  <a:srgbClr val="757068"/>
                </a:solidFill>
                <a:latin typeface="JetBrains Mono"/>
                <a:ea typeface="JetBrains Mono"/>
                <a:cs typeface="JetBrains Mono"/>
                <a:sym typeface="JetBrains Mono"/>
              </a:rPr>
              <a:t>01 / 10</a:t>
            </a:r>
            <a:endParaRPr/>
          </a:p>
        </p:txBody>
      </p:sp>
      <p:sp>
        <p:nvSpPr>
          <p:cNvPr id="90" name="Google Shape;90;p13"/>
          <p:cNvSpPr txBox="1"/>
          <p:nvPr/>
        </p:nvSpPr>
        <p:spPr>
          <a:xfrm>
            <a:off x="711182" y="1904952"/>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u="none" cap="none" strike="noStrike">
                <a:solidFill>
                  <a:srgbClr val="F2B632"/>
                </a:solidFill>
                <a:latin typeface="JetBrains Mono"/>
                <a:ea typeface="JetBrains Mono"/>
                <a:cs typeface="JetBrains Mono"/>
                <a:sym typeface="JetBrains Mono"/>
              </a:rPr>
              <a:t>AI BUILD CHALLENGE 2026 · IDEA DECK</a:t>
            </a:r>
            <a:endParaRPr/>
          </a:p>
        </p:txBody>
      </p:sp>
      <p:sp>
        <p:nvSpPr>
          <p:cNvPr id="91" name="Google Shape;91;p13"/>
          <p:cNvSpPr txBox="1"/>
          <p:nvPr/>
        </p:nvSpPr>
        <p:spPr>
          <a:xfrm>
            <a:off x="711182" y="2222444"/>
            <a:ext cx="9524761" cy="1650958"/>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9600" u="none" cap="none" strike="noStrike">
                <a:solidFill>
                  <a:srgbClr val="F4EFE6"/>
                </a:solidFill>
                <a:latin typeface="Instrument Serif"/>
                <a:ea typeface="Instrument Serif"/>
                <a:cs typeface="Instrument Serif"/>
                <a:sym typeface="Instrument Serif"/>
              </a:rPr>
              <a:t>Adhikar Saathi</a:t>
            </a:r>
            <a:endParaRPr/>
          </a:p>
        </p:txBody>
      </p:sp>
      <p:sp>
        <p:nvSpPr>
          <p:cNvPr id="92" name="Google Shape;92;p13"/>
          <p:cNvSpPr txBox="1"/>
          <p:nvPr/>
        </p:nvSpPr>
        <p:spPr>
          <a:xfrm>
            <a:off x="711182" y="3555911"/>
            <a:ext cx="8889777" cy="76198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1" lang="en-US" sz="2800" u="none" cap="none" strike="noStrike">
                <a:solidFill>
                  <a:srgbClr val="FFD27A"/>
                </a:solidFill>
                <a:latin typeface="Instrument Serif"/>
                <a:ea typeface="Instrument Serif"/>
                <a:cs typeface="Instrument Serif"/>
                <a:sym typeface="Instrument Serif"/>
              </a:rPr>
              <a:t>A Hindi voice assistant that tells daily-wage workers their legal rights, with the law cited.</a:t>
            </a:r>
            <a:endParaRPr/>
          </a:p>
        </p:txBody>
      </p:sp>
      <p:sp>
        <p:nvSpPr>
          <p:cNvPr id="93" name="Google Shape;93;p13"/>
          <p:cNvSpPr txBox="1"/>
          <p:nvPr/>
        </p:nvSpPr>
        <p:spPr>
          <a:xfrm>
            <a:off x="711182" y="5016374"/>
            <a:ext cx="330191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u="none" cap="none" strike="noStrike">
                <a:solidFill>
                  <a:srgbClr val="757068"/>
                </a:solidFill>
                <a:latin typeface="JetBrains Mono"/>
                <a:ea typeface="JetBrains Mono"/>
                <a:cs typeface="JetBrains Mono"/>
                <a:sym typeface="JetBrains Mono"/>
              </a:rPr>
              <a:t>TEAM</a:t>
            </a:r>
            <a:endParaRPr/>
          </a:p>
        </p:txBody>
      </p:sp>
      <p:sp>
        <p:nvSpPr>
          <p:cNvPr id="94" name="Google Shape;94;p13"/>
          <p:cNvSpPr txBox="1"/>
          <p:nvPr/>
        </p:nvSpPr>
        <p:spPr>
          <a:xfrm>
            <a:off x="711182" y="5270368"/>
            <a:ext cx="3428914"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F4EFE6"/>
                </a:solidFill>
                <a:latin typeface="Space Grotesk"/>
                <a:ea typeface="Space Grotesk"/>
                <a:cs typeface="Space Grotesk"/>
                <a:sym typeface="Space Grotesk"/>
              </a:rPr>
              <a:t>Mythos</a:t>
            </a:r>
            <a:endParaRPr/>
          </a:p>
        </p:txBody>
      </p:sp>
      <p:sp>
        <p:nvSpPr>
          <p:cNvPr id="95" name="Google Shape;95;p13"/>
          <p:cNvSpPr txBox="1"/>
          <p:nvPr/>
        </p:nvSpPr>
        <p:spPr>
          <a:xfrm>
            <a:off x="4330591" y="5016374"/>
            <a:ext cx="330191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u="none" cap="none" strike="noStrike">
                <a:solidFill>
                  <a:srgbClr val="757068"/>
                </a:solidFill>
                <a:latin typeface="JetBrains Mono"/>
                <a:ea typeface="JetBrains Mono"/>
                <a:cs typeface="JetBrains Mono"/>
                <a:sym typeface="JetBrains Mono"/>
              </a:rPr>
              <a:t>PROBLEM STATEMENT</a:t>
            </a:r>
            <a:endParaRPr/>
          </a:p>
        </p:txBody>
      </p:sp>
      <p:sp>
        <p:nvSpPr>
          <p:cNvPr id="96" name="Google Shape;96;p13"/>
          <p:cNvSpPr txBox="1"/>
          <p:nvPr/>
        </p:nvSpPr>
        <p:spPr>
          <a:xfrm>
            <a:off x="4330591" y="5270368"/>
            <a:ext cx="3428914"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F4EFE6"/>
                </a:solidFill>
                <a:latin typeface="Space Grotesk"/>
                <a:ea typeface="Space Grotesk"/>
                <a:cs typeface="Space Grotesk"/>
                <a:sym typeface="Space Grotesk"/>
              </a:rPr>
              <a:t>PS-06 · AI for Bharat in Indian Languages</a:t>
            </a:r>
            <a:endParaRPr/>
          </a:p>
        </p:txBody>
      </p:sp>
      <p:sp>
        <p:nvSpPr>
          <p:cNvPr id="97" name="Google Shape;97;p13"/>
          <p:cNvSpPr txBox="1"/>
          <p:nvPr/>
        </p:nvSpPr>
        <p:spPr>
          <a:xfrm>
            <a:off x="7950001" y="5016374"/>
            <a:ext cx="330191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u="none" cap="none" strike="noStrike">
                <a:solidFill>
                  <a:srgbClr val="757068"/>
                </a:solidFill>
                <a:latin typeface="JetBrains Mono"/>
                <a:ea typeface="JetBrains Mono"/>
                <a:cs typeface="JetBrains Mono"/>
                <a:sym typeface="JetBrains Mono"/>
              </a:rPr>
              <a:t>MEMBERS</a:t>
            </a:r>
            <a:endParaRPr/>
          </a:p>
        </p:txBody>
      </p:sp>
      <p:sp>
        <p:nvSpPr>
          <p:cNvPr id="98" name="Google Shape;98;p13"/>
          <p:cNvSpPr txBox="1"/>
          <p:nvPr/>
        </p:nvSpPr>
        <p:spPr>
          <a:xfrm>
            <a:off x="7950001" y="5270368"/>
            <a:ext cx="3428914"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700" u="none" cap="none" strike="noStrike">
                <a:solidFill>
                  <a:srgbClr val="F4EFE6"/>
                </a:solidFill>
                <a:latin typeface="Space Grotesk"/>
                <a:ea typeface="Space Grotesk"/>
                <a:cs typeface="Space Grotesk"/>
                <a:sym typeface="Space Grotesk"/>
              </a:rPr>
              <a:t>Yash Vishnoi</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descr="corner.png" id="168" name="Google Shape;168;p16"/>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169" name="Google Shape;169;p16"/>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170" name="Google Shape;170;p16"/>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02 · The problem</a:t>
            </a:r>
            <a:endParaRPr/>
          </a:p>
        </p:txBody>
      </p:sp>
      <p:cxnSp>
        <p:nvCxnSpPr>
          <p:cNvPr id="171" name="Google Shape;171;p16"/>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172" name="Google Shape;172;p16"/>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173" name="Google Shape;173;p16"/>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02 / 10</a:t>
            </a:r>
            <a:endParaRPr/>
          </a:p>
        </p:txBody>
      </p:sp>
      <p:sp>
        <p:nvSpPr>
          <p:cNvPr id="174" name="Google Shape;174;p16"/>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THE PROBLEM</a:t>
            </a:r>
            <a:endParaRPr/>
          </a:p>
        </p:txBody>
      </p:sp>
      <p:sp>
        <p:nvSpPr>
          <p:cNvPr id="175" name="Google Shape;175;p16"/>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The problem </a:t>
            </a:r>
            <a:r>
              <a:rPr b="0" i="1" lang="en-US" sz="5000">
                <a:solidFill>
                  <a:srgbClr val="FFD27A"/>
                </a:solidFill>
                <a:latin typeface="Instrument Serif"/>
                <a:ea typeface="Instrument Serif"/>
                <a:cs typeface="Instrument Serif"/>
                <a:sym typeface="Instrument Serif"/>
              </a:rPr>
              <a:t>we're solving</a:t>
            </a:r>
            <a:endParaRPr/>
          </a:p>
        </p:txBody>
      </p:sp>
      <p:sp>
        <p:nvSpPr>
          <p:cNvPr id="176" name="Google Shape;176;p16"/>
          <p:cNvSpPr/>
          <p:nvPr/>
        </p:nvSpPr>
        <p:spPr>
          <a:xfrm>
            <a:off x="711182" y="2539936"/>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7" name="Google Shape;177;p16"/>
          <p:cNvSpPr txBox="1"/>
          <p:nvPr/>
        </p:nvSpPr>
        <p:spPr>
          <a:xfrm>
            <a:off x="914377" y="2717732"/>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PROBLEM STATEMENT</a:t>
            </a:r>
            <a:endParaRPr/>
          </a:p>
        </p:txBody>
      </p:sp>
      <p:sp>
        <p:nvSpPr>
          <p:cNvPr id="178" name="Google Shape;178;p16"/>
          <p:cNvSpPr txBox="1"/>
          <p:nvPr/>
        </p:nvSpPr>
        <p:spPr>
          <a:xfrm>
            <a:off x="914377" y="2984425"/>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500">
                <a:solidFill>
                  <a:srgbClr val="9E988E"/>
                </a:solidFill>
                <a:latin typeface="Instrument Serif"/>
                <a:ea typeface="Instrument Serif"/>
                <a:cs typeface="Instrument Serif"/>
                <a:sym typeface="Instrument Serif"/>
              </a:rPr>
              <a:t>PS-06 · AI for Bharat in Indian Languages</a:t>
            </a:r>
            <a:endParaRPr/>
          </a:p>
          <a:p>
            <a:pPr indent="0" lvl="0" marL="0" marR="0" rtl="0" algn="l">
              <a:lnSpc>
                <a:spcPct val="125000"/>
              </a:lnSpc>
              <a:spcBef>
                <a:spcPts val="0"/>
              </a:spcBef>
              <a:spcAft>
                <a:spcPts val="0"/>
              </a:spcAft>
              <a:buNone/>
            </a:pPr>
            <a:r>
              <a:rPr b="0" i="0" lang="en-US" sz="1500">
                <a:solidFill>
                  <a:srgbClr val="9E988E"/>
                </a:solidFill>
                <a:latin typeface="Instrument Serif"/>
                <a:ea typeface="Instrument Serif"/>
                <a:cs typeface="Instrument Serif"/>
                <a:sym typeface="Instrument Serif"/>
              </a:rPr>
              <a:t>Informal workers can't find out, in Hindi and in a form they can trust, what the law says they are owed.</a:t>
            </a:r>
            <a:endParaRPr/>
          </a:p>
        </p:txBody>
      </p:sp>
      <p:sp>
        <p:nvSpPr>
          <p:cNvPr id="179" name="Google Shape;179;p16"/>
          <p:cNvSpPr/>
          <p:nvPr/>
        </p:nvSpPr>
        <p:spPr>
          <a:xfrm>
            <a:off x="6273643" y="2539936"/>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0" name="Google Shape;180;p16"/>
          <p:cNvSpPr txBox="1"/>
          <p:nvPr/>
        </p:nvSpPr>
        <p:spPr>
          <a:xfrm>
            <a:off x="6476838" y="2717732"/>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WHO FACES IT</a:t>
            </a:r>
            <a:endParaRPr/>
          </a:p>
        </p:txBody>
      </p:sp>
      <p:sp>
        <p:nvSpPr>
          <p:cNvPr id="181" name="Google Shape;181;p16"/>
          <p:cNvSpPr txBox="1"/>
          <p:nvPr/>
        </p:nvSpPr>
        <p:spPr>
          <a:xfrm>
            <a:off x="6476838" y="2984425"/>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Hindi-speaking daily-wage, construction and domestic workers, mostly in UP, Bihar, Chhattisgarh and Jharkhand, with low literacy and often only a basic smartphone.</a:t>
            </a:r>
            <a:endParaRPr/>
          </a:p>
        </p:txBody>
      </p:sp>
      <p:sp>
        <p:nvSpPr>
          <p:cNvPr id="182" name="Google Shape;182;p16"/>
          <p:cNvSpPr/>
          <p:nvPr/>
        </p:nvSpPr>
        <p:spPr>
          <a:xfrm>
            <a:off x="711182" y="4381390"/>
            <a:ext cx="10769330"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3" name="Google Shape;183;p16"/>
          <p:cNvSpPr txBox="1"/>
          <p:nvPr/>
        </p:nvSpPr>
        <p:spPr>
          <a:xfrm>
            <a:off x="914377" y="4559186"/>
            <a:ext cx="10362940"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WHAT IT COSTS THEM TODAY</a:t>
            </a:r>
            <a:endParaRPr/>
          </a:p>
        </p:txBody>
      </p:sp>
      <p:sp>
        <p:nvSpPr>
          <p:cNvPr id="184" name="Google Shape;184;p16"/>
          <p:cNvSpPr txBox="1"/>
          <p:nvPr/>
        </p:nvSpPr>
        <p:spPr>
          <a:xfrm>
            <a:off x="914377" y="4825879"/>
            <a:ext cx="10362940" cy="9778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200">
                <a:solidFill>
                  <a:srgbClr val="9E988E"/>
                </a:solidFill>
                <a:latin typeface="Space Grotesk"/>
                <a:ea typeface="Space Grotesk"/>
                <a:cs typeface="Space Grotesk"/>
                <a:sym typeface="Space Grotesk"/>
              </a:rPr>
              <a:t>Underpaid: about 65–70% of casual workers in Chhattisgarh, Odisha and Jharkhand earn below the legal minimum wage.</a:t>
            </a:r>
            <a:endParaRPr/>
          </a:p>
          <a:p>
            <a:pPr indent="0" lvl="0" marL="0" marR="0" rtl="0" algn="l">
              <a:lnSpc>
                <a:spcPct val="115000"/>
              </a:lnSpc>
              <a:spcBef>
                <a:spcPts val="400"/>
              </a:spcBef>
              <a:spcAft>
                <a:spcPts val="0"/>
              </a:spcAft>
              <a:buNone/>
            </a:pPr>
            <a:r>
              <a:rPr b="0" i="0" lang="en-US" sz="1200">
                <a:solidFill>
                  <a:srgbClr val="9E988E"/>
                </a:solidFill>
                <a:latin typeface="Space Grotesk"/>
                <a:ea typeface="Space Grotesk"/>
                <a:cs typeface="Space Grotesk"/>
                <a:sym typeface="Space Grotesk"/>
              </a:rPr>
              <a:t>Locked out: the law and government portals are English-first, yet only 2–5% of people in Chhattisgarh and Jharkhand know English.</a:t>
            </a:r>
            <a:endParaRPr/>
          </a:p>
          <a:p>
            <a:pPr indent="0" lvl="0" marL="0" marR="0" rtl="0" algn="l">
              <a:lnSpc>
                <a:spcPct val="115000"/>
              </a:lnSpc>
              <a:spcBef>
                <a:spcPts val="400"/>
              </a:spcBef>
              <a:spcAft>
                <a:spcPts val="0"/>
              </a:spcAft>
              <a:buNone/>
            </a:pPr>
            <a:r>
              <a:rPr b="0" i="0" lang="en-US" sz="1200">
                <a:solidFill>
                  <a:srgbClr val="9E988E"/>
                </a:solidFill>
                <a:latin typeface="Space Grotesk"/>
                <a:ea typeface="Space Grotesk"/>
                <a:cs typeface="Space Grotesk"/>
                <a:sym typeface="Space Grotesk"/>
              </a:rPr>
              <a:t>Time-bound: wage claims must be filed within 3 years, so not knowing your rights can mean losing them.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descr="top.png" id="189" name="Google Shape;189;p17"/>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190" name="Google Shape;190;p17"/>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191" name="Google Shape;191;p17"/>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04 · Solution overview</a:t>
            </a:r>
            <a:endParaRPr/>
          </a:p>
        </p:txBody>
      </p:sp>
      <p:cxnSp>
        <p:nvCxnSpPr>
          <p:cNvPr id="192" name="Google Shape;192;p17"/>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193" name="Google Shape;193;p17"/>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194" name="Google Shape;194;p17"/>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04 / 10</a:t>
            </a:r>
            <a:endParaRPr/>
          </a:p>
        </p:txBody>
      </p:sp>
      <p:sp>
        <p:nvSpPr>
          <p:cNvPr id="195" name="Google Shape;195;p17"/>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SOLUTION OVERVIEW</a:t>
            </a:r>
            <a:endParaRPr/>
          </a:p>
        </p:txBody>
      </p:sp>
      <p:sp>
        <p:nvSpPr>
          <p:cNvPr id="196" name="Google Shape;196;p17"/>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What </a:t>
            </a:r>
            <a:r>
              <a:rPr b="0" i="1" lang="en-US" sz="5000">
                <a:solidFill>
                  <a:srgbClr val="FFD27A"/>
                </a:solidFill>
                <a:latin typeface="Instrument Serif"/>
                <a:ea typeface="Instrument Serif"/>
                <a:cs typeface="Instrument Serif"/>
                <a:sym typeface="Instrument Serif"/>
              </a:rPr>
              <a:t>we're building</a:t>
            </a:r>
            <a:endParaRPr/>
          </a:p>
        </p:txBody>
      </p:sp>
      <p:sp>
        <p:nvSpPr>
          <p:cNvPr id="197" name="Google Shape;197;p17"/>
          <p:cNvSpPr/>
          <p:nvPr/>
        </p:nvSpPr>
        <p:spPr>
          <a:xfrm>
            <a:off x="711182" y="2539936"/>
            <a:ext cx="10769330"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8" name="Google Shape;198;p17"/>
          <p:cNvSpPr txBox="1"/>
          <p:nvPr/>
        </p:nvSpPr>
        <p:spPr>
          <a:xfrm>
            <a:off x="914377" y="2717732"/>
            <a:ext cx="10362940"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IN TWO OR THREE LINES</a:t>
            </a:r>
            <a:endParaRPr/>
          </a:p>
        </p:txBody>
      </p:sp>
      <p:sp>
        <p:nvSpPr>
          <p:cNvPr id="199" name="Google Shape;199;p17"/>
          <p:cNvSpPr txBox="1"/>
          <p:nvPr/>
        </p:nvSpPr>
        <p:spPr>
          <a:xfrm>
            <a:off x="914377" y="2984425"/>
            <a:ext cx="10362940" cy="9778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700">
                <a:solidFill>
                  <a:srgbClr val="9E988E"/>
                </a:solidFill>
                <a:latin typeface="Instrument Serif"/>
                <a:ea typeface="Instrument Serif"/>
                <a:cs typeface="Instrument Serif"/>
                <a:sym typeface="Instrument Serif"/>
              </a:rPr>
              <a:t>A Hindi voice assistant for daily-wage, construction and domestic workers. Ask out loud and it answers in spoken Hindi, with the exact law or scheme cited, or says it does not know and points to the helpline.</a:t>
            </a:r>
            <a:endParaRPr/>
          </a:p>
        </p:txBody>
      </p:sp>
      <p:sp>
        <p:nvSpPr>
          <p:cNvPr id="200" name="Google Shape;200;p17"/>
          <p:cNvSpPr/>
          <p:nvPr/>
        </p:nvSpPr>
        <p:spPr>
          <a:xfrm>
            <a:off x="711182" y="4381390"/>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17"/>
          <p:cNvSpPr txBox="1"/>
          <p:nvPr/>
        </p:nvSpPr>
        <p:spPr>
          <a:xfrm>
            <a:off x="914377" y="4559186"/>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WHAT THE USER DOES</a:t>
            </a:r>
            <a:endParaRPr/>
          </a:p>
        </p:txBody>
      </p:sp>
      <p:sp>
        <p:nvSpPr>
          <p:cNvPr id="202" name="Google Shape;202;p17"/>
          <p:cNvSpPr txBox="1"/>
          <p:nvPr/>
        </p:nvSpPr>
        <p:spPr>
          <a:xfrm>
            <a:off x="914377" y="4825879"/>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Presses the mic and asks in Hindi, for example </a:t>
            </a:r>
            <a:r>
              <a:rPr b="0" i="0" lang="hi-IN" sz="1200">
                <a:solidFill>
                  <a:srgbClr val="9E988E"/>
                </a:solidFill>
                <a:latin typeface="Space Grotesk"/>
                <a:ea typeface="Space Grotesk"/>
                <a:cs typeface="Nirmala UI"/>
                <a:sym typeface="Space Grotesk"/>
              </a:rPr>
              <a:t>“ठेकेदार ने मजदूरी नहीं दी, मैं क्या करूँ?”</a:t>
            </a:r>
            <a:r>
              <a:rPr b="0" i="0" lang="en-US" sz="1200">
                <a:solidFill>
                  <a:srgbClr val="9E988E"/>
                </a:solidFill>
                <a:latin typeface="Space Grotesk"/>
                <a:ea typeface="Space Grotesk"/>
                <a:cs typeface="Space Grotesk"/>
                <a:sym typeface="Space Grotesk"/>
              </a:rPr>
              <a:t> No typing, no English, no forms.</a:t>
            </a:r>
            <a:endParaRPr/>
          </a:p>
        </p:txBody>
      </p:sp>
      <p:sp>
        <p:nvSpPr>
          <p:cNvPr id="203" name="Google Shape;203;p17"/>
          <p:cNvSpPr/>
          <p:nvPr/>
        </p:nvSpPr>
        <p:spPr>
          <a:xfrm>
            <a:off x="6273643" y="4381390"/>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4" name="Google Shape;204;p17"/>
          <p:cNvSpPr txBox="1"/>
          <p:nvPr/>
        </p:nvSpPr>
        <p:spPr>
          <a:xfrm>
            <a:off x="6476838" y="4559186"/>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WHAT THEY GET BACK</a:t>
            </a:r>
            <a:endParaRPr/>
          </a:p>
        </p:txBody>
      </p:sp>
      <p:sp>
        <p:nvSpPr>
          <p:cNvPr id="205" name="Google Shape;205;p17"/>
          <p:cNvSpPr txBox="1"/>
          <p:nvPr/>
        </p:nvSpPr>
        <p:spPr>
          <a:xfrm>
            <a:off x="6476838" y="4825879"/>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A spoken Hindi answer, a source card (Act, section, link) with an English transcript, and a next-step card: who to call or where to complain.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left.png" id="210" name="Google Shape;210;p18"/>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11" name="Google Shape;211;p18"/>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12" name="Google Shape;212;p18"/>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05 · Technical approach</a:t>
            </a:r>
            <a:endParaRPr/>
          </a:p>
        </p:txBody>
      </p:sp>
      <p:cxnSp>
        <p:nvCxnSpPr>
          <p:cNvPr id="213" name="Google Shape;213;p18"/>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14" name="Google Shape;214;p18"/>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15" name="Google Shape;215;p18"/>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05 / 10</a:t>
            </a:r>
            <a:endParaRPr/>
          </a:p>
        </p:txBody>
      </p:sp>
      <p:sp>
        <p:nvSpPr>
          <p:cNvPr id="216" name="Google Shape;216;p18"/>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TECHNICAL APPROACH</a:t>
            </a:r>
            <a:endParaRPr/>
          </a:p>
        </p:txBody>
      </p:sp>
      <p:sp>
        <p:nvSpPr>
          <p:cNvPr id="217" name="Google Shape;217;p18"/>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How </a:t>
            </a:r>
            <a:r>
              <a:rPr b="0" i="1" lang="en-US" sz="5000">
                <a:solidFill>
                  <a:srgbClr val="FFD27A"/>
                </a:solidFill>
                <a:latin typeface="Instrument Serif"/>
                <a:ea typeface="Instrument Serif"/>
                <a:cs typeface="Instrument Serif"/>
                <a:sym typeface="Instrument Serif"/>
              </a:rPr>
              <a:t>it works</a:t>
            </a:r>
            <a:endParaRPr/>
          </a:p>
        </p:txBody>
      </p:sp>
      <p:sp>
        <p:nvSpPr>
          <p:cNvPr id="218" name="Google Shape;218;p18"/>
          <p:cNvSpPr/>
          <p:nvPr/>
        </p:nvSpPr>
        <p:spPr>
          <a:xfrm>
            <a:off x="711182" y="2539936"/>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9" name="Google Shape;219;p18"/>
          <p:cNvSpPr txBox="1"/>
          <p:nvPr/>
        </p:nvSpPr>
        <p:spPr>
          <a:xfrm>
            <a:off x="914377" y="2717732"/>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MODELS</a:t>
            </a:r>
            <a:endParaRPr/>
          </a:p>
        </p:txBody>
      </p:sp>
      <p:sp>
        <p:nvSpPr>
          <p:cNvPr id="220" name="Google Shape;220;p18"/>
          <p:cNvSpPr txBox="1"/>
          <p:nvPr/>
        </p:nvSpPr>
        <p:spPr>
          <a:xfrm>
            <a:off x="914377" y="2984425"/>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Sarvam speech-to-text, an LLM that answers only from retrieved rights cards and must cite one, and Sarvam text-to-speech. Hindi is fully verified; Sarvam Translate extends the same cards to other Indian languages.</a:t>
            </a:r>
            <a:endParaRPr/>
          </a:p>
        </p:txBody>
      </p:sp>
      <p:sp>
        <p:nvSpPr>
          <p:cNvPr id="221" name="Google Shape;221;p18"/>
          <p:cNvSpPr/>
          <p:nvPr/>
        </p:nvSpPr>
        <p:spPr>
          <a:xfrm>
            <a:off x="6273643" y="2539936"/>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2" name="Google Shape;222;p18"/>
          <p:cNvSpPr txBox="1"/>
          <p:nvPr/>
        </p:nvSpPr>
        <p:spPr>
          <a:xfrm>
            <a:off x="6476838" y="2717732"/>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TOOLS &amp; FRAMEWORKS</a:t>
            </a:r>
            <a:endParaRPr/>
          </a:p>
        </p:txBody>
      </p:sp>
      <p:sp>
        <p:nvSpPr>
          <p:cNvPr id="223" name="Google Shape;223;p18"/>
          <p:cNvSpPr txBox="1"/>
          <p:nvPr/>
        </p:nvSpPr>
        <p:spPr>
          <a:xfrm>
            <a:off x="6476838" y="2984425"/>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Hybrid keyword + embedding search over 18 curated English rights cards, a rule-based scheme and complaint engine, a web app, and Sarvam Voice Agents for a live spoken conversation.</a:t>
            </a:r>
            <a:endParaRPr/>
          </a:p>
        </p:txBody>
      </p:sp>
      <p:sp>
        <p:nvSpPr>
          <p:cNvPr id="224" name="Google Shape;224;p18"/>
          <p:cNvSpPr/>
          <p:nvPr/>
        </p:nvSpPr>
        <p:spPr>
          <a:xfrm>
            <a:off x="711182" y="4381390"/>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8"/>
          <p:cNvSpPr txBox="1"/>
          <p:nvPr/>
        </p:nvSpPr>
        <p:spPr>
          <a:xfrm>
            <a:off x="914377" y="4559186"/>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DATA</a:t>
            </a:r>
            <a:endParaRPr/>
          </a:p>
        </p:txBody>
      </p:sp>
      <p:sp>
        <p:nvSpPr>
          <p:cNvPr id="226" name="Google Shape;226;p18"/>
          <p:cNvSpPr txBox="1"/>
          <p:nvPr/>
        </p:nvSpPr>
        <p:spPr>
          <a:xfrm>
            <a:off x="914377" y="4825879"/>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Public government sources only: Labour Codes, PIB explainers, e-Shram, PM-SYM, Maternity and POSH Acts. Details on the next slide.</a:t>
            </a:r>
            <a:endParaRPr/>
          </a:p>
        </p:txBody>
      </p:sp>
      <p:sp>
        <p:nvSpPr>
          <p:cNvPr id="227" name="Google Shape;227;p18"/>
          <p:cNvSpPr/>
          <p:nvPr/>
        </p:nvSpPr>
        <p:spPr>
          <a:xfrm>
            <a:off x="6273643" y="4381390"/>
            <a:ext cx="5206869" cy="158746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8" name="Google Shape;228;p18"/>
          <p:cNvSpPr txBox="1"/>
          <p:nvPr/>
        </p:nvSpPr>
        <p:spPr>
          <a:xfrm>
            <a:off x="6476838" y="4559186"/>
            <a:ext cx="48004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HUMAN APPROVAL</a:t>
            </a:r>
            <a:endParaRPr/>
          </a:p>
        </p:txBody>
      </p:sp>
      <p:sp>
        <p:nvSpPr>
          <p:cNvPr id="229" name="Google Shape;229;p18"/>
          <p:cNvSpPr txBox="1"/>
          <p:nvPr/>
        </p:nvSpPr>
        <p:spPr>
          <a:xfrm>
            <a:off x="6476838" y="4825879"/>
            <a:ext cx="4800479" cy="977875"/>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A native Hindi speaker reviews every card before it is indexed. The app never files anything; it only drafts a complaint for the worker to review. Case-specific advice goes to helpline 14434.</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corner.png" id="234" name="Google Shape;234;p19"/>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35" name="Google Shape;235;p19"/>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36" name="Google Shape;236;p19"/>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07 · Key features</a:t>
            </a:r>
            <a:endParaRPr/>
          </a:p>
        </p:txBody>
      </p:sp>
      <p:cxnSp>
        <p:nvCxnSpPr>
          <p:cNvPr id="237" name="Google Shape;237;p19"/>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38" name="Google Shape;238;p19"/>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39" name="Google Shape;239;p19"/>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07 / 10</a:t>
            </a:r>
            <a:endParaRPr/>
          </a:p>
        </p:txBody>
      </p:sp>
      <p:sp>
        <p:nvSpPr>
          <p:cNvPr id="240" name="Google Shape;240;p19"/>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KEY FEATURES</a:t>
            </a:r>
            <a:endParaRPr/>
          </a:p>
        </p:txBody>
      </p:sp>
      <p:sp>
        <p:nvSpPr>
          <p:cNvPr id="241" name="Google Shape;241;p19"/>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What it will do </a:t>
            </a:r>
            <a:r>
              <a:rPr b="0" i="1" lang="en-US" sz="5000">
                <a:solidFill>
                  <a:srgbClr val="FFD27A"/>
                </a:solidFill>
                <a:latin typeface="Instrument Serif"/>
                <a:ea typeface="Instrument Serif"/>
                <a:cs typeface="Instrument Serif"/>
                <a:sym typeface="Instrument Serif"/>
              </a:rPr>
              <a:t>by 1 Oct</a:t>
            </a:r>
            <a:endParaRPr/>
          </a:p>
        </p:txBody>
      </p:sp>
      <p:cxnSp>
        <p:nvCxnSpPr>
          <p:cNvPr id="242" name="Google Shape;242;p19"/>
          <p:cNvCxnSpPr/>
          <p:nvPr/>
        </p:nvCxnSpPr>
        <p:spPr>
          <a:xfrm>
            <a:off x="711182" y="2539936"/>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43" name="Google Shape;243;p19"/>
          <p:cNvSpPr txBox="1"/>
          <p:nvPr/>
        </p:nvSpPr>
        <p:spPr>
          <a:xfrm>
            <a:off x="711182" y="2679633"/>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01</a:t>
            </a:r>
            <a:endParaRPr/>
          </a:p>
        </p:txBody>
      </p:sp>
      <p:sp>
        <p:nvSpPr>
          <p:cNvPr id="244" name="Google Shape;244;p19"/>
          <p:cNvSpPr txBox="1"/>
          <p:nvPr/>
        </p:nvSpPr>
        <p:spPr>
          <a:xfrm>
            <a:off x="1460463" y="2705032"/>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Multilingual voice Q&amp;A</a:t>
            </a:r>
            <a:endParaRPr/>
          </a:p>
        </p:txBody>
      </p:sp>
      <p:sp>
        <p:nvSpPr>
          <p:cNvPr id="245" name="Google Shape;245;p19"/>
          <p:cNvSpPr txBox="1"/>
          <p:nvPr/>
        </p:nvSpPr>
        <p:spPr>
          <a:xfrm>
            <a:off x="5206869" y="2730431"/>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Ask in Hindi (verified), or Punjabi and more by 1 Oct; hear the answer spoken back.</a:t>
            </a:r>
            <a:endParaRPr/>
          </a:p>
        </p:txBody>
      </p:sp>
      <p:cxnSp>
        <p:nvCxnSpPr>
          <p:cNvPr id="246" name="Google Shape;246;p19"/>
          <p:cNvCxnSpPr/>
          <p:nvPr/>
        </p:nvCxnSpPr>
        <p:spPr>
          <a:xfrm>
            <a:off x="711182" y="3238419"/>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47" name="Google Shape;247;p19"/>
          <p:cNvSpPr txBox="1"/>
          <p:nvPr/>
        </p:nvSpPr>
        <p:spPr>
          <a:xfrm>
            <a:off x="711182" y="3378115"/>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02</a:t>
            </a:r>
            <a:endParaRPr/>
          </a:p>
        </p:txBody>
      </p:sp>
      <p:sp>
        <p:nvSpPr>
          <p:cNvPr id="248" name="Google Shape;248;p19"/>
          <p:cNvSpPr txBox="1"/>
          <p:nvPr/>
        </p:nvSpPr>
        <p:spPr>
          <a:xfrm>
            <a:off x="1460463" y="3403514"/>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Cited answers</a:t>
            </a:r>
            <a:endParaRPr/>
          </a:p>
        </p:txBody>
      </p:sp>
      <p:sp>
        <p:nvSpPr>
          <p:cNvPr id="249" name="Google Shape;249;p19"/>
          <p:cNvSpPr txBox="1"/>
          <p:nvPr/>
        </p:nvSpPr>
        <p:spPr>
          <a:xfrm>
            <a:off x="5206869" y="3428914"/>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Every answer shows its source card: Act, section, link.</a:t>
            </a:r>
            <a:endParaRPr/>
          </a:p>
        </p:txBody>
      </p:sp>
      <p:cxnSp>
        <p:nvCxnSpPr>
          <p:cNvPr id="250" name="Google Shape;250;p19"/>
          <p:cNvCxnSpPr/>
          <p:nvPr/>
        </p:nvCxnSpPr>
        <p:spPr>
          <a:xfrm>
            <a:off x="711182" y="3936901"/>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1" name="Google Shape;251;p19"/>
          <p:cNvSpPr txBox="1"/>
          <p:nvPr/>
        </p:nvSpPr>
        <p:spPr>
          <a:xfrm>
            <a:off x="711182" y="4076598"/>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03</a:t>
            </a:r>
            <a:endParaRPr/>
          </a:p>
        </p:txBody>
      </p:sp>
      <p:sp>
        <p:nvSpPr>
          <p:cNvPr id="252" name="Google Shape;252;p19"/>
          <p:cNvSpPr txBox="1"/>
          <p:nvPr/>
        </p:nvSpPr>
        <p:spPr>
          <a:xfrm>
            <a:off x="1460463" y="4101997"/>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Refuse, don't guess</a:t>
            </a:r>
            <a:endParaRPr/>
          </a:p>
        </p:txBody>
      </p:sp>
      <p:sp>
        <p:nvSpPr>
          <p:cNvPr id="253" name="Google Shape;253;p19"/>
          <p:cNvSpPr txBox="1"/>
          <p:nvPr/>
        </p:nvSpPr>
        <p:spPr>
          <a:xfrm>
            <a:off x="5206869" y="4127396"/>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No supporting card? It says so and points to helpline 14434.</a:t>
            </a:r>
            <a:endParaRPr/>
          </a:p>
        </p:txBody>
      </p:sp>
      <p:cxnSp>
        <p:nvCxnSpPr>
          <p:cNvPr id="254" name="Google Shape;254;p19"/>
          <p:cNvCxnSpPr/>
          <p:nvPr/>
        </p:nvCxnSpPr>
        <p:spPr>
          <a:xfrm>
            <a:off x="711182" y="4635384"/>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5" name="Google Shape;255;p19"/>
          <p:cNvSpPr txBox="1"/>
          <p:nvPr/>
        </p:nvSpPr>
        <p:spPr>
          <a:xfrm>
            <a:off x="711182" y="4775080"/>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04</a:t>
            </a:r>
            <a:endParaRPr/>
          </a:p>
        </p:txBody>
      </p:sp>
      <p:sp>
        <p:nvSpPr>
          <p:cNvPr id="256" name="Google Shape;256;p19"/>
          <p:cNvSpPr txBox="1"/>
          <p:nvPr/>
        </p:nvSpPr>
        <p:spPr>
          <a:xfrm>
            <a:off x="1460463" y="4800479"/>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Schemes &amp; complaint draft</a:t>
            </a:r>
            <a:endParaRPr/>
          </a:p>
        </p:txBody>
      </p:sp>
      <p:sp>
        <p:nvSpPr>
          <p:cNvPr id="257" name="Google Shape;257;p19"/>
          <p:cNvSpPr txBox="1"/>
          <p:nvPr/>
        </p:nvSpPr>
        <p:spPr>
          <a:xfrm>
            <a:off x="5206869" y="4825879"/>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Checks e-Shram, PM-SYM and maternity eligibility, and drafts a wage-complaint letter to review.</a:t>
            </a:r>
            <a:endParaRPr/>
          </a:p>
        </p:txBody>
      </p:sp>
      <p:cxnSp>
        <p:nvCxnSpPr>
          <p:cNvPr id="258" name="Google Shape;258;p19"/>
          <p:cNvCxnSpPr/>
          <p:nvPr/>
        </p:nvCxnSpPr>
        <p:spPr>
          <a:xfrm>
            <a:off x="711182" y="5333866"/>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9" name="Google Shape;259;p19"/>
          <p:cNvSpPr txBox="1"/>
          <p:nvPr/>
        </p:nvSpPr>
        <p:spPr>
          <a:xfrm>
            <a:off x="711182" y="5473563"/>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05</a:t>
            </a:r>
            <a:endParaRPr/>
          </a:p>
        </p:txBody>
      </p:sp>
      <p:sp>
        <p:nvSpPr>
          <p:cNvPr id="260" name="Google Shape;260;p19"/>
          <p:cNvSpPr txBox="1"/>
          <p:nvPr/>
        </p:nvSpPr>
        <p:spPr>
          <a:xfrm>
            <a:off x="1460463" y="5498962"/>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Live voice conversation</a:t>
            </a:r>
            <a:endParaRPr/>
          </a:p>
        </p:txBody>
      </p:sp>
      <p:sp>
        <p:nvSpPr>
          <p:cNvPr id="261" name="Google Shape;261;p19"/>
          <p:cNvSpPr txBox="1"/>
          <p:nvPr/>
        </p:nvSpPr>
        <p:spPr>
          <a:xfrm>
            <a:off x="5206869" y="5524361"/>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200">
                <a:solidFill>
                  <a:srgbClr val="9E988E"/>
                </a:solidFill>
                <a:latin typeface="Space Grotesk"/>
                <a:ea typeface="Space Grotesk"/>
                <a:cs typeface="Space Grotesk"/>
                <a:sym typeface="Space Grotesk"/>
              </a:rPr>
              <a:t>A real spoken back-and-forth by 1 Oct, not just record-and-send.</a:t>
            </a:r>
            <a:endParaRPr/>
          </a:p>
        </p:txBody>
      </p:sp>
      <p:cxnSp>
        <p:nvCxnSpPr>
          <p:cNvPr id="262" name="Google Shape;262;p19"/>
          <p:cNvCxnSpPr/>
          <p:nvPr/>
        </p:nvCxnSpPr>
        <p:spPr>
          <a:xfrm>
            <a:off x="711182" y="6032349"/>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hot.png" id="267" name="Google Shape;267;p20"/>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68" name="Google Shape;268;p20"/>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69" name="Google Shape;269;p20"/>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08 · Baseline &amp; evaluation</a:t>
            </a:r>
            <a:endParaRPr/>
          </a:p>
        </p:txBody>
      </p:sp>
      <p:cxnSp>
        <p:nvCxnSpPr>
          <p:cNvPr id="270" name="Google Shape;270;p20"/>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71" name="Google Shape;271;p20"/>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72" name="Google Shape;272;p20"/>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08 / 10</a:t>
            </a:r>
            <a:endParaRPr/>
          </a:p>
        </p:txBody>
      </p:sp>
      <p:sp>
        <p:nvSpPr>
          <p:cNvPr id="273" name="Google Shape;273;p20"/>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BASELINE &amp; EVALUATION</a:t>
            </a:r>
            <a:endParaRPr/>
          </a:p>
        </p:txBody>
      </p:sp>
      <p:sp>
        <p:nvSpPr>
          <p:cNvPr id="274" name="Google Shape;274;p20"/>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How we'll </a:t>
            </a:r>
            <a:r>
              <a:rPr b="0" i="1" lang="en-US" sz="5000">
                <a:solidFill>
                  <a:srgbClr val="FFD27A"/>
                </a:solidFill>
                <a:latin typeface="Instrument Serif"/>
                <a:ea typeface="Instrument Serif"/>
                <a:cs typeface="Instrument Serif"/>
                <a:sym typeface="Instrument Serif"/>
              </a:rPr>
              <a:t>prove it works</a:t>
            </a:r>
            <a:endParaRPr/>
          </a:p>
        </p:txBody>
      </p:sp>
      <p:sp>
        <p:nvSpPr>
          <p:cNvPr id="275" name="Google Shape;275;p20"/>
          <p:cNvSpPr/>
          <p:nvPr/>
        </p:nvSpPr>
        <p:spPr>
          <a:xfrm>
            <a:off x="711182" y="2539936"/>
            <a:ext cx="5206869" cy="1714457"/>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20"/>
          <p:cNvSpPr txBox="1"/>
          <p:nvPr/>
        </p:nvSpPr>
        <p:spPr>
          <a:xfrm>
            <a:off x="914377" y="2717732"/>
            <a:ext cx="48258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TODAY · WITHOUT YOUR SYSTEM</a:t>
            </a:r>
            <a:endParaRPr/>
          </a:p>
        </p:txBody>
      </p:sp>
      <p:sp>
        <p:nvSpPr>
          <p:cNvPr id="277" name="Google Shape;277;p20"/>
          <p:cNvSpPr txBox="1"/>
          <p:nvPr/>
        </p:nvSpPr>
        <p:spPr>
          <a:xfrm>
            <a:off x="914377" y="2984425"/>
            <a:ext cx="4800479" cy="5079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a:solidFill>
                  <a:srgbClr val="F4EFE6"/>
                </a:solidFill>
                <a:latin typeface="Instrument Serif"/>
                <a:ea typeface="Instrument Serif"/>
                <a:cs typeface="Instrument Serif"/>
                <a:sym typeface="Instrument Serif"/>
              </a:rPr>
              <a:t>Ungrounded LLM</a:t>
            </a:r>
            <a:endParaRPr/>
          </a:p>
        </p:txBody>
      </p:sp>
      <p:sp>
        <p:nvSpPr>
          <p:cNvPr id="278" name="Google Shape;278;p20"/>
          <p:cNvSpPr txBox="1"/>
          <p:nvPr/>
        </p:nvSpPr>
        <p:spPr>
          <a:xfrm>
            <a:off x="914377" y="3619409"/>
            <a:ext cx="4800479" cy="5714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00">
                <a:solidFill>
                  <a:srgbClr val="9E988E"/>
                </a:solidFill>
                <a:latin typeface="Space Grotesk"/>
                <a:ea typeface="Space Grotesk"/>
                <a:cs typeface="Space Grotesk"/>
                <a:sym typeface="Space Grotesk"/>
              </a:rPr>
              <a:t>Same 60 Hindi questions, same LLM, no rights corpus. We measure the share of uncited or wrong answers by 1 Oct.</a:t>
            </a:r>
            <a:endParaRPr/>
          </a:p>
        </p:txBody>
      </p:sp>
      <p:sp>
        <p:nvSpPr>
          <p:cNvPr id="279" name="Google Shape;279;p20"/>
          <p:cNvSpPr/>
          <p:nvPr/>
        </p:nvSpPr>
        <p:spPr>
          <a:xfrm>
            <a:off x="6273643" y="2539936"/>
            <a:ext cx="5206869" cy="1714457"/>
          </a:xfrm>
          <a:prstGeom prst="roundRect">
            <a:avLst>
              <a:gd fmla="val 6000" name="adj"/>
            </a:avLst>
          </a:prstGeom>
          <a:solidFill>
            <a:srgbClr val="2A2110"/>
          </a:solidFill>
          <a:ln cap="flat" cmpd="sng" w="12700">
            <a:solidFill>
              <a:srgbClr val="8A68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20"/>
          <p:cNvSpPr txBox="1"/>
          <p:nvPr/>
        </p:nvSpPr>
        <p:spPr>
          <a:xfrm>
            <a:off x="6476838" y="2717732"/>
            <a:ext cx="48258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TARGET · WITH YOUR SYSTEM</a:t>
            </a:r>
            <a:endParaRPr/>
          </a:p>
        </p:txBody>
      </p:sp>
      <p:sp>
        <p:nvSpPr>
          <p:cNvPr id="281" name="Google Shape;281;p20"/>
          <p:cNvSpPr txBox="1"/>
          <p:nvPr/>
        </p:nvSpPr>
        <p:spPr>
          <a:xfrm>
            <a:off x="6476838" y="2984425"/>
            <a:ext cx="4800479" cy="5079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a:solidFill>
                  <a:srgbClr val="FFD27A"/>
                </a:solidFill>
                <a:latin typeface="Instrument Serif"/>
                <a:ea typeface="Instrument Serif"/>
                <a:cs typeface="Instrument Serif"/>
                <a:sym typeface="Instrument Serif"/>
              </a:rPr>
              <a:t>≥90% cited</a:t>
            </a:r>
            <a:endParaRPr/>
          </a:p>
        </p:txBody>
      </p:sp>
      <p:sp>
        <p:nvSpPr>
          <p:cNvPr id="282" name="Google Shape;282;p20"/>
          <p:cNvSpPr txBox="1"/>
          <p:nvPr/>
        </p:nvSpPr>
        <p:spPr>
          <a:xfrm>
            <a:off x="6476838" y="3619409"/>
            <a:ext cx="4800479" cy="5714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00">
                <a:solidFill>
                  <a:srgbClr val="9E988E"/>
                </a:solidFill>
                <a:latin typeface="Space Grotesk"/>
                <a:ea typeface="Space Grotesk"/>
                <a:cs typeface="Space Grotesk"/>
                <a:sym typeface="Space Grotesk"/>
              </a:rPr>
              <a:t>Answers whose cited card supports the claim; ≥95% of out-of-scope questions refused; under 10 s end to end.</a:t>
            </a:r>
            <a:endParaRPr/>
          </a:p>
        </p:txBody>
      </p:sp>
      <p:sp>
        <p:nvSpPr>
          <p:cNvPr id="283" name="Google Shape;283;p20"/>
          <p:cNvSpPr txBox="1"/>
          <p:nvPr/>
        </p:nvSpPr>
        <p:spPr>
          <a:xfrm>
            <a:off x="5918052" y="3206669"/>
            <a:ext cx="355591" cy="38099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3000">
                <a:solidFill>
                  <a:srgbClr val="F2B632"/>
                </a:solidFill>
                <a:latin typeface="Space Grotesk"/>
                <a:ea typeface="Space Grotesk"/>
                <a:cs typeface="Space Grotesk"/>
                <a:sym typeface="Space Grotesk"/>
              </a:rPr>
              <a:t>→</a:t>
            </a:r>
            <a:endParaRPr/>
          </a:p>
        </p:txBody>
      </p:sp>
      <p:sp>
        <p:nvSpPr>
          <p:cNvPr id="284" name="Google Shape;284;p20"/>
          <p:cNvSpPr/>
          <p:nvPr/>
        </p:nvSpPr>
        <p:spPr>
          <a:xfrm>
            <a:off x="711182" y="4508387"/>
            <a:ext cx="10769330" cy="1460463"/>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20"/>
          <p:cNvSpPr txBox="1"/>
          <p:nvPr/>
        </p:nvSpPr>
        <p:spPr>
          <a:xfrm>
            <a:off x="914377" y="4686182"/>
            <a:ext cx="10362940"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HOW YOU'LL EVALUATE IT</a:t>
            </a:r>
            <a:endParaRPr/>
          </a:p>
        </p:txBody>
      </p:sp>
      <p:sp>
        <p:nvSpPr>
          <p:cNvPr id="286" name="Google Shape;286;p20"/>
          <p:cNvSpPr txBox="1"/>
          <p:nvPr/>
        </p:nvSpPr>
        <p:spPr>
          <a:xfrm>
            <a:off x="914377" y="4952876"/>
            <a:ext cx="10362940" cy="850878"/>
          </a:xfrm>
          <a:prstGeom prst="rect">
            <a:avLst/>
          </a:prstGeom>
          <a:noFill/>
          <a:ln>
            <a:noFill/>
          </a:ln>
        </p:spPr>
        <p:txBody>
          <a:bodyPr anchorCtr="0" anchor="t" bIns="0" lIns="0" spcFirstLastPara="1" rIns="0" wrap="square" tIns="0">
            <a:spAutoFit/>
          </a:bodyPr>
          <a:lstStyle/>
          <a:p>
            <a:pPr indent="0" lvl="0" marL="0" marR="0" rtl="0" algn="l">
              <a:lnSpc>
                <a:spcPct val="125000"/>
              </a:lnSpc>
              <a:spcBef>
                <a:spcPts val="0"/>
              </a:spcBef>
              <a:spcAft>
                <a:spcPts val="0"/>
              </a:spcAft>
              <a:buNone/>
            </a:pPr>
            <a:r>
              <a:rPr b="0" i="0" lang="en-US" sz="1200">
                <a:solidFill>
                  <a:srgbClr val="9E988E"/>
                </a:solidFill>
                <a:latin typeface="Space Grotesk"/>
                <a:ea typeface="Space Grotesk"/>
                <a:cs typeface="Space Grotesk"/>
                <a:sym typeface="Space Grotesk"/>
              </a:rPr>
              <a:t>60 Hindi questions written by the builder (fluent in Hindi): 50 in scope across wages, schemes, maternity and harassment, plus 10 out-of-scope traps. Metrics: citation accuracy, correct-refusal rate, Hindi speech-to-text error rate on our own recordings, and latency. Every failure is logged per question and fixed in the cards, not hidden in the prompt.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pic>
        <p:nvPicPr>
          <p:cNvPr descr="top.png" id="291" name="Google Shape;291;p21"/>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92" name="Google Shape;292;p21"/>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93" name="Google Shape;293;p21"/>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09 · Team</a:t>
            </a:r>
            <a:endParaRPr/>
          </a:p>
        </p:txBody>
      </p:sp>
      <p:cxnSp>
        <p:nvCxnSpPr>
          <p:cNvPr id="294" name="Google Shape;294;p21"/>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95" name="Google Shape;295;p21"/>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96" name="Google Shape;296;p21"/>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09 / 10</a:t>
            </a:r>
            <a:endParaRPr/>
          </a:p>
        </p:txBody>
      </p:sp>
      <p:sp>
        <p:nvSpPr>
          <p:cNvPr id="297" name="Google Shape;297;p21"/>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TEAM</a:t>
            </a:r>
            <a:endParaRPr/>
          </a:p>
        </p:txBody>
      </p:sp>
      <p:sp>
        <p:nvSpPr>
          <p:cNvPr id="298" name="Google Shape;298;p21"/>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Mythos</a:t>
            </a:r>
            <a:endParaRPr/>
          </a:p>
        </p:txBody>
      </p:sp>
      <p:sp>
        <p:nvSpPr>
          <p:cNvPr id="310" name="Google Shape;310;p21"/>
          <p:cNvSpPr/>
          <p:nvPr/>
        </p:nvSpPr>
        <p:spPr>
          <a:xfrm>
            <a:off x="4381390" y="2666933"/>
            <a:ext cx="3428914" cy="3174920"/>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1" name="Google Shape;311;p21"/>
          <p:cNvSpPr txBox="1"/>
          <p:nvPr/>
        </p:nvSpPr>
        <p:spPr>
          <a:xfrm>
            <a:off x="4609984" y="2870128"/>
            <a:ext cx="2984425"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MEMBER 01</a:t>
            </a:r>
            <a:endParaRPr/>
          </a:p>
        </p:txBody>
      </p:sp>
      <p:sp>
        <p:nvSpPr>
          <p:cNvPr id="312" name="Google Shape;312;p21"/>
          <p:cNvSpPr txBox="1"/>
          <p:nvPr/>
        </p:nvSpPr>
        <p:spPr>
          <a:xfrm>
            <a:off x="4609984" y="3174920"/>
            <a:ext cx="2984425"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2800">
                <a:solidFill>
                  <a:srgbClr val="F4EFE6"/>
                </a:solidFill>
                <a:latin typeface="Instrument Serif"/>
                <a:ea typeface="Instrument Serif"/>
                <a:cs typeface="Instrument Serif"/>
                <a:sym typeface="Instrument Serif"/>
              </a:rPr>
              <a:t>Yash Vishnoi</a:t>
            </a:r>
            <a:endParaRPr/>
          </a:p>
        </p:txBody>
      </p:sp>
      <p:sp>
        <p:nvSpPr>
          <p:cNvPr id="313" name="Google Shape;313;p21"/>
          <p:cNvSpPr txBox="1"/>
          <p:nvPr/>
        </p:nvSpPr>
        <p:spPr>
          <a:xfrm>
            <a:off x="4609984" y="3873403"/>
            <a:ext cx="1015974"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50">
                <a:solidFill>
                  <a:srgbClr val="757068"/>
                </a:solidFill>
                <a:latin typeface="JetBrains Mono"/>
                <a:ea typeface="JetBrains Mono"/>
                <a:cs typeface="JetBrains Mono"/>
                <a:sym typeface="JetBrains Mono"/>
              </a:rPr>
              <a:t>COLLEGE</a:t>
            </a:r>
            <a:endParaRPr/>
          </a:p>
        </p:txBody>
      </p:sp>
      <p:sp>
        <p:nvSpPr>
          <p:cNvPr id="314" name="Google Shape;314;p21"/>
          <p:cNvSpPr txBox="1"/>
          <p:nvPr/>
        </p:nvSpPr>
        <p:spPr>
          <a:xfrm>
            <a:off x="5651358" y="3848003"/>
            <a:ext cx="1968450"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a:solidFill>
                  <a:srgbClr val="9E988E"/>
                </a:solidFill>
                <a:latin typeface="Space Grotesk"/>
                <a:ea typeface="Space Grotesk"/>
                <a:cs typeface="Space Grotesk"/>
                <a:sym typeface="Space Grotesk"/>
              </a:rPr>
              <a:t>Thapar Institute of Engineering and Technology</a:t>
            </a:r>
            <a:endParaRPr/>
          </a:p>
        </p:txBody>
      </p:sp>
      <p:sp>
        <p:nvSpPr>
          <p:cNvPr id="315" name="Google Shape;315;p21"/>
          <p:cNvSpPr txBox="1"/>
          <p:nvPr/>
        </p:nvSpPr>
        <p:spPr>
          <a:xfrm>
            <a:off x="4609984" y="4330591"/>
            <a:ext cx="1015974"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50">
                <a:solidFill>
                  <a:srgbClr val="757068"/>
                </a:solidFill>
                <a:latin typeface="JetBrains Mono"/>
                <a:ea typeface="JetBrains Mono"/>
                <a:cs typeface="JetBrains Mono"/>
                <a:sym typeface="JetBrains Mono"/>
              </a:rPr>
              <a:t>YEAR</a:t>
            </a:r>
            <a:endParaRPr/>
          </a:p>
        </p:txBody>
      </p:sp>
      <p:sp>
        <p:nvSpPr>
          <p:cNvPr id="316" name="Google Shape;316;p21"/>
          <p:cNvSpPr txBox="1"/>
          <p:nvPr/>
        </p:nvSpPr>
        <p:spPr>
          <a:xfrm>
            <a:off x="5651358" y="4305192"/>
            <a:ext cx="1968450"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9E988E"/>
                </a:solidFill>
                <a:latin typeface="Space Grotesk"/>
                <a:ea typeface="Space Grotesk"/>
                <a:cs typeface="Space Grotesk"/>
                <a:sym typeface="Space Grotesk"/>
              </a:rPr>
              <a:t>3rd year</a:t>
            </a:r>
            <a:endParaRPr/>
          </a:p>
        </p:txBody>
      </p:sp>
      <p:sp>
        <p:nvSpPr>
          <p:cNvPr id="317" name="Google Shape;317;p21"/>
          <p:cNvSpPr txBox="1"/>
          <p:nvPr/>
        </p:nvSpPr>
        <p:spPr>
          <a:xfrm>
            <a:off x="4609984" y="4787780"/>
            <a:ext cx="1015974"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50">
                <a:solidFill>
                  <a:srgbClr val="757068"/>
                </a:solidFill>
                <a:latin typeface="JetBrains Mono"/>
                <a:ea typeface="JetBrains Mono"/>
                <a:cs typeface="JetBrains Mono"/>
                <a:sym typeface="JetBrains Mono"/>
              </a:rPr>
              <a:t>ROLE</a:t>
            </a:r>
            <a:endParaRPr/>
          </a:p>
        </p:txBody>
      </p:sp>
      <p:sp>
        <p:nvSpPr>
          <p:cNvPr id="318" name="Google Shape;318;p21"/>
          <p:cNvSpPr txBox="1"/>
          <p:nvPr/>
        </p:nvSpPr>
        <p:spPr>
          <a:xfrm>
            <a:off x="5651358" y="4762380"/>
            <a:ext cx="1968450"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50">
                <a:solidFill>
                  <a:srgbClr val="9E988E"/>
                </a:solidFill>
                <a:latin typeface="Space Grotesk"/>
                <a:ea typeface="Space Grotesk"/>
                <a:cs typeface="Space Grotesk"/>
                <a:sym typeface="Space Grotesk"/>
              </a:rPr>
              <a:t>Entire build: idea, data, code, demo</a:t>
            </a:r>
            <a:endParaRPr/>
          </a:p>
        </p:txBody>
      </p:sp>
      <p:sp>
        <p:nvSpPr>
          <p:cNvPr id="319" name="Google Shape;319;p21"/>
          <p:cNvSpPr txBox="1"/>
          <p:nvPr/>
        </p:nvSpPr>
        <p:spPr>
          <a:xfrm>
            <a:off x="4609984" y="5244968"/>
            <a:ext cx="1015974"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850">
                <a:solidFill>
                  <a:srgbClr val="757068"/>
                </a:solidFill>
                <a:latin typeface="JetBrains Mono"/>
                <a:ea typeface="JetBrains Mono"/>
                <a:cs typeface="JetBrains Mono"/>
                <a:sym typeface="JetBrains Mono"/>
              </a:rPr>
              <a:t>LINKEDIN</a:t>
            </a:r>
            <a:endParaRPr/>
          </a:p>
        </p:txBody>
      </p:sp>
      <p:sp>
        <p:nvSpPr>
          <p:cNvPr id="320" name="Google Shape;320;p21"/>
          <p:cNvSpPr txBox="1"/>
          <p:nvPr/>
        </p:nvSpPr>
        <p:spPr>
          <a:xfrm>
            <a:off x="5651358" y="5219569"/>
            <a:ext cx="1968450"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000">
                <a:solidFill>
                  <a:srgbClr val="9E988E"/>
                </a:solidFill>
                <a:latin typeface="Space Grotesk"/>
                <a:ea typeface="Space Grotesk"/>
                <a:cs typeface="Space Grotesk"/>
                <a:sym typeface="Space Grotesk"/>
                <a:hlinkClick r:id="rIdLinkedIn"/>
              </a:rPr>
              <a:t>linkedin.com/in/yash-vishnoi-8656a7312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pic>
        <p:nvPicPr>
          <p:cNvPr descr="hot.png" id="336" name="Google Shape;336;p22"/>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337" name="Google Shape;337;p22"/>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338" name="Google Shape;338;p22"/>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Thank you</a:t>
            </a:r>
            <a:endParaRPr/>
          </a:p>
        </p:txBody>
      </p:sp>
      <p:cxnSp>
        <p:nvCxnSpPr>
          <p:cNvPr id="339" name="Google Shape;339;p22"/>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340" name="Google Shape;340;p22"/>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341" name="Google Shape;341;p22"/>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10 / 10</a:t>
            </a:r>
            <a:endParaRPr/>
          </a:p>
        </p:txBody>
      </p:sp>
      <p:sp>
        <p:nvSpPr>
          <p:cNvPr id="342" name="Google Shape;342;p22"/>
          <p:cNvSpPr txBox="1"/>
          <p:nvPr/>
        </p:nvSpPr>
        <p:spPr>
          <a:xfrm>
            <a:off x="711182" y="2984425"/>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MYTHOS · PS-06</a:t>
            </a:r>
            <a:endParaRPr/>
          </a:p>
        </p:txBody>
      </p:sp>
      <p:sp>
        <p:nvSpPr>
          <p:cNvPr id="343" name="Google Shape;343;p22"/>
          <p:cNvSpPr txBox="1"/>
          <p:nvPr/>
        </p:nvSpPr>
        <p:spPr>
          <a:xfrm>
            <a:off x="711182" y="3238419"/>
            <a:ext cx="10159746" cy="139696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0">
                <a:solidFill>
                  <a:srgbClr val="F4EFE6"/>
                </a:solidFill>
                <a:latin typeface="Instrument Serif"/>
                <a:ea typeface="Instrument Serif"/>
                <a:cs typeface="Instrument Serif"/>
                <a:sym typeface="Instrument Serif"/>
              </a:rPr>
              <a:t>Thank </a:t>
            </a:r>
            <a:r>
              <a:rPr b="0" i="1" lang="en-US" sz="11000">
                <a:solidFill>
                  <a:srgbClr val="FFD27A"/>
                </a:solidFill>
                <a:latin typeface="Instrument Serif"/>
                <a:ea typeface="Instrument Serif"/>
                <a:cs typeface="Instrument Serif"/>
                <a:sym typeface="Instrument Serif"/>
              </a:rPr>
              <a:t>you.</a:t>
            </a:r>
            <a:endParaRPr/>
          </a:p>
        </p:txBody>
      </p:sp>
      <p:sp>
        <p:nvSpPr>
          <p:cNvPr id="344" name="Google Shape;344;p22"/>
          <p:cNvSpPr txBox="1"/>
          <p:nvPr/>
        </p:nvSpPr>
        <p:spPr>
          <a:xfrm>
            <a:off x="711182" y="5079873"/>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757068"/>
                </a:solidFill>
                <a:latin typeface="JetBrains Mono"/>
                <a:ea typeface="JetBrains Mono"/>
                <a:cs typeface="JetBrains Mono"/>
                <a:sym typeface="JetBrains Mono"/>
              </a:rPr>
              <a:t>OUR PUBLIC POST</a:t>
            </a:r>
            <a:endParaRPr/>
          </a:p>
        </p:txBody>
      </p:sp>
      <p:sp>
        <p:nvSpPr>
          <p:cNvPr id="345" name="Google Shape;345;p22"/>
          <p:cNvSpPr txBox="1"/>
          <p:nvPr/>
        </p:nvSpPr>
        <p:spPr>
          <a:xfrm>
            <a:off x="711182" y="5333866"/>
            <a:ext cx="8889777" cy="31749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[Paste your LinkedIn or X post URL]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descr="hot.png" id="267" name="Google Shape;267;p20"/>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68" name="Google Shape;268;p20"/>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69" name="Google Shape;269;p20"/>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03 · The evidence</a:t>
            </a:r>
            <a:endParaRPr/>
          </a:p>
        </p:txBody>
      </p:sp>
      <p:cxnSp>
        <p:nvCxnSpPr>
          <p:cNvPr id="270" name="Google Shape;270;p20"/>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71" name="Google Shape;271;p20"/>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72" name="Google Shape;272;p20"/>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03 / 10</a:t>
            </a:r>
            <a:endParaRPr/>
          </a:p>
        </p:txBody>
      </p:sp>
      <p:sp>
        <p:nvSpPr>
          <p:cNvPr id="273" name="Google Shape;273;p20"/>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THE EVIDENCE</a:t>
            </a:r>
            <a:endParaRPr/>
          </a:p>
        </p:txBody>
      </p:sp>
      <p:sp>
        <p:nvSpPr>
          <p:cNvPr id="274" name="Google Shape;274;p20"/>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The proof </a:t>
            </a:r>
            <a:r>
              <a:rPr b="0" i="1" lang="en-US" sz="5000">
                <a:solidFill>
                  <a:srgbClr val="FFD27A"/>
                </a:solidFill>
                <a:latin typeface="Instrument Serif"/>
                <a:ea typeface="Instrument Serif"/>
                <a:cs typeface="Instrument Serif"/>
                <a:sym typeface="Instrument Serif"/>
              </a:rPr>
              <a:t>it's real</a:t>
            </a:r>
            <a:endParaRPr/>
          </a:p>
        </p:txBody>
      </p:sp>
      <p:sp>
        <p:nvSpPr>
          <p:cNvPr id="275" name="Google Shape;275;p20"/>
          <p:cNvSpPr/>
          <p:nvPr/>
        </p:nvSpPr>
        <p:spPr>
          <a:xfrm>
            <a:off x="711182" y="2539936"/>
            <a:ext cx="5206869" cy="1714457"/>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76" name="Google Shape;276;p20"/>
          <p:cNvSpPr txBox="1"/>
          <p:nvPr/>
        </p:nvSpPr>
        <p:spPr>
          <a:xfrm>
            <a:off x="914377" y="2717732"/>
            <a:ext cx="48258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BELOW MINIMUM WAGE · CASUAL WORKERS</a:t>
            </a:r>
            <a:endParaRPr/>
          </a:p>
        </p:txBody>
      </p:sp>
      <p:sp>
        <p:nvSpPr>
          <p:cNvPr id="277" name="Google Shape;277;p20"/>
          <p:cNvSpPr txBox="1"/>
          <p:nvPr/>
        </p:nvSpPr>
        <p:spPr>
          <a:xfrm>
            <a:off x="914377" y="2984425"/>
            <a:ext cx="4800479" cy="5079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a:solidFill>
                  <a:srgbClr val="F4EFE6"/>
                </a:solidFill>
                <a:latin typeface="Instrument Serif"/>
                <a:ea typeface="Instrument Serif"/>
                <a:cs typeface="Instrument Serif"/>
                <a:sym typeface="Instrument Serif"/>
              </a:rPr>
              <a:t>~70%</a:t>
            </a:r>
            <a:endParaRPr/>
          </a:p>
        </p:txBody>
      </p:sp>
      <p:sp>
        <p:nvSpPr>
          <p:cNvPr id="278" name="Google Shape;278;p20"/>
          <p:cNvSpPr txBox="1"/>
          <p:nvPr/>
        </p:nvSpPr>
        <p:spPr>
          <a:xfrm>
            <a:off x="914377" y="3619409"/>
            <a:ext cx="4800479" cy="5714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00">
                <a:solidFill>
                  <a:srgbClr val="9E988E"/>
                </a:solidFill>
                <a:latin typeface="Space Grotesk"/>
                <a:ea typeface="Space Grotesk"/>
                <a:cs typeface="Space Grotesk"/>
                <a:sym typeface="Space Grotesk"/>
              </a:rPr>
              <a:t>Chhattisgarh (Odisha ~66%, Jharkhand ~65%). SBI Research on PLFS 2025 data, May 2026.</a:t>
            </a:r>
            <a:endParaRPr/>
          </a:p>
        </p:txBody>
      </p:sp>
      <p:sp>
        <p:nvSpPr>
          <p:cNvPr id="279" name="Google Shape;279;p20"/>
          <p:cNvSpPr/>
          <p:nvPr/>
        </p:nvSpPr>
        <p:spPr>
          <a:xfrm>
            <a:off x="6273643" y="2539936"/>
            <a:ext cx="5206869" cy="1714457"/>
          </a:xfrm>
          <a:prstGeom prst="roundRect">
            <a:avLst>
              <a:gd fmla="val 6000" name="adj"/>
            </a:avLst>
          </a:prstGeom>
          <a:solidFill>
            <a:srgbClr val="2A2110"/>
          </a:solidFill>
          <a:ln cap="flat" cmpd="sng" w="12700">
            <a:solidFill>
              <a:srgbClr val="8A682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0" name="Google Shape;280;p20"/>
          <p:cNvSpPr txBox="1"/>
          <p:nvPr/>
        </p:nvSpPr>
        <p:spPr>
          <a:xfrm>
            <a:off x="6476838" y="2717732"/>
            <a:ext cx="4825879"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ENGLISH SPEAKERS · CHHATTISGARH</a:t>
            </a:r>
            <a:endParaRPr/>
          </a:p>
        </p:txBody>
      </p:sp>
      <p:sp>
        <p:nvSpPr>
          <p:cNvPr id="281" name="Google Shape;281;p20"/>
          <p:cNvSpPr txBox="1"/>
          <p:nvPr/>
        </p:nvSpPr>
        <p:spPr>
          <a:xfrm>
            <a:off x="6476838" y="2984425"/>
            <a:ext cx="4800479" cy="507987"/>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3000">
                <a:solidFill>
                  <a:srgbClr val="FFD27A"/>
                </a:solidFill>
                <a:latin typeface="Instrument Serif"/>
                <a:ea typeface="Instrument Serif"/>
                <a:cs typeface="Instrument Serif"/>
                <a:sym typeface="Instrument Serif"/>
              </a:rPr>
              <a:t>2.29%</a:t>
            </a:r>
            <a:endParaRPr/>
          </a:p>
        </p:txBody>
      </p:sp>
      <p:sp>
        <p:nvSpPr>
          <p:cNvPr id="282" name="Google Shape;282;p20"/>
          <p:cNvSpPr txBox="1"/>
          <p:nvPr/>
        </p:nvSpPr>
        <p:spPr>
          <a:xfrm>
            <a:off x="6476838" y="3619409"/>
            <a:ext cx="4800479" cy="57148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100">
                <a:solidFill>
                  <a:srgbClr val="9E988E"/>
                </a:solidFill>
                <a:latin typeface="Space Grotesk"/>
                <a:ea typeface="Space Grotesk"/>
                <a:cs typeface="Space Grotesk"/>
                <a:sym typeface="Space Grotesk"/>
              </a:rPr>
              <a:t>Hindi proficiency is 93.64%. Same state, highest below-minimum-wage rate. Census 2011.</a:t>
            </a:r>
            <a:endParaRPr/>
          </a:p>
        </p:txBody>
      </p:sp>
      <p:sp>
        <p:nvSpPr>
          <p:cNvPr id="283" name="Google Shape;283;p20"/>
          <p:cNvSpPr txBox="1"/>
          <p:nvPr/>
        </p:nvSpPr>
        <p:spPr>
          <a:xfrm>
            <a:off x="5918052" y="3206669"/>
            <a:ext cx="355591" cy="38099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3000">
                <a:solidFill>
                  <a:srgbClr val="F2B632"/>
                </a:solidFill>
                <a:latin typeface="Space Grotesk"/>
                <a:ea typeface="Space Grotesk"/>
                <a:cs typeface="Space Grotesk"/>
                <a:sym typeface="Space Grotesk"/>
              </a:rPr>
              <a:t>+</a:t>
            </a:r>
            <a:endParaRPr/>
          </a:p>
        </p:txBody>
      </p:sp>
      <p:sp>
        <p:nvSpPr>
          <p:cNvPr id="284" name="Google Shape;284;p20"/>
          <p:cNvSpPr/>
          <p:nvPr/>
        </p:nvSpPr>
        <p:spPr>
          <a:xfrm>
            <a:off x="711182" y="4508387"/>
            <a:ext cx="10769330" cy="1460463"/>
          </a:xfrm>
          <a:prstGeom prst="roundRect">
            <a:avLst>
              <a:gd fmla="val 6000" name="adj"/>
            </a:avLst>
          </a:prstGeom>
          <a:solidFill>
            <a:srgbClr val="17130E"/>
          </a:solidFill>
          <a:ln cap="flat" cmpd="sng" w="12700">
            <a:solidFill>
              <a:srgbClr val="332D2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5" name="Google Shape;285;p20"/>
          <p:cNvSpPr txBox="1"/>
          <p:nvPr/>
        </p:nvSpPr>
        <p:spPr>
          <a:xfrm>
            <a:off x="914377" y="4686182"/>
            <a:ext cx="10362940"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MORE SIGNALS</a:t>
            </a:r>
            <a:endParaRPr/>
          </a:p>
        </p:txBody>
      </p:sp>
      <p:sp>
        <p:nvSpPr>
          <p:cNvPr id="286" name="Google Shape;286;p20"/>
          <p:cNvSpPr txBox="1"/>
          <p:nvPr/>
        </p:nvSpPr>
        <p:spPr>
          <a:xfrm>
            <a:off x="914377" y="4952876"/>
            <a:ext cx="10362940" cy="850878"/>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100">
                <a:solidFill>
                  <a:srgbClr val="9E988E"/>
                </a:solidFill>
                <a:latin typeface="Space Grotesk"/>
                <a:ea typeface="Space Grotesk"/>
                <a:cs typeface="Space Grotesk"/>
                <a:sym typeface="Space Grotesk"/>
              </a:rPr>
              <a:t>89% of 11,159 stranded migrant workers went unpaid during the 2020 lockdown (SWAN survey).</a:t>
            </a:r>
            <a:endParaRPr/>
          </a:p>
          <a:p>
            <a:pPr indent="0" lvl="0" marL="0" marR="0" rtl="0" algn="l">
              <a:lnSpc>
                <a:spcPct val="115000"/>
              </a:lnSpc>
              <a:spcBef>
                <a:spcPts val="300"/>
              </a:spcBef>
              <a:spcAft>
                <a:spcPts val="0"/>
              </a:spcAft>
              <a:buNone/>
            </a:pPr>
            <a:r>
              <a:rPr b="0" i="0" lang="en-US" sz="1100">
                <a:solidFill>
                  <a:srgbClr val="9E988E"/>
                </a:solidFill>
                <a:latin typeface="Space Grotesk"/>
                <a:ea typeface="Space Grotesk"/>
                <a:cs typeface="Space Grotesk"/>
                <a:sym typeface="Space Grotesk"/>
              </a:rPr>
              <a:t>₹22,000+ crore collected for construction workers’ welfare sat unspent (Factly, 2017); 30.58 crore workers are on e-Shram (Feb 2025).</a:t>
            </a:r>
            <a:endParaRPr/>
          </a:p>
          <a:p>
            <a:pPr indent="0" lvl="0" marL="0" marR="0" rtl="0" algn="l">
              <a:lnSpc>
                <a:spcPct val="115000"/>
              </a:lnSpc>
              <a:spcBef>
                <a:spcPts val="300"/>
              </a:spcBef>
              <a:spcAft>
                <a:spcPts val="0"/>
              </a:spcAft>
              <a:buNone/>
            </a:pPr>
            <a:r>
              <a:rPr b="0" i="0" lang="en-US" sz="1100">
                <a:solidFill>
                  <a:srgbClr val="9E988E"/>
                </a:solidFill>
                <a:latin typeface="Space Grotesk"/>
                <a:ea typeface="Space Grotesk"/>
                <a:cs typeface="Space Grotesk"/>
                <a:sym typeface="Space Grotesk"/>
              </a:rPr>
              <a:t>No dedicated central law for domestic workers: the Supreme Court ordered a study in Jan 2025; the committee said none is needed (Jul 2025).</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descr="corner.png" id="234" name="Google Shape;234;p19"/>
          <p:cNvPicPr preferRelativeResize="0"/>
          <p:nvPr/>
        </p:nvPicPr>
        <p:blipFill rotWithShape="1">
          <a:blip r:embed="rId3">
            <a:alphaModFix/>
          </a:blip>
          <a:srcRect b="0" l="0" r="0" t="0"/>
          <a:stretch/>
        </p:blipFill>
        <p:spPr>
          <a:xfrm>
            <a:off x="0" y="0"/>
            <a:ext cx="12191695" cy="6857828"/>
          </a:xfrm>
          <a:prstGeom prst="rect">
            <a:avLst/>
          </a:prstGeom>
          <a:noFill/>
          <a:ln>
            <a:noFill/>
          </a:ln>
        </p:spPr>
      </p:pic>
      <p:sp>
        <p:nvSpPr>
          <p:cNvPr id="235" name="Google Shape;235;p19"/>
          <p:cNvSpPr txBox="1"/>
          <p:nvPr/>
        </p:nvSpPr>
        <p:spPr>
          <a:xfrm>
            <a:off x="711182" y="558786"/>
            <a:ext cx="4444888" cy="253993"/>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a:solidFill>
                  <a:srgbClr val="F4EFE6"/>
                </a:solidFill>
                <a:latin typeface="Space Grotesk"/>
                <a:ea typeface="Space Grotesk"/>
                <a:cs typeface="Space Grotesk"/>
                <a:sym typeface="Space Grotesk"/>
              </a:rPr>
              <a:t>✱  BFWAI/HACK 26</a:t>
            </a:r>
            <a:endParaRPr/>
          </a:p>
        </p:txBody>
      </p:sp>
      <p:sp>
        <p:nvSpPr>
          <p:cNvPr id="236" name="Google Shape;236;p19"/>
          <p:cNvSpPr txBox="1"/>
          <p:nvPr/>
        </p:nvSpPr>
        <p:spPr>
          <a:xfrm>
            <a:off x="6984825" y="571485"/>
            <a:ext cx="4495687" cy="253993"/>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1100">
                <a:solidFill>
                  <a:srgbClr val="757068"/>
                </a:solidFill>
                <a:latin typeface="Space Grotesk"/>
                <a:ea typeface="Space Grotesk"/>
                <a:cs typeface="Space Grotesk"/>
                <a:sym typeface="Space Grotesk"/>
              </a:rPr>
              <a:t>06 · Data &amp; sources</a:t>
            </a:r>
            <a:endParaRPr/>
          </a:p>
        </p:txBody>
      </p:sp>
      <p:cxnSp>
        <p:nvCxnSpPr>
          <p:cNvPr id="237" name="Google Shape;237;p19"/>
          <p:cNvCxnSpPr/>
          <p:nvPr/>
        </p:nvCxnSpPr>
        <p:spPr>
          <a:xfrm>
            <a:off x="711182" y="6286342"/>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38" name="Google Shape;238;p19"/>
          <p:cNvSpPr txBox="1"/>
          <p:nvPr/>
        </p:nvSpPr>
        <p:spPr>
          <a:xfrm>
            <a:off x="711182" y="6413339"/>
            <a:ext cx="5714857" cy="22859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a:solidFill>
                  <a:srgbClr val="F4EFE6"/>
                </a:solidFill>
                <a:latin typeface="Space Grotesk"/>
                <a:ea typeface="Space Grotesk"/>
                <a:cs typeface="Space Grotesk"/>
                <a:sym typeface="Space Grotesk"/>
              </a:rPr>
              <a:t>buildfastwithai.com/hackathon ↗</a:t>
            </a:r>
            <a:endParaRPr/>
          </a:p>
        </p:txBody>
      </p:sp>
      <p:sp>
        <p:nvSpPr>
          <p:cNvPr id="239" name="Google Shape;239;p19"/>
          <p:cNvSpPr txBox="1"/>
          <p:nvPr/>
        </p:nvSpPr>
        <p:spPr>
          <a:xfrm>
            <a:off x="8254793" y="6426039"/>
            <a:ext cx="3225719" cy="228594"/>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i="0" lang="en-US" sz="900">
                <a:solidFill>
                  <a:srgbClr val="757068"/>
                </a:solidFill>
                <a:latin typeface="JetBrains Mono"/>
                <a:ea typeface="JetBrains Mono"/>
                <a:cs typeface="JetBrains Mono"/>
                <a:sym typeface="JetBrains Mono"/>
              </a:rPr>
              <a:t>06 / 10</a:t>
            </a:r>
            <a:endParaRPr/>
          </a:p>
        </p:txBody>
      </p:sp>
      <p:sp>
        <p:nvSpPr>
          <p:cNvPr id="240" name="Google Shape;240;p19"/>
          <p:cNvSpPr txBox="1"/>
          <p:nvPr/>
        </p:nvSpPr>
        <p:spPr>
          <a:xfrm>
            <a:off x="711182" y="1206469"/>
            <a:ext cx="5714857" cy="19049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950">
                <a:solidFill>
                  <a:srgbClr val="F2B632"/>
                </a:solidFill>
                <a:latin typeface="JetBrains Mono"/>
                <a:ea typeface="JetBrains Mono"/>
                <a:cs typeface="JetBrains Mono"/>
                <a:sym typeface="JetBrains Mono"/>
              </a:rPr>
              <a:t>DATA &amp; SOURCES</a:t>
            </a:r>
            <a:endParaRPr/>
          </a:p>
        </p:txBody>
      </p:sp>
      <p:sp>
        <p:nvSpPr>
          <p:cNvPr id="241" name="Google Shape;241;p19"/>
          <p:cNvSpPr txBox="1"/>
          <p:nvPr/>
        </p:nvSpPr>
        <p:spPr>
          <a:xfrm>
            <a:off x="711182" y="1492212"/>
            <a:ext cx="10794730" cy="952476"/>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None/>
            </a:pPr>
            <a:r>
              <a:rPr b="0" i="0" lang="en-US" sz="5000">
                <a:solidFill>
                  <a:srgbClr val="F4EFE6"/>
                </a:solidFill>
                <a:latin typeface="Instrument Serif"/>
                <a:ea typeface="Instrument Serif"/>
                <a:cs typeface="Instrument Serif"/>
                <a:sym typeface="Instrument Serif"/>
              </a:rPr>
              <a:t>Where the data </a:t>
            </a:r>
            <a:r>
              <a:rPr b="0" i="1" lang="en-US" sz="5000">
                <a:solidFill>
                  <a:srgbClr val="FFD27A"/>
                </a:solidFill>
                <a:latin typeface="Instrument Serif"/>
                <a:ea typeface="Instrument Serif"/>
                <a:cs typeface="Instrument Serif"/>
                <a:sym typeface="Instrument Serif"/>
              </a:rPr>
              <a:t>comes from</a:t>
            </a:r>
            <a:endParaRPr/>
          </a:p>
        </p:txBody>
      </p:sp>
      <p:cxnSp>
        <p:nvCxnSpPr>
          <p:cNvPr id="242" name="Google Shape;242;p19"/>
          <p:cNvCxnSpPr/>
          <p:nvPr/>
        </p:nvCxnSpPr>
        <p:spPr>
          <a:xfrm>
            <a:off x="711182" y="2539936"/>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43" name="Google Shape;243;p19"/>
          <p:cNvSpPr txBox="1"/>
          <p:nvPr/>
        </p:nvSpPr>
        <p:spPr>
          <a:xfrm>
            <a:off x="711182" y="2679633"/>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01</a:t>
            </a:r>
            <a:endParaRPr/>
          </a:p>
        </p:txBody>
      </p:sp>
      <p:sp>
        <p:nvSpPr>
          <p:cNvPr id="244" name="Google Shape;244;p19"/>
          <p:cNvSpPr txBox="1"/>
          <p:nvPr/>
        </p:nvSpPr>
        <p:spPr>
          <a:xfrm>
            <a:off x="1460463" y="2705032"/>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Code on Wages, 2019</a:t>
            </a:r>
            <a:endParaRPr/>
          </a:p>
        </p:txBody>
      </p:sp>
      <p:sp>
        <p:nvSpPr>
          <p:cNvPr id="245" name="Google Shape;245;p19"/>
          <p:cNvSpPr txBox="1"/>
          <p:nvPr/>
        </p:nvSpPr>
        <p:spPr>
          <a:xfrm>
            <a:off x="5206869" y="2730431"/>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Official gazette (labour.gov.in). Minimum wage (s.5), payment deadlines (s.17) and the 3-year claim window become wage-rights cards.</a:t>
            </a:r>
            <a:endParaRPr/>
          </a:p>
        </p:txBody>
      </p:sp>
      <p:cxnSp>
        <p:nvCxnSpPr>
          <p:cNvPr id="246" name="Google Shape;246;p19"/>
          <p:cNvCxnSpPr/>
          <p:nvPr/>
        </p:nvCxnSpPr>
        <p:spPr>
          <a:xfrm>
            <a:off x="711182" y="3238419"/>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47" name="Google Shape;247;p19"/>
          <p:cNvSpPr txBox="1"/>
          <p:nvPr/>
        </p:nvSpPr>
        <p:spPr>
          <a:xfrm>
            <a:off x="711182" y="3378115"/>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02</a:t>
            </a:r>
            <a:endParaRPr/>
          </a:p>
        </p:txBody>
      </p:sp>
      <p:sp>
        <p:nvSpPr>
          <p:cNvPr id="248" name="Google Shape;248;p19"/>
          <p:cNvSpPr txBox="1"/>
          <p:nvPr/>
        </p:nvSpPr>
        <p:spPr>
          <a:xfrm>
            <a:off x="1460463" y="3403514"/>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Code on Social Security</a:t>
            </a:r>
            <a:endParaRPr/>
          </a:p>
        </p:txBody>
      </p:sp>
      <p:sp>
        <p:nvSpPr>
          <p:cNvPr id="249" name="Google Shape;249;p19"/>
          <p:cNvSpPr txBox="1"/>
          <p:nvPr/>
        </p:nvSpPr>
        <p:spPr>
          <a:xfrm>
            <a:off x="5206869" y="3428914"/>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PIB and PRS summaries. Covers unorganised and domestic workers; becomes benefits and registration cards.</a:t>
            </a:r>
            <a:endParaRPr/>
          </a:p>
        </p:txBody>
      </p:sp>
      <p:cxnSp>
        <p:nvCxnSpPr>
          <p:cNvPr id="250" name="Google Shape;250;p19"/>
          <p:cNvCxnSpPr/>
          <p:nvPr/>
        </p:nvCxnSpPr>
        <p:spPr>
          <a:xfrm>
            <a:off x="711182" y="3936901"/>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1" name="Google Shape;251;p19"/>
          <p:cNvSpPr txBox="1"/>
          <p:nvPr/>
        </p:nvSpPr>
        <p:spPr>
          <a:xfrm>
            <a:off x="711182" y="4076598"/>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03</a:t>
            </a:r>
            <a:endParaRPr/>
          </a:p>
        </p:txBody>
      </p:sp>
      <p:sp>
        <p:nvSpPr>
          <p:cNvPr id="252" name="Google Shape;252;p19"/>
          <p:cNvSpPr txBox="1"/>
          <p:nvPr/>
        </p:nvSpPr>
        <p:spPr>
          <a:xfrm>
            <a:off x="1460463" y="4101997"/>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e-Shram · PM-SYM</a:t>
            </a:r>
            <a:endParaRPr/>
          </a:p>
        </p:txBody>
      </p:sp>
      <p:sp>
        <p:nvSpPr>
          <p:cNvPr id="253" name="Google Shape;253;p19"/>
          <p:cNvSpPr txBox="1"/>
          <p:nvPr/>
        </p:nvSpPr>
        <p:spPr>
          <a:xfrm>
            <a:off x="5206869" y="4127396"/>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Official portals. Free registration and a ₹3,000 monthly pension (ages 18–40) feed the scheme matcher.</a:t>
            </a:r>
            <a:endParaRPr/>
          </a:p>
        </p:txBody>
      </p:sp>
      <p:cxnSp>
        <p:nvCxnSpPr>
          <p:cNvPr id="254" name="Google Shape;254;p19"/>
          <p:cNvCxnSpPr/>
          <p:nvPr/>
        </p:nvCxnSpPr>
        <p:spPr>
          <a:xfrm>
            <a:off x="711182" y="4635384"/>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5" name="Google Shape;255;p19"/>
          <p:cNvSpPr txBox="1"/>
          <p:nvPr/>
        </p:nvSpPr>
        <p:spPr>
          <a:xfrm>
            <a:off x="711182" y="4775080"/>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04</a:t>
            </a:r>
            <a:endParaRPr/>
          </a:p>
        </p:txBody>
      </p:sp>
      <p:sp>
        <p:nvSpPr>
          <p:cNvPr id="256" name="Google Shape;256;p19"/>
          <p:cNvSpPr txBox="1"/>
          <p:nvPr/>
        </p:nvSpPr>
        <p:spPr>
          <a:xfrm>
            <a:off x="1460463" y="4800479"/>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Maternity &amp; POSH Acts</a:t>
            </a:r>
            <a:endParaRPr/>
          </a:p>
        </p:txBody>
      </p:sp>
      <p:sp>
        <p:nvSpPr>
          <p:cNvPr id="257" name="Google Shape;257;p19"/>
          <p:cNvSpPr txBox="1"/>
          <p:nvPr/>
        </p:nvSpPr>
        <p:spPr>
          <a:xfrm>
            <a:off x="5206869" y="4825879"/>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Code on Social Security (maternity) and the POSH Act text. Maternity leave and workplace-harassment redress become two verified cards.</a:t>
            </a:r>
            <a:endParaRPr/>
          </a:p>
        </p:txBody>
      </p:sp>
      <p:cxnSp>
        <p:nvCxnSpPr>
          <p:cNvPr id="258" name="Google Shape;258;p19"/>
          <p:cNvCxnSpPr/>
          <p:nvPr/>
        </p:nvCxnSpPr>
        <p:spPr>
          <a:xfrm>
            <a:off x="711182" y="5333866"/>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
        <p:nvSpPr>
          <p:cNvPr id="259" name="Google Shape;259;p19"/>
          <p:cNvSpPr txBox="1"/>
          <p:nvPr/>
        </p:nvSpPr>
        <p:spPr>
          <a:xfrm>
            <a:off x="711182" y="5473563"/>
            <a:ext cx="634984" cy="44448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1" lang="en-US" sz="2400">
                <a:solidFill>
                  <a:srgbClr val="FFD27A"/>
                </a:solidFill>
                <a:latin typeface="Instrument Serif"/>
                <a:ea typeface="Instrument Serif"/>
                <a:cs typeface="Instrument Serif"/>
                <a:sym typeface="Instrument Serif"/>
              </a:rPr>
              <a:t>05</a:t>
            </a:r>
            <a:endParaRPr/>
          </a:p>
        </p:txBody>
      </p:sp>
      <p:sp>
        <p:nvSpPr>
          <p:cNvPr id="260" name="Google Shape;260;p19"/>
          <p:cNvSpPr txBox="1"/>
          <p:nvPr/>
        </p:nvSpPr>
        <p:spPr>
          <a:xfrm>
            <a:off x="1460463" y="5498962"/>
            <a:ext cx="3555911"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00">
                <a:solidFill>
                  <a:srgbClr val="F4EFE6"/>
                </a:solidFill>
                <a:latin typeface="Space Grotesk"/>
                <a:ea typeface="Space Grotesk"/>
                <a:cs typeface="Space Grotesk"/>
                <a:sym typeface="Space Grotesk"/>
              </a:rPr>
              <a:t>How we use it</a:t>
            </a:r>
            <a:endParaRPr/>
          </a:p>
        </p:txBody>
      </p:sp>
      <p:sp>
        <p:nvSpPr>
          <p:cNvPr id="261" name="Google Shape;261;p19"/>
          <p:cNvSpPr txBox="1"/>
          <p:nvPr/>
        </p:nvSpPr>
        <p:spPr>
          <a:xfrm>
            <a:off x="5206869" y="5524361"/>
            <a:ext cx="6273643" cy="38099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100">
                <a:solidFill>
                  <a:srgbClr val="9E988E"/>
                </a:solidFill>
                <a:latin typeface="Space Grotesk"/>
                <a:ea typeface="Space Grotesk"/>
                <a:cs typeface="Space Grotesk"/>
                <a:sym typeface="Space Grotesk"/>
              </a:rPr>
              <a:t>Each source becomes a short English rights card with section and link; the LLM answers in the user’s language but only from a cited card, or refuses.</a:t>
            </a:r>
            <a:endParaRPr/>
          </a:p>
        </p:txBody>
      </p:sp>
      <p:cxnSp>
        <p:nvCxnSpPr>
          <p:cNvPr id="262" name="Google Shape;262;p19"/>
          <p:cNvCxnSpPr/>
          <p:nvPr/>
        </p:nvCxnSpPr>
        <p:spPr>
          <a:xfrm>
            <a:off x="711182" y="6032349"/>
            <a:ext cx="10769330" cy="0"/>
          </a:xfrm>
          <a:prstGeom prst="straightConnector1">
            <a:avLst/>
          </a:prstGeom>
          <a:noFill/>
          <a:ln cap="flat" cmpd="sng" w="9525">
            <a:solidFill>
              <a:srgbClr val="332D25"/>
            </a:solidFill>
            <a:prstDash val="solid"/>
            <a:round/>
            <a:headEnd len="sm" w="sm" type="none"/>
            <a:tailEnd len="sm" w="sm" type="none"/>
          </a:ln>
          <a:effectLst>
            <a:outerShdw blurRad="40000" rotWithShape="0" dir="5400000" dist="20000">
              <a:srgbClr val="000000">
                <a:alpha val="38039"/>
              </a:srgbClr>
            </a:outerShdw>
          </a:effectLst>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
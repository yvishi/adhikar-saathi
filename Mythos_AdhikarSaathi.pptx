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Override PartName="/ppt/slides/slide11.xml" ContentType="application/vnd.openxmlformats-officedocument.presentationml.slide+xml"/>
  <Override PartName="/ppt/slides/slide12.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9" r:id="rId9"/>
    <p:sldId id="266" r:id="rId24"/>
    <p:sldId id="260" r:id="rId10"/>
    <p:sldId id="261" r:id="rId11"/>
    <p:sldId id="267" r:id="rId25"/>
    <p:sldId id="262" r:id="rId12"/>
    <p:sldId id="263" r:id="rId13"/>
    <p:sldId id="264" r:id="rId14"/>
    <p:sldId id="265" r:id="rId15"/>
  </p:sldIdLst>
  <p:sldSz cy="6857825" cx="12191675"/>
  <p:notesSz cx="6858000" cy="9144000"/>
  <p:embeddedFontLst>
    <p:embeddedFont>
      <p:font typeface="Instrument Serif"/>
      <p:regular r:id="rId16"/>
      <p:italic r:id="rId17"/>
    </p:embeddedFont>
    <p:embeddedFont>
      <p:font typeface="JetBrains Mono"/>
      <p:regular r:id="rId18"/>
      <p:bold r:id="rId19"/>
      <p:italic r:id="rId20"/>
      <p:boldItalic r:id="rId21"/>
    </p:embeddedFont>
    <p:embeddedFont>
      <p:font typeface="Space Grotesk"/>
      <p:regular r:id="rId22"/>
      <p:bold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Relationships xmlns="http://schemas.openxmlformats.org/package/2006/relationships"><Relationship Id="rId20" Type="http://schemas.openxmlformats.org/officeDocument/2006/relationships/font" Target="fonts/JetBrainsMono-italic.fntdata"/><Relationship Id="rId11" Type="http://schemas.openxmlformats.org/officeDocument/2006/relationships/slide" Target="slides/slide6.xml"/><Relationship Id="rId22" Type="http://schemas.openxmlformats.org/officeDocument/2006/relationships/font" Target="fonts/SpaceGrotesk-regular.fntdata"/><Relationship Id="rId10" Type="http://schemas.openxmlformats.org/officeDocument/2006/relationships/slide" Target="slides/slide5.xml"/><Relationship Id="rId21" Type="http://schemas.openxmlformats.org/officeDocument/2006/relationships/font" Target="fonts/JetBrainsMono-boldItalic.fntdata"/><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font" Target="fonts/SpaceGrotesk-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InstrumentSerif-italic.fntdata"/><Relationship Id="rId16" Type="http://schemas.openxmlformats.org/officeDocument/2006/relationships/font" Target="fonts/InstrumentSerif-regular.fntdata"/><Relationship Id="rId5" Type="http://schemas.openxmlformats.org/officeDocument/2006/relationships/notesMaster" Target="notesMasters/notesMaster1.xml"/><Relationship Id="rId19" Type="http://schemas.openxmlformats.org/officeDocument/2006/relationships/font" Target="fonts/JetBrainsMono-bold.fntdata"/><Relationship Id="rId6" Type="http://schemas.openxmlformats.org/officeDocument/2006/relationships/slide" Target="slides/slide1.xml"/><Relationship Id="rId18" Type="http://schemas.openxmlformats.org/officeDocument/2006/relationships/font" Target="fonts/JetBrainsMono-regular.fntdata"/>  <Relationship Id="rId24" Type="http://schemas.openxmlformats.org/officeDocument/2006/relationships/slide" Target="slides/slide11.xml"/>
  <Relationship Id="rId25" Type="http://schemas.openxmlformats.org/officeDocument/2006/relationships/slide" Target="slides/slide12.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LinkedIn" Type="http://schemas.openxmlformats.org/officeDocument/2006/relationships/hyperlink" Target="https://www.linkedin.com/in/yash-vishnoi-8656a7312/"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descr="hot.png" id="84" name="Google Shape;84;p13"/>
          <p:cNvPicPr preferRelativeResize="0"/>
          <p:nvPr/>
        </p:nvPicPr>
        <p:blipFill rotWithShape="1">
          <a:blip r:embed="rId3">
            <a:alphaModFix/>
          </a:blip>
          <a:srcRect b="0" l="0" r="0" t="0"/>
          <a:stretch/>
        </p:blipFill>
        <p:spPr>
          <a:xfrm>
            <a:off x="0" y="0"/>
            <a:ext cx="12191695" cy="6857828"/>
          </a:xfrm>
          <a:prstGeom prst="rect">
            <a:avLst/>
          </a:prstGeom>
          <a:noFill/>
          <a:ln>
            <a:noFill/>
          </a:ln>
        </p:spPr>
      </p:pic>
      <p:sp>
        <p:nvSpPr>
          <p:cNvPr id="85" name="Google Shape;85;p13"/>
          <p:cNvSpPr txBox="1"/>
          <p:nvPr/>
        </p:nvSpPr>
        <p:spPr>
          <a:xfrm>
            <a:off x="711182" y="558786"/>
            <a:ext cx="4444888" cy="25399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F4EFE6"/>
                </a:solidFill>
                <a:latin typeface="Space Grotesk"/>
                <a:ea typeface="Space Grotesk"/>
                <a:cs typeface="Space Grotesk"/>
                <a:sym typeface="Space Grotesk"/>
              </a:rPr>
              <a:t>✱  BFWAI/HACK 26</a:t>
            </a:r>
            <a:endParaRPr/>
          </a:p>
        </p:txBody>
      </p:sp>
      <p:sp>
        <p:nvSpPr>
          <p:cNvPr id="86" name="Google Shape;86;p13"/>
          <p:cNvSpPr txBox="1"/>
          <p:nvPr/>
        </p:nvSpPr>
        <p:spPr>
          <a:xfrm>
            <a:off x="6984825" y="571485"/>
            <a:ext cx="4495687" cy="253993"/>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100" u="none" cap="none" strike="noStrike">
                <a:solidFill>
                  <a:srgbClr val="757068"/>
                </a:solidFill>
                <a:latin typeface="Space Grotesk"/>
                <a:ea typeface="Space Grotesk"/>
                <a:cs typeface="Space Grotesk"/>
                <a:sym typeface="Space Grotesk"/>
              </a:rPr>
              <a:t>Idea submission</a:t>
            </a:r>
            <a:endParaRPr/>
          </a:p>
        </p:txBody>
      </p:sp>
      <p:cxnSp>
        <p:nvCxnSpPr>
          <p:cNvPr id="87" name="Google Shape;87;p13"/>
          <p:cNvCxnSpPr/>
          <p:nvPr/>
        </p:nvCxnSpPr>
        <p:spPr>
          <a:xfrm>
            <a:off x="711182" y="6286342"/>
            <a:ext cx="10769330" cy="0"/>
          </a:xfrm>
          <a:prstGeom prst="straightConnector1">
            <a:avLst/>
          </a:prstGeom>
          <a:noFill/>
          <a:ln cap="flat" cmpd="sng" w="9525">
            <a:solidFill>
              <a:srgbClr val="332D25"/>
            </a:solidFill>
            <a:prstDash val="solid"/>
            <a:round/>
            <a:headEnd len="sm" w="sm" type="none"/>
            <a:tailEnd len="sm" w="sm" type="none"/>
          </a:ln>
          <a:effectLst>
            <a:outerShdw blurRad="40000" rotWithShape="0" dir="5400000" dist="20000">
              <a:srgbClr val="000000">
                <a:alpha val="38039"/>
              </a:srgbClr>
            </a:outerShdw>
          </a:effectLst>
        </p:spPr>
      </p:cxnSp>
      <p:sp>
        <p:nvSpPr>
          <p:cNvPr id="88" name="Google Shape;88;p13"/>
          <p:cNvSpPr txBox="1"/>
          <p:nvPr/>
        </p:nvSpPr>
        <p:spPr>
          <a:xfrm>
            <a:off x="711182" y="6413339"/>
            <a:ext cx="5714857" cy="22859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u="none" cap="none" strike="noStrike">
                <a:solidFill>
                  <a:srgbClr val="F4EFE6"/>
                </a:solidFill>
                <a:latin typeface="Space Grotesk"/>
                <a:ea typeface="Space Grotesk"/>
                <a:cs typeface="Space Grotesk"/>
                <a:sym typeface="Space Grotesk"/>
              </a:rPr>
              <a:t>buildfastwithai.com/hackathon ↗</a:t>
            </a:r>
            <a:endParaRPr/>
          </a:p>
        </p:txBody>
      </p:sp>
      <p:sp>
        <p:nvSpPr>
          <p:cNvPr id="89" name="Google Shape;89;p13"/>
          <p:cNvSpPr txBox="1"/>
          <p:nvPr/>
        </p:nvSpPr>
        <p:spPr>
          <a:xfrm>
            <a:off x="8254793" y="6426039"/>
            <a:ext cx="3225719" cy="228594"/>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00" u="none" cap="none" strike="noStrike">
                <a:solidFill>
                  <a:srgbClr val="757068"/>
                </a:solidFill>
                <a:latin typeface="JetBrains Mono"/>
                <a:ea typeface="JetBrains Mono"/>
                <a:cs typeface="JetBrains Mono"/>
                <a:sym typeface="JetBrains Mono"/>
              </a:rPr>
              <a:t>01 / 10</a:t>
            </a:r>
            <a:endParaRPr/>
          </a:p>
        </p:txBody>
      </p:sp>
      <p:sp>
        <p:nvSpPr>
          <p:cNvPr id="90" name="Google Shape;90;p13"/>
          <p:cNvSpPr txBox="1"/>
          <p:nvPr/>
        </p:nvSpPr>
        <p:spPr>
          <a:xfrm>
            <a:off x="711182" y="1904952"/>
            <a:ext cx="5714857"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u="none" cap="none" strike="noStrike">
                <a:solidFill>
                  <a:srgbClr val="F2B632"/>
                </a:solidFill>
                <a:latin typeface="JetBrains Mono"/>
                <a:ea typeface="JetBrains Mono"/>
                <a:cs typeface="JetBrains Mono"/>
                <a:sym typeface="JetBrains Mono"/>
              </a:rPr>
              <a:t>AI BUILD CHALLENGE 2026 · IDEA DECK</a:t>
            </a:r>
            <a:endParaRPr/>
          </a:p>
        </p:txBody>
      </p:sp>
      <p:sp>
        <p:nvSpPr>
          <p:cNvPr id="91" name="Google Shape;91;p13"/>
          <p:cNvSpPr txBox="1"/>
          <p:nvPr/>
        </p:nvSpPr>
        <p:spPr>
          <a:xfrm>
            <a:off x="711182" y="2222444"/>
            <a:ext cx="9524761" cy="1650958"/>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0" i="0" lang="en-US" sz="9600" u="none" cap="none" strike="noStrike">
                <a:solidFill>
                  <a:srgbClr val="F4EFE6"/>
                </a:solidFill>
                <a:latin typeface="Instrument Serif"/>
                <a:ea typeface="Instrument Serif"/>
                <a:cs typeface="Instrument Serif"/>
                <a:sym typeface="Instrument Serif"/>
              </a:rPr>
              <a:t>Adhikar Saathi</a:t>
            </a:r>
            <a:endParaRPr/>
          </a:p>
        </p:txBody>
      </p:sp>
      <p:sp>
        <p:nvSpPr>
          <p:cNvPr id="92" name="Google Shape;92;p13"/>
          <p:cNvSpPr txBox="1"/>
          <p:nvPr/>
        </p:nvSpPr>
        <p:spPr>
          <a:xfrm>
            <a:off x="711182" y="3555911"/>
            <a:ext cx="8889777" cy="76198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1" lang="en-US" sz="2800" u="none" cap="none" strike="noStrike">
                <a:solidFill>
                  <a:srgbClr val="FFD27A"/>
                </a:solidFill>
                <a:latin typeface="Instrument Serif"/>
                <a:ea typeface="Instrument Serif"/>
                <a:cs typeface="Instrument Serif"/>
                <a:sym typeface="Instrument Serif"/>
              </a:rPr>
              <a:t>A Hindi voice assistant that tells daily-wage workers their legal rights, with the law cited.</a:t>
            </a:r>
            <a:endParaRPr/>
          </a:p>
        </p:txBody>
      </p:sp>
      <p:sp>
        <p:nvSpPr>
          <p:cNvPr id="93" name="Google Shape;93;p13"/>
          <p:cNvSpPr txBox="1"/>
          <p:nvPr/>
        </p:nvSpPr>
        <p:spPr>
          <a:xfrm>
            <a:off x="711182" y="5016374"/>
            <a:ext cx="3301917"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u="none" cap="none" strike="noStrike">
                <a:solidFill>
                  <a:srgbClr val="757068"/>
                </a:solidFill>
                <a:latin typeface="JetBrains Mono"/>
                <a:ea typeface="JetBrains Mono"/>
                <a:cs typeface="JetBrains Mono"/>
                <a:sym typeface="JetBrains Mono"/>
              </a:rPr>
              <a:t>TEAM</a:t>
            </a:r>
            <a:endParaRPr/>
          </a:p>
        </p:txBody>
      </p:sp>
      <p:sp>
        <p:nvSpPr>
          <p:cNvPr id="94" name="Google Shape;94;p13"/>
          <p:cNvSpPr txBox="1"/>
          <p:nvPr/>
        </p:nvSpPr>
        <p:spPr>
          <a:xfrm>
            <a:off x="711182" y="5270368"/>
            <a:ext cx="3428914"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700" u="none" cap="none" strike="noStrike">
                <a:solidFill>
                  <a:srgbClr val="F4EFE6"/>
                </a:solidFill>
                <a:latin typeface="Space Grotesk"/>
                <a:ea typeface="Space Grotesk"/>
                <a:cs typeface="Space Grotesk"/>
                <a:sym typeface="Space Grotesk"/>
              </a:rPr>
              <a:t>Mythos</a:t>
            </a:r>
            <a:endParaRPr/>
          </a:p>
        </p:txBody>
      </p:sp>
      <p:sp>
        <p:nvSpPr>
          <p:cNvPr id="95" name="Google Shape;95;p13"/>
          <p:cNvSpPr txBox="1"/>
          <p:nvPr/>
        </p:nvSpPr>
        <p:spPr>
          <a:xfrm>
            <a:off x="4330591" y="5016374"/>
            <a:ext cx="3301917"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u="none" cap="none" strike="noStrike">
                <a:solidFill>
                  <a:srgbClr val="757068"/>
                </a:solidFill>
                <a:latin typeface="JetBrains Mono"/>
                <a:ea typeface="JetBrains Mono"/>
                <a:cs typeface="JetBrains Mono"/>
                <a:sym typeface="JetBrains Mono"/>
              </a:rPr>
              <a:t>PROBLEM STATEMENT</a:t>
            </a:r>
            <a:endParaRPr/>
          </a:p>
        </p:txBody>
      </p:sp>
      <p:sp>
        <p:nvSpPr>
          <p:cNvPr id="96" name="Google Shape;96;p13"/>
          <p:cNvSpPr txBox="1"/>
          <p:nvPr/>
        </p:nvSpPr>
        <p:spPr>
          <a:xfrm>
            <a:off x="4330591" y="5270368"/>
            <a:ext cx="3428914"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700" u="none" cap="none" strike="noStrike">
                <a:solidFill>
                  <a:srgbClr val="F4EFE6"/>
                </a:solidFill>
                <a:latin typeface="Space Grotesk"/>
                <a:ea typeface="Space Grotesk"/>
                <a:cs typeface="Space Grotesk"/>
                <a:sym typeface="Space Grotesk"/>
              </a:rPr>
              <a:t>PS-06 · AI for Bharat in Indian Languages</a:t>
            </a:r>
            <a:endParaRPr/>
          </a:p>
        </p:txBody>
      </p:sp>
      <p:sp>
        <p:nvSpPr>
          <p:cNvPr id="97" name="Google Shape;97;p13"/>
          <p:cNvSpPr txBox="1"/>
          <p:nvPr/>
        </p:nvSpPr>
        <p:spPr>
          <a:xfrm>
            <a:off x="7950001" y="5016374"/>
            <a:ext cx="3301917"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u="none" cap="none" strike="noStrike">
                <a:solidFill>
                  <a:srgbClr val="757068"/>
                </a:solidFill>
                <a:latin typeface="JetBrains Mono"/>
                <a:ea typeface="JetBrains Mono"/>
                <a:cs typeface="JetBrains Mono"/>
                <a:sym typeface="JetBrains Mono"/>
              </a:rPr>
              <a:t>MEMBERS</a:t>
            </a:r>
            <a:endParaRPr/>
          </a:p>
        </p:txBody>
      </p:sp>
      <p:sp>
        <p:nvSpPr>
          <p:cNvPr id="98" name="Google Shape;98;p13"/>
          <p:cNvSpPr txBox="1"/>
          <p:nvPr/>
        </p:nvSpPr>
        <p:spPr>
          <a:xfrm>
            <a:off x="7950001" y="5270368"/>
            <a:ext cx="3428914"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700" u="none" cap="none" strike="noStrike">
                <a:solidFill>
                  <a:srgbClr val="F4EFE6"/>
                </a:solidFill>
                <a:latin typeface="Space Grotesk"/>
                <a:ea typeface="Space Grotesk"/>
                <a:cs typeface="Space Grotesk"/>
                <a:sym typeface="Space Grotesk"/>
              </a:rPr>
              <a:t>Yash Vishnoi</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pic>
        <p:nvPicPr>
          <p:cNvPr descr="corner.png" id="168" name="Google Shape;168;p16"/>
          <p:cNvPicPr preferRelativeResize="0"/>
          <p:nvPr/>
        </p:nvPicPr>
        <p:blipFill rotWithShape="1">
          <a:blip r:embed="rId3">
            <a:alphaModFix/>
          </a:blip>
          <a:srcRect b="0" l="0" r="0" t="0"/>
          <a:stretch/>
        </p:blipFill>
        <p:spPr>
          <a:xfrm>
            <a:off x="0" y="0"/>
            <a:ext cx="12191695" cy="6857828"/>
          </a:xfrm>
          <a:prstGeom prst="rect">
            <a:avLst/>
          </a:prstGeom>
          <a:noFill/>
          <a:ln>
            <a:noFill/>
          </a:ln>
        </p:spPr>
      </p:pic>
      <p:sp>
        <p:nvSpPr>
          <p:cNvPr id="169" name="Google Shape;169;p16"/>
          <p:cNvSpPr txBox="1"/>
          <p:nvPr/>
        </p:nvSpPr>
        <p:spPr>
          <a:xfrm>
            <a:off x="711182" y="558786"/>
            <a:ext cx="4444888" cy="25399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a:solidFill>
                  <a:srgbClr val="F4EFE6"/>
                </a:solidFill>
                <a:latin typeface="Space Grotesk"/>
                <a:ea typeface="Space Grotesk"/>
                <a:cs typeface="Space Grotesk"/>
                <a:sym typeface="Space Grotesk"/>
              </a:rPr>
              <a:t>✱  BFWAI/HACK 26</a:t>
            </a:r>
            <a:endParaRPr/>
          </a:p>
        </p:txBody>
      </p:sp>
      <p:sp>
        <p:nvSpPr>
          <p:cNvPr id="170" name="Google Shape;170;p16"/>
          <p:cNvSpPr txBox="1"/>
          <p:nvPr/>
        </p:nvSpPr>
        <p:spPr>
          <a:xfrm>
            <a:off x="6984825" y="571485"/>
            <a:ext cx="4495687" cy="253993"/>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100">
                <a:solidFill>
                  <a:srgbClr val="757068"/>
                </a:solidFill>
                <a:latin typeface="Space Grotesk"/>
                <a:ea typeface="Space Grotesk"/>
                <a:cs typeface="Space Grotesk"/>
                <a:sym typeface="Space Grotesk"/>
              </a:rPr>
              <a:t>02 · The problem</a:t>
            </a:r>
            <a:endParaRPr/>
          </a:p>
        </p:txBody>
      </p:sp>
      <p:cxnSp>
        <p:nvCxnSpPr>
          <p:cNvPr id="171" name="Google Shape;171;p16"/>
          <p:cNvCxnSpPr/>
          <p:nvPr/>
        </p:nvCxnSpPr>
        <p:spPr>
          <a:xfrm>
            <a:off x="711182" y="6286342"/>
            <a:ext cx="10769330" cy="0"/>
          </a:xfrm>
          <a:prstGeom prst="straightConnector1">
            <a:avLst/>
          </a:prstGeom>
          <a:noFill/>
          <a:ln cap="flat" cmpd="sng" w="9525">
            <a:solidFill>
              <a:srgbClr val="332D25"/>
            </a:solidFill>
            <a:prstDash val="solid"/>
            <a:round/>
            <a:headEnd len="sm" w="sm" type="none"/>
            <a:tailEnd len="sm" w="sm" type="none"/>
          </a:ln>
          <a:effectLst>
            <a:outerShdw blurRad="40000" rotWithShape="0" dir="5400000" dist="20000">
              <a:srgbClr val="000000">
                <a:alpha val="38039"/>
              </a:srgbClr>
            </a:outerShdw>
          </a:effectLst>
        </p:spPr>
      </p:cxnSp>
      <p:sp>
        <p:nvSpPr>
          <p:cNvPr id="172" name="Google Shape;172;p16"/>
          <p:cNvSpPr txBox="1"/>
          <p:nvPr/>
        </p:nvSpPr>
        <p:spPr>
          <a:xfrm>
            <a:off x="711182" y="6413339"/>
            <a:ext cx="5714857" cy="22859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a:solidFill>
                  <a:srgbClr val="F4EFE6"/>
                </a:solidFill>
                <a:latin typeface="Space Grotesk"/>
                <a:ea typeface="Space Grotesk"/>
                <a:cs typeface="Space Grotesk"/>
                <a:sym typeface="Space Grotesk"/>
              </a:rPr>
              <a:t>buildfastwithai.com/hackathon ↗</a:t>
            </a:r>
            <a:endParaRPr/>
          </a:p>
        </p:txBody>
      </p:sp>
      <p:sp>
        <p:nvSpPr>
          <p:cNvPr id="173" name="Google Shape;173;p16"/>
          <p:cNvSpPr txBox="1"/>
          <p:nvPr/>
        </p:nvSpPr>
        <p:spPr>
          <a:xfrm>
            <a:off x="8254793" y="6426039"/>
            <a:ext cx="3225719" cy="228594"/>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00">
                <a:solidFill>
                  <a:srgbClr val="757068"/>
                </a:solidFill>
                <a:latin typeface="JetBrains Mono"/>
                <a:ea typeface="JetBrains Mono"/>
                <a:cs typeface="JetBrains Mono"/>
                <a:sym typeface="JetBrains Mono"/>
              </a:rPr>
              <a:t>02 / 10</a:t>
            </a:r>
            <a:endParaRPr/>
          </a:p>
        </p:txBody>
      </p:sp>
      <p:sp>
        <p:nvSpPr>
          <p:cNvPr id="174" name="Google Shape;174;p16"/>
          <p:cNvSpPr txBox="1"/>
          <p:nvPr/>
        </p:nvSpPr>
        <p:spPr>
          <a:xfrm>
            <a:off x="711182" y="1206469"/>
            <a:ext cx="5714857"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THE PROBLEM</a:t>
            </a:r>
            <a:endParaRPr/>
          </a:p>
        </p:txBody>
      </p:sp>
      <p:sp>
        <p:nvSpPr>
          <p:cNvPr id="175" name="Google Shape;175;p16"/>
          <p:cNvSpPr txBox="1"/>
          <p:nvPr/>
        </p:nvSpPr>
        <p:spPr>
          <a:xfrm>
            <a:off x="711182" y="1492212"/>
            <a:ext cx="10794730" cy="952476"/>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0" i="0" lang="en-US" sz="5000">
                <a:solidFill>
                  <a:srgbClr val="F4EFE6"/>
                </a:solidFill>
                <a:latin typeface="Instrument Serif"/>
                <a:ea typeface="Instrument Serif"/>
                <a:cs typeface="Instrument Serif"/>
                <a:sym typeface="Instrument Serif"/>
              </a:rPr>
              <a:t>The problem </a:t>
            </a:r>
            <a:r>
              <a:rPr b="0" i="1" lang="en-US" sz="5000">
                <a:solidFill>
                  <a:srgbClr val="FFD27A"/>
                </a:solidFill>
                <a:latin typeface="Instrument Serif"/>
                <a:ea typeface="Instrument Serif"/>
                <a:cs typeface="Instrument Serif"/>
                <a:sym typeface="Instrument Serif"/>
              </a:rPr>
              <a:t>we're solving</a:t>
            </a:r>
            <a:endParaRPr/>
          </a:p>
        </p:txBody>
      </p:sp>
      <p:sp>
        <p:nvSpPr>
          <p:cNvPr id="176" name="Google Shape;176;p16"/>
          <p:cNvSpPr/>
          <p:nvPr/>
        </p:nvSpPr>
        <p:spPr>
          <a:xfrm>
            <a:off x="711182" y="2539936"/>
            <a:ext cx="5206869" cy="1587460"/>
          </a:xfrm>
          <a:prstGeom prst="roundRect">
            <a:avLst>
              <a:gd fmla="val 6000" name="adj"/>
            </a:avLst>
          </a:prstGeom>
          <a:solidFill>
            <a:srgbClr val="17130E"/>
          </a:solidFill>
          <a:ln cap="flat" cmpd="sng" w="12700">
            <a:solidFill>
              <a:srgbClr val="332D2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7" name="Google Shape;177;p16"/>
          <p:cNvSpPr txBox="1"/>
          <p:nvPr/>
        </p:nvSpPr>
        <p:spPr>
          <a:xfrm>
            <a:off x="914377" y="2717732"/>
            <a:ext cx="4800479"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PROBLEM STATEMENT</a:t>
            </a:r>
            <a:endParaRPr/>
          </a:p>
        </p:txBody>
      </p:sp>
      <p:sp>
        <p:nvSpPr>
          <p:cNvPr id="178" name="Google Shape;178;p16"/>
          <p:cNvSpPr txBox="1"/>
          <p:nvPr/>
        </p:nvSpPr>
        <p:spPr>
          <a:xfrm>
            <a:off x="914377" y="2984425"/>
            <a:ext cx="4800479" cy="977875"/>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1500">
                <a:solidFill>
                  <a:srgbClr val="9E988E"/>
                </a:solidFill>
                <a:latin typeface="Instrument Serif"/>
                <a:ea typeface="Instrument Serif"/>
                <a:cs typeface="Instrument Serif"/>
                <a:sym typeface="Instrument Serif"/>
              </a:rPr>
              <a:t>PS-06 · AI for Bharat in Indian Languages</a:t>
            </a:r>
            <a:endParaRPr/>
          </a:p>
          <a:p>
            <a:pPr indent="0" lvl="0" marL="0" marR="0" rtl="0" algn="l">
              <a:lnSpc>
                <a:spcPct val="125000"/>
              </a:lnSpc>
              <a:spcBef>
                <a:spcPts val="0"/>
              </a:spcBef>
              <a:spcAft>
                <a:spcPts val="0"/>
              </a:spcAft>
              <a:buNone/>
            </a:pPr>
            <a:r>
              <a:rPr b="0" i="0" lang="en-US" sz="1500">
                <a:solidFill>
                  <a:srgbClr val="9E988E"/>
                </a:solidFill>
                <a:latin typeface="Instrument Serif"/>
                <a:ea typeface="Instrument Serif"/>
                <a:cs typeface="Instrument Serif"/>
                <a:sym typeface="Instrument Serif"/>
              </a:rPr>
              <a:t>Informal workers can't find out, in Hindi and in a form they can trust, what the law says they are owed.</a:t>
            </a:r>
            <a:endParaRPr/>
          </a:p>
        </p:txBody>
      </p:sp>
      <p:sp>
        <p:nvSpPr>
          <p:cNvPr id="179" name="Google Shape;179;p16"/>
          <p:cNvSpPr/>
          <p:nvPr/>
        </p:nvSpPr>
        <p:spPr>
          <a:xfrm>
            <a:off x="6273643" y="2539936"/>
            <a:ext cx="5206869" cy="1587460"/>
          </a:xfrm>
          <a:prstGeom prst="roundRect">
            <a:avLst>
              <a:gd fmla="val 6000" name="adj"/>
            </a:avLst>
          </a:prstGeom>
          <a:solidFill>
            <a:srgbClr val="17130E"/>
          </a:solidFill>
          <a:ln cap="flat" cmpd="sng" w="12700">
            <a:solidFill>
              <a:srgbClr val="332D2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0" name="Google Shape;180;p16"/>
          <p:cNvSpPr txBox="1"/>
          <p:nvPr/>
        </p:nvSpPr>
        <p:spPr>
          <a:xfrm>
            <a:off x="6476838" y="2717732"/>
            <a:ext cx="4800479"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WHO FACES IT</a:t>
            </a:r>
            <a:endParaRPr/>
          </a:p>
        </p:txBody>
      </p:sp>
      <p:sp>
        <p:nvSpPr>
          <p:cNvPr id="181" name="Google Shape;181;p16"/>
          <p:cNvSpPr txBox="1"/>
          <p:nvPr/>
        </p:nvSpPr>
        <p:spPr>
          <a:xfrm>
            <a:off x="6476838" y="2984425"/>
            <a:ext cx="4800479" cy="977875"/>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1200">
                <a:solidFill>
                  <a:srgbClr val="9E988E"/>
                </a:solidFill>
                <a:latin typeface="Space Grotesk"/>
                <a:ea typeface="Space Grotesk"/>
                <a:cs typeface="Space Grotesk"/>
                <a:sym typeface="Space Grotesk"/>
              </a:rPr>
              <a:t>Hindi-speaking daily-wage, construction and domestic workers, mostly in UP, Bihar, Chhattisgarh and Jharkhand, with low literacy and often only a basic phone.</a:t>
            </a:r>
            <a:endParaRPr/>
          </a:p>
        </p:txBody>
      </p:sp>
      <p:sp>
        <p:nvSpPr>
          <p:cNvPr id="182" name="Google Shape;182;p16"/>
          <p:cNvSpPr/>
          <p:nvPr/>
        </p:nvSpPr>
        <p:spPr>
          <a:xfrm>
            <a:off x="711182" y="4381390"/>
            <a:ext cx="10769330" cy="1587460"/>
          </a:xfrm>
          <a:prstGeom prst="roundRect">
            <a:avLst>
              <a:gd fmla="val 6000" name="adj"/>
            </a:avLst>
          </a:prstGeom>
          <a:solidFill>
            <a:srgbClr val="17130E"/>
          </a:solidFill>
          <a:ln cap="flat" cmpd="sng" w="12700">
            <a:solidFill>
              <a:srgbClr val="332D2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3" name="Google Shape;183;p16"/>
          <p:cNvSpPr txBox="1"/>
          <p:nvPr/>
        </p:nvSpPr>
        <p:spPr>
          <a:xfrm>
            <a:off x="914377" y="4559186"/>
            <a:ext cx="10362940"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WHAT IT COSTS THEM TODAY</a:t>
            </a:r>
            <a:endParaRPr/>
          </a:p>
        </p:txBody>
      </p:sp>
      <p:sp>
        <p:nvSpPr>
          <p:cNvPr id="184" name="Google Shape;184;p16"/>
          <p:cNvSpPr txBox="1"/>
          <p:nvPr/>
        </p:nvSpPr>
        <p:spPr>
          <a:xfrm>
            <a:off x="914377" y="4825879"/>
            <a:ext cx="10362940" cy="977875"/>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200">
                <a:solidFill>
                  <a:srgbClr val="9E988E"/>
                </a:solidFill>
                <a:latin typeface="Space Grotesk"/>
                <a:ea typeface="Space Grotesk"/>
                <a:cs typeface="Space Grotesk"/>
                <a:sym typeface="Space Grotesk"/>
              </a:rPr>
              <a:t>Underpaid: about 65–70% of casual workers in Chhattisgarh, Odisha and Jharkhand earn below the legal minimum wage.</a:t>
            </a:r>
            <a:endParaRPr/>
          </a:p>
          <a:p>
            <a:pPr indent="0" lvl="0" marL="0" marR="0" rtl="0" algn="l">
              <a:lnSpc>
                <a:spcPct val="115000"/>
              </a:lnSpc>
              <a:spcBef>
                <a:spcPts val="400"/>
              </a:spcBef>
              <a:spcAft>
                <a:spcPts val="0"/>
              </a:spcAft>
              <a:buNone/>
            </a:pPr>
            <a:r>
              <a:rPr b="0" i="0" lang="en-US" sz="1200">
                <a:solidFill>
                  <a:srgbClr val="9E988E"/>
                </a:solidFill>
                <a:latin typeface="Space Grotesk"/>
                <a:ea typeface="Space Grotesk"/>
                <a:cs typeface="Space Grotesk"/>
                <a:sym typeface="Space Grotesk"/>
              </a:rPr>
              <a:t>Locked out: the law and government portals are English-first, yet only 2–5% of people in Chhattisgarh and Jharkhand know English.</a:t>
            </a:r>
            <a:endParaRPr/>
          </a:p>
          <a:p>
            <a:pPr indent="0" lvl="0" marL="0" marR="0" rtl="0" algn="l">
              <a:lnSpc>
                <a:spcPct val="115000"/>
              </a:lnSpc>
              <a:spcBef>
                <a:spcPts val="400"/>
              </a:spcBef>
              <a:spcAft>
                <a:spcPts val="0"/>
              </a:spcAft>
              <a:buNone/>
            </a:pPr>
            <a:r>
              <a:rPr b="0" i="0" lang="en-US" sz="1200">
                <a:solidFill>
                  <a:srgbClr val="9E988E"/>
                </a:solidFill>
                <a:latin typeface="Space Grotesk"/>
                <a:ea typeface="Space Grotesk"/>
                <a:cs typeface="Space Grotesk"/>
                <a:sym typeface="Space Grotesk"/>
              </a:rPr>
              <a:t>Time-bound: wage claims must be filed within 3 years, so not knowing your rights can mean losing them.</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pic>
        <p:nvPicPr>
          <p:cNvPr descr="top.png" id="189" name="Google Shape;189;p17"/>
          <p:cNvPicPr preferRelativeResize="0"/>
          <p:nvPr/>
        </p:nvPicPr>
        <p:blipFill rotWithShape="1">
          <a:blip r:embed="rId3">
            <a:alphaModFix/>
          </a:blip>
          <a:srcRect b="0" l="0" r="0" t="0"/>
          <a:stretch/>
        </p:blipFill>
        <p:spPr>
          <a:xfrm>
            <a:off x="0" y="0"/>
            <a:ext cx="12191695" cy="6857828"/>
          </a:xfrm>
          <a:prstGeom prst="rect">
            <a:avLst/>
          </a:prstGeom>
          <a:noFill/>
          <a:ln>
            <a:noFill/>
          </a:ln>
        </p:spPr>
      </p:pic>
      <p:sp>
        <p:nvSpPr>
          <p:cNvPr id="190" name="Google Shape;190;p17"/>
          <p:cNvSpPr txBox="1"/>
          <p:nvPr/>
        </p:nvSpPr>
        <p:spPr>
          <a:xfrm>
            <a:off x="711182" y="558786"/>
            <a:ext cx="4444888" cy="25399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a:solidFill>
                  <a:srgbClr val="F4EFE6"/>
                </a:solidFill>
                <a:latin typeface="Space Grotesk"/>
                <a:ea typeface="Space Grotesk"/>
                <a:cs typeface="Space Grotesk"/>
                <a:sym typeface="Space Grotesk"/>
              </a:rPr>
              <a:t>✱  BFWAI/HACK 26</a:t>
            </a:r>
            <a:endParaRPr/>
          </a:p>
        </p:txBody>
      </p:sp>
      <p:sp>
        <p:nvSpPr>
          <p:cNvPr id="191" name="Google Shape;191;p17"/>
          <p:cNvSpPr txBox="1"/>
          <p:nvPr/>
        </p:nvSpPr>
        <p:spPr>
          <a:xfrm>
            <a:off x="6984825" y="571485"/>
            <a:ext cx="4495687" cy="253993"/>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100">
                <a:solidFill>
                  <a:srgbClr val="757068"/>
                </a:solidFill>
                <a:latin typeface="Space Grotesk"/>
                <a:ea typeface="Space Grotesk"/>
                <a:cs typeface="Space Grotesk"/>
                <a:sym typeface="Space Grotesk"/>
              </a:rPr>
              <a:t>04 · Solution overview</a:t>
            </a:r>
            <a:endParaRPr/>
          </a:p>
        </p:txBody>
      </p:sp>
      <p:cxnSp>
        <p:nvCxnSpPr>
          <p:cNvPr id="192" name="Google Shape;192;p17"/>
          <p:cNvCxnSpPr/>
          <p:nvPr/>
        </p:nvCxnSpPr>
        <p:spPr>
          <a:xfrm>
            <a:off x="711182" y="6286342"/>
            <a:ext cx="10769330" cy="0"/>
          </a:xfrm>
          <a:prstGeom prst="straightConnector1">
            <a:avLst/>
          </a:prstGeom>
          <a:noFill/>
          <a:ln cap="flat" cmpd="sng" w="9525">
            <a:solidFill>
              <a:srgbClr val="332D25"/>
            </a:solidFill>
            <a:prstDash val="solid"/>
            <a:round/>
            <a:headEnd len="sm" w="sm" type="none"/>
            <a:tailEnd len="sm" w="sm" type="none"/>
          </a:ln>
          <a:effectLst>
            <a:outerShdw blurRad="40000" rotWithShape="0" dir="5400000" dist="20000">
              <a:srgbClr val="000000">
                <a:alpha val="38039"/>
              </a:srgbClr>
            </a:outerShdw>
          </a:effectLst>
        </p:spPr>
      </p:cxnSp>
      <p:sp>
        <p:nvSpPr>
          <p:cNvPr id="193" name="Google Shape;193;p17"/>
          <p:cNvSpPr txBox="1"/>
          <p:nvPr/>
        </p:nvSpPr>
        <p:spPr>
          <a:xfrm>
            <a:off x="711182" y="6413339"/>
            <a:ext cx="5714857" cy="22859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a:solidFill>
                  <a:srgbClr val="F4EFE6"/>
                </a:solidFill>
                <a:latin typeface="Space Grotesk"/>
                <a:ea typeface="Space Grotesk"/>
                <a:cs typeface="Space Grotesk"/>
                <a:sym typeface="Space Grotesk"/>
              </a:rPr>
              <a:t>buildfastwithai.com/hackathon ↗</a:t>
            </a:r>
            <a:endParaRPr/>
          </a:p>
        </p:txBody>
      </p:sp>
      <p:sp>
        <p:nvSpPr>
          <p:cNvPr id="194" name="Google Shape;194;p17"/>
          <p:cNvSpPr txBox="1"/>
          <p:nvPr/>
        </p:nvSpPr>
        <p:spPr>
          <a:xfrm>
            <a:off x="8254793" y="6426039"/>
            <a:ext cx="3225719" cy="228594"/>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00">
                <a:solidFill>
                  <a:srgbClr val="757068"/>
                </a:solidFill>
                <a:latin typeface="JetBrains Mono"/>
                <a:ea typeface="JetBrains Mono"/>
                <a:cs typeface="JetBrains Mono"/>
                <a:sym typeface="JetBrains Mono"/>
              </a:rPr>
              <a:t>04 / 10</a:t>
            </a:r>
            <a:endParaRPr/>
          </a:p>
        </p:txBody>
      </p:sp>
      <p:sp>
        <p:nvSpPr>
          <p:cNvPr id="195" name="Google Shape;195;p17"/>
          <p:cNvSpPr txBox="1"/>
          <p:nvPr/>
        </p:nvSpPr>
        <p:spPr>
          <a:xfrm>
            <a:off x="711182" y="1206469"/>
            <a:ext cx="5714857"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SOLUTION OVERVIEW</a:t>
            </a:r>
            <a:endParaRPr/>
          </a:p>
        </p:txBody>
      </p:sp>
      <p:sp>
        <p:nvSpPr>
          <p:cNvPr id="196" name="Google Shape;196;p17"/>
          <p:cNvSpPr txBox="1"/>
          <p:nvPr/>
        </p:nvSpPr>
        <p:spPr>
          <a:xfrm>
            <a:off x="711182" y="1492212"/>
            <a:ext cx="10794730" cy="952476"/>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0" i="0" lang="en-US" sz="5000">
                <a:solidFill>
                  <a:srgbClr val="F4EFE6"/>
                </a:solidFill>
                <a:latin typeface="Instrument Serif"/>
                <a:ea typeface="Instrument Serif"/>
                <a:cs typeface="Instrument Serif"/>
                <a:sym typeface="Instrument Serif"/>
              </a:rPr>
              <a:t>What </a:t>
            </a:r>
            <a:r>
              <a:rPr b="0" i="1" lang="en-US" sz="5000">
                <a:solidFill>
                  <a:srgbClr val="FFD27A"/>
                </a:solidFill>
                <a:latin typeface="Instrument Serif"/>
                <a:ea typeface="Instrument Serif"/>
                <a:cs typeface="Instrument Serif"/>
                <a:sym typeface="Instrument Serif"/>
              </a:rPr>
              <a:t>we're building</a:t>
            </a:r>
            <a:endParaRPr/>
          </a:p>
        </p:txBody>
      </p:sp>
      <p:sp>
        <p:nvSpPr>
          <p:cNvPr id="197" name="Google Shape;197;p17"/>
          <p:cNvSpPr/>
          <p:nvPr/>
        </p:nvSpPr>
        <p:spPr>
          <a:xfrm>
            <a:off x="711182" y="2539936"/>
            <a:ext cx="10769330" cy="1587460"/>
          </a:xfrm>
          <a:prstGeom prst="roundRect">
            <a:avLst>
              <a:gd fmla="val 6000" name="adj"/>
            </a:avLst>
          </a:prstGeom>
          <a:solidFill>
            <a:srgbClr val="17130E"/>
          </a:solidFill>
          <a:ln cap="flat" cmpd="sng" w="12700">
            <a:solidFill>
              <a:srgbClr val="332D2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8" name="Google Shape;198;p17"/>
          <p:cNvSpPr txBox="1"/>
          <p:nvPr/>
        </p:nvSpPr>
        <p:spPr>
          <a:xfrm>
            <a:off x="914377" y="2717732"/>
            <a:ext cx="10362940"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IN TWO OR THREE LINES</a:t>
            </a:r>
            <a:endParaRPr/>
          </a:p>
        </p:txBody>
      </p:sp>
      <p:sp>
        <p:nvSpPr>
          <p:cNvPr id="199" name="Google Shape;199;p17"/>
          <p:cNvSpPr txBox="1"/>
          <p:nvPr/>
        </p:nvSpPr>
        <p:spPr>
          <a:xfrm>
            <a:off x="914377" y="2984425"/>
            <a:ext cx="10362940" cy="977875"/>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700">
                <a:solidFill>
                  <a:srgbClr val="9E988E"/>
                </a:solidFill>
                <a:latin typeface="Instrument Serif"/>
                <a:ea typeface="Instrument Serif"/>
                <a:cs typeface="Instrument Serif"/>
                <a:sym typeface="Instrument Serif"/>
              </a:rPr>
              <a:t>A Hindi voice assistant for daily-wage, construction and domestic workers. Ask out loud and it answers in spoken Hindi, with the exact law or scheme cited, or says it does not know and points to the helpline.</a:t>
            </a:r>
            <a:endParaRPr/>
          </a:p>
        </p:txBody>
      </p:sp>
      <p:sp>
        <p:nvSpPr>
          <p:cNvPr id="200" name="Google Shape;200;p17"/>
          <p:cNvSpPr/>
          <p:nvPr/>
        </p:nvSpPr>
        <p:spPr>
          <a:xfrm>
            <a:off x="711182" y="4381390"/>
            <a:ext cx="5206869" cy="1587460"/>
          </a:xfrm>
          <a:prstGeom prst="roundRect">
            <a:avLst>
              <a:gd fmla="val 6000" name="adj"/>
            </a:avLst>
          </a:prstGeom>
          <a:solidFill>
            <a:srgbClr val="17130E"/>
          </a:solidFill>
          <a:ln cap="flat" cmpd="sng" w="12700">
            <a:solidFill>
              <a:srgbClr val="332D2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1" name="Google Shape;201;p17"/>
          <p:cNvSpPr txBox="1"/>
          <p:nvPr/>
        </p:nvSpPr>
        <p:spPr>
          <a:xfrm>
            <a:off x="914377" y="4559186"/>
            <a:ext cx="4800479"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WHAT THE USER DOES</a:t>
            </a:r>
            <a:endParaRPr/>
          </a:p>
        </p:txBody>
      </p:sp>
      <p:sp>
        <p:nvSpPr>
          <p:cNvPr id="202" name="Google Shape;202;p17"/>
          <p:cNvSpPr txBox="1"/>
          <p:nvPr/>
        </p:nvSpPr>
        <p:spPr>
          <a:xfrm>
            <a:off x="914377" y="4825879"/>
            <a:ext cx="4800479" cy="977875"/>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1200">
                <a:solidFill>
                  <a:srgbClr val="9E988E"/>
                </a:solidFill>
                <a:latin typeface="Space Grotesk"/>
                <a:ea typeface="Space Grotesk"/>
                <a:cs typeface="Space Grotesk"/>
                <a:sym typeface="Space Grotesk"/>
              </a:rPr>
              <a:t>Presses the mic and asks in Hindi, for example </a:t>
            </a:r>
            <a:r>
              <a:rPr b="0" i="0" lang="hi-IN" sz="1200">
                <a:solidFill>
                  <a:srgbClr val="9E988E"/>
                </a:solidFill>
                <a:latin typeface="Space Grotesk"/>
                <a:ea typeface="Space Grotesk"/>
                <a:cs typeface="Nirmala UI"/>
                <a:sym typeface="Space Grotesk"/>
              </a:rPr>
              <a:t>“ठेकेदार ने मजदूरी नहीं दी, मैं क्या करूँ?”</a:t>
            </a:r>
            <a:r>
              <a:rPr b="0" i="0" lang="en-US" sz="1200">
                <a:solidFill>
                  <a:srgbClr val="9E988E"/>
                </a:solidFill>
                <a:latin typeface="Space Grotesk"/>
                <a:ea typeface="Space Grotesk"/>
                <a:cs typeface="Space Grotesk"/>
                <a:sym typeface="Space Grotesk"/>
              </a:rPr>
              <a:t> No typing, no English, no forms.</a:t>
            </a:r>
            <a:endParaRPr/>
          </a:p>
        </p:txBody>
      </p:sp>
      <p:sp>
        <p:nvSpPr>
          <p:cNvPr id="203" name="Google Shape;203;p17"/>
          <p:cNvSpPr/>
          <p:nvPr/>
        </p:nvSpPr>
        <p:spPr>
          <a:xfrm>
            <a:off x="6273643" y="4381390"/>
            <a:ext cx="5206869" cy="1587460"/>
          </a:xfrm>
          <a:prstGeom prst="roundRect">
            <a:avLst>
              <a:gd fmla="val 6000" name="adj"/>
            </a:avLst>
          </a:prstGeom>
          <a:solidFill>
            <a:srgbClr val="17130E"/>
          </a:solidFill>
          <a:ln cap="flat" cmpd="sng" w="12700">
            <a:solidFill>
              <a:srgbClr val="332D2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4" name="Google Shape;204;p17"/>
          <p:cNvSpPr txBox="1"/>
          <p:nvPr/>
        </p:nvSpPr>
        <p:spPr>
          <a:xfrm>
            <a:off x="6476838" y="4559186"/>
            <a:ext cx="4800479"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WHAT THEY GET BACK</a:t>
            </a:r>
            <a:endParaRPr/>
          </a:p>
        </p:txBody>
      </p:sp>
      <p:sp>
        <p:nvSpPr>
          <p:cNvPr id="205" name="Google Shape;205;p17"/>
          <p:cNvSpPr txBox="1"/>
          <p:nvPr/>
        </p:nvSpPr>
        <p:spPr>
          <a:xfrm>
            <a:off x="6476838" y="4825879"/>
            <a:ext cx="4800479" cy="977875"/>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1200">
                <a:solidFill>
                  <a:srgbClr val="9E988E"/>
                </a:solidFill>
                <a:latin typeface="Space Grotesk"/>
                <a:ea typeface="Space Grotesk"/>
                <a:cs typeface="Space Grotesk"/>
                <a:sym typeface="Space Grotesk"/>
              </a:rPr>
              <a:t>A spoken Hindi answer, a source card (Act, section, link) with an English transcript, and a next-step card: who to call or where to complain.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pic>
        <p:nvPicPr>
          <p:cNvPr descr="left.png" id="210" name="Google Shape;210;p18"/>
          <p:cNvPicPr preferRelativeResize="0"/>
          <p:nvPr/>
        </p:nvPicPr>
        <p:blipFill rotWithShape="1">
          <a:blip r:embed="rId3">
            <a:alphaModFix/>
          </a:blip>
          <a:srcRect b="0" l="0" r="0" t="0"/>
          <a:stretch/>
        </p:blipFill>
        <p:spPr>
          <a:xfrm>
            <a:off x="0" y="0"/>
            <a:ext cx="12191695" cy="6857828"/>
          </a:xfrm>
          <a:prstGeom prst="rect">
            <a:avLst/>
          </a:prstGeom>
          <a:noFill/>
          <a:ln>
            <a:noFill/>
          </a:ln>
        </p:spPr>
      </p:pic>
      <p:sp>
        <p:nvSpPr>
          <p:cNvPr id="211" name="Google Shape;211;p18"/>
          <p:cNvSpPr txBox="1"/>
          <p:nvPr/>
        </p:nvSpPr>
        <p:spPr>
          <a:xfrm>
            <a:off x="711182" y="558786"/>
            <a:ext cx="4444888" cy="25399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a:solidFill>
                  <a:srgbClr val="F4EFE6"/>
                </a:solidFill>
                <a:latin typeface="Space Grotesk"/>
                <a:ea typeface="Space Grotesk"/>
                <a:cs typeface="Space Grotesk"/>
                <a:sym typeface="Space Grotesk"/>
              </a:rPr>
              <a:t>✱  BFWAI/HACK 26</a:t>
            </a:r>
            <a:endParaRPr/>
          </a:p>
        </p:txBody>
      </p:sp>
      <p:sp>
        <p:nvSpPr>
          <p:cNvPr id="212" name="Google Shape;212;p18"/>
          <p:cNvSpPr txBox="1"/>
          <p:nvPr/>
        </p:nvSpPr>
        <p:spPr>
          <a:xfrm>
            <a:off x="6984825" y="571485"/>
            <a:ext cx="4495687" cy="253993"/>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100">
                <a:solidFill>
                  <a:srgbClr val="757068"/>
                </a:solidFill>
                <a:latin typeface="Space Grotesk"/>
                <a:ea typeface="Space Grotesk"/>
                <a:cs typeface="Space Grotesk"/>
                <a:sym typeface="Space Grotesk"/>
              </a:rPr>
              <a:t>05 · Technical approach</a:t>
            </a:r>
            <a:endParaRPr/>
          </a:p>
        </p:txBody>
      </p:sp>
      <p:cxnSp>
        <p:nvCxnSpPr>
          <p:cNvPr id="213" name="Google Shape;213;p18"/>
          <p:cNvCxnSpPr/>
          <p:nvPr/>
        </p:nvCxnSpPr>
        <p:spPr>
          <a:xfrm>
            <a:off x="711182" y="6286342"/>
            <a:ext cx="10769330" cy="0"/>
          </a:xfrm>
          <a:prstGeom prst="straightConnector1">
            <a:avLst/>
          </a:prstGeom>
          <a:noFill/>
          <a:ln cap="flat" cmpd="sng" w="9525">
            <a:solidFill>
              <a:srgbClr val="332D25"/>
            </a:solidFill>
            <a:prstDash val="solid"/>
            <a:round/>
            <a:headEnd len="sm" w="sm" type="none"/>
            <a:tailEnd len="sm" w="sm" type="none"/>
          </a:ln>
          <a:effectLst>
            <a:outerShdw blurRad="40000" rotWithShape="0" dir="5400000" dist="20000">
              <a:srgbClr val="000000">
                <a:alpha val="38039"/>
              </a:srgbClr>
            </a:outerShdw>
          </a:effectLst>
        </p:spPr>
      </p:cxnSp>
      <p:sp>
        <p:nvSpPr>
          <p:cNvPr id="214" name="Google Shape;214;p18"/>
          <p:cNvSpPr txBox="1"/>
          <p:nvPr/>
        </p:nvSpPr>
        <p:spPr>
          <a:xfrm>
            <a:off x="711182" y="6413339"/>
            <a:ext cx="5714857" cy="22859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a:solidFill>
                  <a:srgbClr val="F4EFE6"/>
                </a:solidFill>
                <a:latin typeface="Space Grotesk"/>
                <a:ea typeface="Space Grotesk"/>
                <a:cs typeface="Space Grotesk"/>
                <a:sym typeface="Space Grotesk"/>
              </a:rPr>
              <a:t>buildfastwithai.com/hackathon ↗</a:t>
            </a:r>
            <a:endParaRPr/>
          </a:p>
        </p:txBody>
      </p:sp>
      <p:sp>
        <p:nvSpPr>
          <p:cNvPr id="215" name="Google Shape;215;p18"/>
          <p:cNvSpPr txBox="1"/>
          <p:nvPr/>
        </p:nvSpPr>
        <p:spPr>
          <a:xfrm>
            <a:off x="8254793" y="6426039"/>
            <a:ext cx="3225719" cy="228594"/>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00">
                <a:solidFill>
                  <a:srgbClr val="757068"/>
                </a:solidFill>
                <a:latin typeface="JetBrains Mono"/>
                <a:ea typeface="JetBrains Mono"/>
                <a:cs typeface="JetBrains Mono"/>
                <a:sym typeface="JetBrains Mono"/>
              </a:rPr>
              <a:t>05 / 10</a:t>
            </a:r>
            <a:endParaRPr/>
          </a:p>
        </p:txBody>
      </p:sp>
      <p:sp>
        <p:nvSpPr>
          <p:cNvPr id="216" name="Google Shape;216;p18"/>
          <p:cNvSpPr txBox="1"/>
          <p:nvPr/>
        </p:nvSpPr>
        <p:spPr>
          <a:xfrm>
            <a:off x="711182" y="1206469"/>
            <a:ext cx="5714857"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TECHNICAL APPROACH</a:t>
            </a:r>
            <a:endParaRPr/>
          </a:p>
        </p:txBody>
      </p:sp>
      <p:sp>
        <p:nvSpPr>
          <p:cNvPr id="217" name="Google Shape;217;p18"/>
          <p:cNvSpPr txBox="1"/>
          <p:nvPr/>
        </p:nvSpPr>
        <p:spPr>
          <a:xfrm>
            <a:off x="711182" y="1492212"/>
            <a:ext cx="10794730" cy="952476"/>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0" i="0" lang="en-US" sz="5000">
                <a:solidFill>
                  <a:srgbClr val="F4EFE6"/>
                </a:solidFill>
                <a:latin typeface="Instrument Serif"/>
                <a:ea typeface="Instrument Serif"/>
                <a:cs typeface="Instrument Serif"/>
                <a:sym typeface="Instrument Serif"/>
              </a:rPr>
              <a:t>How </a:t>
            </a:r>
            <a:r>
              <a:rPr b="0" i="1" lang="en-US" sz="5000">
                <a:solidFill>
                  <a:srgbClr val="FFD27A"/>
                </a:solidFill>
                <a:latin typeface="Instrument Serif"/>
                <a:ea typeface="Instrument Serif"/>
                <a:cs typeface="Instrument Serif"/>
                <a:sym typeface="Instrument Serif"/>
              </a:rPr>
              <a:t>it works</a:t>
            </a:r>
            <a:endParaRPr/>
          </a:p>
        </p:txBody>
      </p:sp>
      <p:sp>
        <p:nvSpPr>
          <p:cNvPr id="218" name="Google Shape;218;p18"/>
          <p:cNvSpPr/>
          <p:nvPr/>
        </p:nvSpPr>
        <p:spPr>
          <a:xfrm>
            <a:off x="711182" y="2539936"/>
            <a:ext cx="5206869" cy="1587460"/>
          </a:xfrm>
          <a:prstGeom prst="roundRect">
            <a:avLst>
              <a:gd fmla="val 6000" name="adj"/>
            </a:avLst>
          </a:prstGeom>
          <a:solidFill>
            <a:srgbClr val="17130E"/>
          </a:solidFill>
          <a:ln cap="flat" cmpd="sng" w="12700">
            <a:solidFill>
              <a:srgbClr val="332D2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9" name="Google Shape;219;p18"/>
          <p:cNvSpPr txBox="1"/>
          <p:nvPr/>
        </p:nvSpPr>
        <p:spPr>
          <a:xfrm>
            <a:off x="914377" y="2717732"/>
            <a:ext cx="4800479"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MODELS</a:t>
            </a:r>
            <a:endParaRPr/>
          </a:p>
        </p:txBody>
      </p:sp>
      <p:sp>
        <p:nvSpPr>
          <p:cNvPr id="220" name="Google Shape;220;p18"/>
          <p:cNvSpPr txBox="1"/>
          <p:nvPr/>
        </p:nvSpPr>
        <p:spPr>
          <a:xfrm>
            <a:off x="914377" y="2984425"/>
            <a:ext cx="4800479" cy="977875"/>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1200">
                <a:solidFill>
                  <a:srgbClr val="9E988E"/>
                </a:solidFill>
                <a:latin typeface="Space Grotesk"/>
                <a:ea typeface="Space Grotesk"/>
                <a:cs typeface="Space Grotesk"/>
                <a:sym typeface="Space Grotesk"/>
              </a:rPr>
              <a:t>Sarvam speech-to-text for Hindi and Hinglish, then an LLM that answers only from retrieved rights cards and must cite one, then Sarvam text-to-speech. Turn-based, not a live stream.</a:t>
            </a:r>
            <a:endParaRPr/>
          </a:p>
        </p:txBody>
      </p:sp>
      <p:sp>
        <p:nvSpPr>
          <p:cNvPr id="221" name="Google Shape;221;p18"/>
          <p:cNvSpPr/>
          <p:nvPr/>
        </p:nvSpPr>
        <p:spPr>
          <a:xfrm>
            <a:off x="6273643" y="2539936"/>
            <a:ext cx="5206869" cy="1587460"/>
          </a:xfrm>
          <a:prstGeom prst="roundRect">
            <a:avLst>
              <a:gd fmla="val 6000" name="adj"/>
            </a:avLst>
          </a:prstGeom>
          <a:solidFill>
            <a:srgbClr val="17130E"/>
          </a:solidFill>
          <a:ln cap="flat" cmpd="sng" w="12700">
            <a:solidFill>
              <a:srgbClr val="332D2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2" name="Google Shape;222;p18"/>
          <p:cNvSpPr txBox="1"/>
          <p:nvPr/>
        </p:nvSpPr>
        <p:spPr>
          <a:xfrm>
            <a:off x="6476838" y="2717732"/>
            <a:ext cx="4800479"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TOOLS &amp; FRAMEWORKS</a:t>
            </a:r>
            <a:endParaRPr/>
          </a:p>
        </p:txBody>
      </p:sp>
      <p:sp>
        <p:nvSpPr>
          <p:cNvPr id="223" name="Google Shape;223;p18"/>
          <p:cNvSpPr txBox="1"/>
          <p:nvPr/>
        </p:nvSpPr>
        <p:spPr>
          <a:xfrm>
            <a:off x="6476838" y="2984425"/>
            <a:ext cx="4800479" cy="977875"/>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1200">
                <a:solidFill>
                  <a:srgbClr val="9E988E"/>
                </a:solidFill>
                <a:latin typeface="Space Grotesk"/>
                <a:ea typeface="Space Grotesk"/>
                <a:cs typeface="Space Grotesk"/>
                <a:sym typeface="Space Grotesk"/>
              </a:rPr>
              <a:t>RAG over about 15–20 curated Hindi rights cards in a vector store, a small rule table for scheme eligibility, and a web app with a mic button. Answer = retrieved card plus citation, or a refusal.</a:t>
            </a:r>
            <a:endParaRPr/>
          </a:p>
        </p:txBody>
      </p:sp>
      <p:sp>
        <p:nvSpPr>
          <p:cNvPr id="224" name="Google Shape;224;p18"/>
          <p:cNvSpPr/>
          <p:nvPr/>
        </p:nvSpPr>
        <p:spPr>
          <a:xfrm>
            <a:off x="711182" y="4381390"/>
            <a:ext cx="5206869" cy="1587460"/>
          </a:xfrm>
          <a:prstGeom prst="roundRect">
            <a:avLst>
              <a:gd fmla="val 6000" name="adj"/>
            </a:avLst>
          </a:prstGeom>
          <a:solidFill>
            <a:srgbClr val="17130E"/>
          </a:solidFill>
          <a:ln cap="flat" cmpd="sng" w="12700">
            <a:solidFill>
              <a:srgbClr val="332D2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5" name="Google Shape;225;p18"/>
          <p:cNvSpPr txBox="1"/>
          <p:nvPr/>
        </p:nvSpPr>
        <p:spPr>
          <a:xfrm>
            <a:off x="914377" y="4559186"/>
            <a:ext cx="4800479"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DATA</a:t>
            </a:r>
            <a:endParaRPr/>
          </a:p>
        </p:txBody>
      </p:sp>
      <p:sp>
        <p:nvSpPr>
          <p:cNvPr id="226" name="Google Shape;226;p18"/>
          <p:cNvSpPr txBox="1"/>
          <p:nvPr/>
        </p:nvSpPr>
        <p:spPr>
          <a:xfrm>
            <a:off x="914377" y="4825879"/>
            <a:ext cx="4800479" cy="977875"/>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1200">
                <a:solidFill>
                  <a:srgbClr val="9E988E"/>
                </a:solidFill>
                <a:latin typeface="Space Grotesk"/>
                <a:ea typeface="Space Grotesk"/>
                <a:cs typeface="Space Grotesk"/>
                <a:sym typeface="Space Grotesk"/>
              </a:rPr>
              <a:t>Public government sources only: Labour Codes, PIB explainers, e-Shram, PM-SYM, Maternity and POSH Acts. Details on the next slide.</a:t>
            </a:r>
            <a:endParaRPr/>
          </a:p>
        </p:txBody>
      </p:sp>
      <p:sp>
        <p:nvSpPr>
          <p:cNvPr id="227" name="Google Shape;227;p18"/>
          <p:cNvSpPr/>
          <p:nvPr/>
        </p:nvSpPr>
        <p:spPr>
          <a:xfrm>
            <a:off x="6273643" y="4381390"/>
            <a:ext cx="5206869" cy="1587460"/>
          </a:xfrm>
          <a:prstGeom prst="roundRect">
            <a:avLst>
              <a:gd fmla="val 6000" name="adj"/>
            </a:avLst>
          </a:prstGeom>
          <a:solidFill>
            <a:srgbClr val="17130E"/>
          </a:solidFill>
          <a:ln cap="flat" cmpd="sng" w="12700">
            <a:solidFill>
              <a:srgbClr val="332D2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8" name="Google Shape;228;p18"/>
          <p:cNvSpPr txBox="1"/>
          <p:nvPr/>
        </p:nvSpPr>
        <p:spPr>
          <a:xfrm>
            <a:off x="6476838" y="4559186"/>
            <a:ext cx="4800479"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HUMAN APPROVAL</a:t>
            </a:r>
            <a:endParaRPr/>
          </a:p>
        </p:txBody>
      </p:sp>
      <p:sp>
        <p:nvSpPr>
          <p:cNvPr id="229" name="Google Shape;229;p18"/>
          <p:cNvSpPr txBox="1"/>
          <p:nvPr/>
        </p:nvSpPr>
        <p:spPr>
          <a:xfrm>
            <a:off x="6476838" y="4825879"/>
            <a:ext cx="4800479" cy="977875"/>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1200">
                <a:solidFill>
                  <a:srgbClr val="9E988E"/>
                </a:solidFill>
                <a:latin typeface="Space Grotesk"/>
                <a:ea typeface="Space Grotesk"/>
                <a:cs typeface="Space Grotesk"/>
                <a:sym typeface="Space Grotesk"/>
              </a:rPr>
              <a:t>A native Hindi speaker reviews every card before it is indexed. The app never files anything; it only drafts a complaint for the worker to review. Case-specific advice goes to helpline 14434.</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pic>
        <p:nvPicPr>
          <p:cNvPr descr="corner.png" id="234" name="Google Shape;234;p19"/>
          <p:cNvPicPr preferRelativeResize="0"/>
          <p:nvPr/>
        </p:nvPicPr>
        <p:blipFill rotWithShape="1">
          <a:blip r:embed="rId3">
            <a:alphaModFix/>
          </a:blip>
          <a:srcRect b="0" l="0" r="0" t="0"/>
          <a:stretch/>
        </p:blipFill>
        <p:spPr>
          <a:xfrm>
            <a:off x="0" y="0"/>
            <a:ext cx="12191695" cy="6857828"/>
          </a:xfrm>
          <a:prstGeom prst="rect">
            <a:avLst/>
          </a:prstGeom>
          <a:noFill/>
          <a:ln>
            <a:noFill/>
          </a:ln>
        </p:spPr>
      </p:pic>
      <p:sp>
        <p:nvSpPr>
          <p:cNvPr id="235" name="Google Shape;235;p19"/>
          <p:cNvSpPr txBox="1"/>
          <p:nvPr/>
        </p:nvSpPr>
        <p:spPr>
          <a:xfrm>
            <a:off x="711182" y="558786"/>
            <a:ext cx="4444888" cy="25399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a:solidFill>
                  <a:srgbClr val="F4EFE6"/>
                </a:solidFill>
                <a:latin typeface="Space Grotesk"/>
                <a:ea typeface="Space Grotesk"/>
                <a:cs typeface="Space Grotesk"/>
                <a:sym typeface="Space Grotesk"/>
              </a:rPr>
              <a:t>✱  BFWAI/HACK 26</a:t>
            </a:r>
            <a:endParaRPr/>
          </a:p>
        </p:txBody>
      </p:sp>
      <p:sp>
        <p:nvSpPr>
          <p:cNvPr id="236" name="Google Shape;236;p19"/>
          <p:cNvSpPr txBox="1"/>
          <p:nvPr/>
        </p:nvSpPr>
        <p:spPr>
          <a:xfrm>
            <a:off x="6984825" y="571485"/>
            <a:ext cx="4495687" cy="253993"/>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100">
                <a:solidFill>
                  <a:srgbClr val="757068"/>
                </a:solidFill>
                <a:latin typeface="Space Grotesk"/>
                <a:ea typeface="Space Grotesk"/>
                <a:cs typeface="Space Grotesk"/>
                <a:sym typeface="Space Grotesk"/>
              </a:rPr>
              <a:t>07 · Key features</a:t>
            </a:r>
            <a:endParaRPr/>
          </a:p>
        </p:txBody>
      </p:sp>
      <p:cxnSp>
        <p:nvCxnSpPr>
          <p:cNvPr id="237" name="Google Shape;237;p19"/>
          <p:cNvCxnSpPr/>
          <p:nvPr/>
        </p:nvCxnSpPr>
        <p:spPr>
          <a:xfrm>
            <a:off x="711182" y="6286342"/>
            <a:ext cx="10769330" cy="0"/>
          </a:xfrm>
          <a:prstGeom prst="straightConnector1">
            <a:avLst/>
          </a:prstGeom>
          <a:noFill/>
          <a:ln cap="flat" cmpd="sng" w="9525">
            <a:solidFill>
              <a:srgbClr val="332D25"/>
            </a:solidFill>
            <a:prstDash val="solid"/>
            <a:round/>
            <a:headEnd len="sm" w="sm" type="none"/>
            <a:tailEnd len="sm" w="sm" type="none"/>
          </a:ln>
          <a:effectLst>
            <a:outerShdw blurRad="40000" rotWithShape="0" dir="5400000" dist="20000">
              <a:srgbClr val="000000">
                <a:alpha val="38039"/>
              </a:srgbClr>
            </a:outerShdw>
          </a:effectLst>
        </p:spPr>
      </p:cxnSp>
      <p:sp>
        <p:nvSpPr>
          <p:cNvPr id="238" name="Google Shape;238;p19"/>
          <p:cNvSpPr txBox="1"/>
          <p:nvPr/>
        </p:nvSpPr>
        <p:spPr>
          <a:xfrm>
            <a:off x="711182" y="6413339"/>
            <a:ext cx="5714857" cy="22859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a:solidFill>
                  <a:srgbClr val="F4EFE6"/>
                </a:solidFill>
                <a:latin typeface="Space Grotesk"/>
                <a:ea typeface="Space Grotesk"/>
                <a:cs typeface="Space Grotesk"/>
                <a:sym typeface="Space Grotesk"/>
              </a:rPr>
              <a:t>buildfastwithai.com/hackathon ↗</a:t>
            </a:r>
            <a:endParaRPr/>
          </a:p>
        </p:txBody>
      </p:sp>
      <p:sp>
        <p:nvSpPr>
          <p:cNvPr id="239" name="Google Shape;239;p19"/>
          <p:cNvSpPr txBox="1"/>
          <p:nvPr/>
        </p:nvSpPr>
        <p:spPr>
          <a:xfrm>
            <a:off x="8254793" y="6426039"/>
            <a:ext cx="3225719" cy="228594"/>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00">
                <a:solidFill>
                  <a:srgbClr val="757068"/>
                </a:solidFill>
                <a:latin typeface="JetBrains Mono"/>
                <a:ea typeface="JetBrains Mono"/>
                <a:cs typeface="JetBrains Mono"/>
                <a:sym typeface="JetBrains Mono"/>
              </a:rPr>
              <a:t>07 / 10</a:t>
            </a:r>
            <a:endParaRPr/>
          </a:p>
        </p:txBody>
      </p:sp>
      <p:sp>
        <p:nvSpPr>
          <p:cNvPr id="240" name="Google Shape;240;p19"/>
          <p:cNvSpPr txBox="1"/>
          <p:nvPr/>
        </p:nvSpPr>
        <p:spPr>
          <a:xfrm>
            <a:off x="711182" y="1206469"/>
            <a:ext cx="5714857"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KEY FEATURES</a:t>
            </a:r>
            <a:endParaRPr/>
          </a:p>
        </p:txBody>
      </p:sp>
      <p:sp>
        <p:nvSpPr>
          <p:cNvPr id="241" name="Google Shape;241;p19"/>
          <p:cNvSpPr txBox="1"/>
          <p:nvPr/>
        </p:nvSpPr>
        <p:spPr>
          <a:xfrm>
            <a:off x="711182" y="1492212"/>
            <a:ext cx="10794730" cy="952476"/>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0" i="0" lang="en-US" sz="5000">
                <a:solidFill>
                  <a:srgbClr val="F4EFE6"/>
                </a:solidFill>
                <a:latin typeface="Instrument Serif"/>
                <a:ea typeface="Instrument Serif"/>
                <a:cs typeface="Instrument Serif"/>
                <a:sym typeface="Instrument Serif"/>
              </a:rPr>
              <a:t>What it will do </a:t>
            </a:r>
            <a:r>
              <a:rPr b="0" i="1" lang="en-US" sz="5000">
                <a:solidFill>
                  <a:srgbClr val="FFD27A"/>
                </a:solidFill>
                <a:latin typeface="Instrument Serif"/>
                <a:ea typeface="Instrument Serif"/>
                <a:cs typeface="Instrument Serif"/>
                <a:sym typeface="Instrument Serif"/>
              </a:rPr>
              <a:t>by 1 Oct</a:t>
            </a:r>
            <a:endParaRPr/>
          </a:p>
        </p:txBody>
      </p:sp>
      <p:cxnSp>
        <p:nvCxnSpPr>
          <p:cNvPr id="242" name="Google Shape;242;p19"/>
          <p:cNvCxnSpPr/>
          <p:nvPr/>
        </p:nvCxnSpPr>
        <p:spPr>
          <a:xfrm>
            <a:off x="711182" y="2539936"/>
            <a:ext cx="10769330" cy="0"/>
          </a:xfrm>
          <a:prstGeom prst="straightConnector1">
            <a:avLst/>
          </a:prstGeom>
          <a:noFill/>
          <a:ln cap="flat" cmpd="sng" w="9525">
            <a:solidFill>
              <a:srgbClr val="332D25"/>
            </a:solidFill>
            <a:prstDash val="solid"/>
            <a:round/>
            <a:headEnd len="sm" w="sm" type="none"/>
            <a:tailEnd len="sm" w="sm" type="none"/>
          </a:ln>
          <a:effectLst>
            <a:outerShdw blurRad="40000" rotWithShape="0" dir="5400000" dist="20000">
              <a:srgbClr val="000000">
                <a:alpha val="38039"/>
              </a:srgbClr>
            </a:outerShdw>
          </a:effectLst>
        </p:spPr>
      </p:cxnSp>
      <p:sp>
        <p:nvSpPr>
          <p:cNvPr id="243" name="Google Shape;243;p19"/>
          <p:cNvSpPr txBox="1"/>
          <p:nvPr/>
        </p:nvSpPr>
        <p:spPr>
          <a:xfrm>
            <a:off x="711182" y="2679633"/>
            <a:ext cx="634984" cy="44448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1" lang="en-US" sz="2400">
                <a:solidFill>
                  <a:srgbClr val="FFD27A"/>
                </a:solidFill>
                <a:latin typeface="Instrument Serif"/>
                <a:ea typeface="Instrument Serif"/>
                <a:cs typeface="Instrument Serif"/>
                <a:sym typeface="Instrument Serif"/>
              </a:rPr>
              <a:t>01</a:t>
            </a:r>
            <a:endParaRPr/>
          </a:p>
        </p:txBody>
      </p:sp>
      <p:sp>
        <p:nvSpPr>
          <p:cNvPr id="244" name="Google Shape;244;p19"/>
          <p:cNvSpPr txBox="1"/>
          <p:nvPr/>
        </p:nvSpPr>
        <p:spPr>
          <a:xfrm>
            <a:off x="1460463" y="2705032"/>
            <a:ext cx="3555911"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a:solidFill>
                  <a:srgbClr val="F4EFE6"/>
                </a:solidFill>
                <a:latin typeface="Space Grotesk"/>
                <a:ea typeface="Space Grotesk"/>
                <a:cs typeface="Space Grotesk"/>
                <a:sym typeface="Space Grotesk"/>
              </a:rPr>
              <a:t>Hindi voice Q&amp;A</a:t>
            </a:r>
            <a:endParaRPr/>
          </a:p>
        </p:txBody>
      </p:sp>
      <p:sp>
        <p:nvSpPr>
          <p:cNvPr id="245" name="Google Shape;245;p19"/>
          <p:cNvSpPr txBox="1"/>
          <p:nvPr/>
        </p:nvSpPr>
        <p:spPr>
          <a:xfrm>
            <a:off x="5206869" y="2730431"/>
            <a:ext cx="6273643"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a:solidFill>
                  <a:srgbClr val="9E988E"/>
                </a:solidFill>
                <a:latin typeface="Space Grotesk"/>
                <a:ea typeface="Space Grotesk"/>
                <a:cs typeface="Space Grotesk"/>
                <a:sym typeface="Space Grotesk"/>
              </a:rPr>
              <a:t>Press the mic, ask in Hindi or Hinglish, hear the answer in Hindi.</a:t>
            </a:r>
            <a:endParaRPr/>
          </a:p>
        </p:txBody>
      </p:sp>
      <p:cxnSp>
        <p:nvCxnSpPr>
          <p:cNvPr id="246" name="Google Shape;246;p19"/>
          <p:cNvCxnSpPr/>
          <p:nvPr/>
        </p:nvCxnSpPr>
        <p:spPr>
          <a:xfrm>
            <a:off x="711182" y="3238419"/>
            <a:ext cx="10769330" cy="0"/>
          </a:xfrm>
          <a:prstGeom prst="straightConnector1">
            <a:avLst/>
          </a:prstGeom>
          <a:noFill/>
          <a:ln cap="flat" cmpd="sng" w="9525">
            <a:solidFill>
              <a:srgbClr val="332D25"/>
            </a:solidFill>
            <a:prstDash val="solid"/>
            <a:round/>
            <a:headEnd len="sm" w="sm" type="none"/>
            <a:tailEnd len="sm" w="sm" type="none"/>
          </a:ln>
          <a:effectLst>
            <a:outerShdw blurRad="40000" rotWithShape="0" dir="5400000" dist="20000">
              <a:srgbClr val="000000">
                <a:alpha val="38039"/>
              </a:srgbClr>
            </a:outerShdw>
          </a:effectLst>
        </p:spPr>
      </p:cxnSp>
      <p:sp>
        <p:nvSpPr>
          <p:cNvPr id="247" name="Google Shape;247;p19"/>
          <p:cNvSpPr txBox="1"/>
          <p:nvPr/>
        </p:nvSpPr>
        <p:spPr>
          <a:xfrm>
            <a:off x="711182" y="3378115"/>
            <a:ext cx="634984" cy="44448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1" lang="en-US" sz="2400">
                <a:solidFill>
                  <a:srgbClr val="FFD27A"/>
                </a:solidFill>
                <a:latin typeface="Instrument Serif"/>
                <a:ea typeface="Instrument Serif"/>
                <a:cs typeface="Instrument Serif"/>
                <a:sym typeface="Instrument Serif"/>
              </a:rPr>
              <a:t>02</a:t>
            </a:r>
            <a:endParaRPr/>
          </a:p>
        </p:txBody>
      </p:sp>
      <p:sp>
        <p:nvSpPr>
          <p:cNvPr id="248" name="Google Shape;248;p19"/>
          <p:cNvSpPr txBox="1"/>
          <p:nvPr/>
        </p:nvSpPr>
        <p:spPr>
          <a:xfrm>
            <a:off x="1460463" y="3403514"/>
            <a:ext cx="3555911"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a:solidFill>
                  <a:srgbClr val="F4EFE6"/>
                </a:solidFill>
                <a:latin typeface="Space Grotesk"/>
                <a:ea typeface="Space Grotesk"/>
                <a:cs typeface="Space Grotesk"/>
                <a:sym typeface="Space Grotesk"/>
              </a:rPr>
              <a:t>Cited answers</a:t>
            </a:r>
            <a:endParaRPr/>
          </a:p>
        </p:txBody>
      </p:sp>
      <p:sp>
        <p:nvSpPr>
          <p:cNvPr id="249" name="Google Shape;249;p19"/>
          <p:cNvSpPr txBox="1"/>
          <p:nvPr/>
        </p:nvSpPr>
        <p:spPr>
          <a:xfrm>
            <a:off x="5206869" y="3428914"/>
            <a:ext cx="6273643"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a:solidFill>
                  <a:srgbClr val="9E988E"/>
                </a:solidFill>
                <a:latin typeface="Space Grotesk"/>
                <a:ea typeface="Space Grotesk"/>
                <a:cs typeface="Space Grotesk"/>
                <a:sym typeface="Space Grotesk"/>
              </a:rPr>
              <a:t>Every answer shows its source card: Act, section, link.</a:t>
            </a:r>
            <a:endParaRPr/>
          </a:p>
        </p:txBody>
      </p:sp>
      <p:cxnSp>
        <p:nvCxnSpPr>
          <p:cNvPr id="250" name="Google Shape;250;p19"/>
          <p:cNvCxnSpPr/>
          <p:nvPr/>
        </p:nvCxnSpPr>
        <p:spPr>
          <a:xfrm>
            <a:off x="711182" y="3936901"/>
            <a:ext cx="10769330" cy="0"/>
          </a:xfrm>
          <a:prstGeom prst="straightConnector1">
            <a:avLst/>
          </a:prstGeom>
          <a:noFill/>
          <a:ln cap="flat" cmpd="sng" w="9525">
            <a:solidFill>
              <a:srgbClr val="332D25"/>
            </a:solidFill>
            <a:prstDash val="solid"/>
            <a:round/>
            <a:headEnd len="sm" w="sm" type="none"/>
            <a:tailEnd len="sm" w="sm" type="none"/>
          </a:ln>
          <a:effectLst>
            <a:outerShdw blurRad="40000" rotWithShape="0" dir="5400000" dist="20000">
              <a:srgbClr val="000000">
                <a:alpha val="38039"/>
              </a:srgbClr>
            </a:outerShdw>
          </a:effectLst>
        </p:spPr>
      </p:cxnSp>
      <p:sp>
        <p:nvSpPr>
          <p:cNvPr id="251" name="Google Shape;251;p19"/>
          <p:cNvSpPr txBox="1"/>
          <p:nvPr/>
        </p:nvSpPr>
        <p:spPr>
          <a:xfrm>
            <a:off x="711182" y="4076598"/>
            <a:ext cx="634984" cy="44448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1" lang="en-US" sz="2400">
                <a:solidFill>
                  <a:srgbClr val="FFD27A"/>
                </a:solidFill>
                <a:latin typeface="Instrument Serif"/>
                <a:ea typeface="Instrument Serif"/>
                <a:cs typeface="Instrument Serif"/>
                <a:sym typeface="Instrument Serif"/>
              </a:rPr>
              <a:t>03</a:t>
            </a:r>
            <a:endParaRPr/>
          </a:p>
        </p:txBody>
      </p:sp>
      <p:sp>
        <p:nvSpPr>
          <p:cNvPr id="252" name="Google Shape;252;p19"/>
          <p:cNvSpPr txBox="1"/>
          <p:nvPr/>
        </p:nvSpPr>
        <p:spPr>
          <a:xfrm>
            <a:off x="1460463" y="4101997"/>
            <a:ext cx="3555911"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a:solidFill>
                  <a:srgbClr val="F4EFE6"/>
                </a:solidFill>
                <a:latin typeface="Space Grotesk"/>
                <a:ea typeface="Space Grotesk"/>
                <a:cs typeface="Space Grotesk"/>
                <a:sym typeface="Space Grotesk"/>
              </a:rPr>
              <a:t>Refuse, don't guess</a:t>
            </a:r>
            <a:endParaRPr/>
          </a:p>
        </p:txBody>
      </p:sp>
      <p:sp>
        <p:nvSpPr>
          <p:cNvPr id="253" name="Google Shape;253;p19"/>
          <p:cNvSpPr txBox="1"/>
          <p:nvPr/>
        </p:nvSpPr>
        <p:spPr>
          <a:xfrm>
            <a:off x="5206869" y="4127396"/>
            <a:ext cx="6273643"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a:solidFill>
                  <a:srgbClr val="9E988E"/>
                </a:solidFill>
                <a:latin typeface="Space Grotesk"/>
                <a:ea typeface="Space Grotesk"/>
                <a:cs typeface="Space Grotesk"/>
                <a:sym typeface="Space Grotesk"/>
              </a:rPr>
              <a:t>No supporting card? It says so and points to helpline 14434.</a:t>
            </a:r>
            <a:endParaRPr/>
          </a:p>
        </p:txBody>
      </p:sp>
      <p:cxnSp>
        <p:nvCxnSpPr>
          <p:cNvPr id="254" name="Google Shape;254;p19"/>
          <p:cNvCxnSpPr/>
          <p:nvPr/>
        </p:nvCxnSpPr>
        <p:spPr>
          <a:xfrm>
            <a:off x="711182" y="4635384"/>
            <a:ext cx="10769330" cy="0"/>
          </a:xfrm>
          <a:prstGeom prst="straightConnector1">
            <a:avLst/>
          </a:prstGeom>
          <a:noFill/>
          <a:ln cap="flat" cmpd="sng" w="9525">
            <a:solidFill>
              <a:srgbClr val="332D25"/>
            </a:solidFill>
            <a:prstDash val="solid"/>
            <a:round/>
            <a:headEnd len="sm" w="sm" type="none"/>
            <a:tailEnd len="sm" w="sm" type="none"/>
          </a:ln>
          <a:effectLst>
            <a:outerShdw blurRad="40000" rotWithShape="0" dir="5400000" dist="20000">
              <a:srgbClr val="000000">
                <a:alpha val="38039"/>
              </a:srgbClr>
            </a:outerShdw>
          </a:effectLst>
        </p:spPr>
      </p:cxnSp>
      <p:sp>
        <p:nvSpPr>
          <p:cNvPr id="255" name="Google Shape;255;p19"/>
          <p:cNvSpPr txBox="1"/>
          <p:nvPr/>
        </p:nvSpPr>
        <p:spPr>
          <a:xfrm>
            <a:off x="711182" y="4775080"/>
            <a:ext cx="634984" cy="44448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1" lang="en-US" sz="2400">
                <a:solidFill>
                  <a:srgbClr val="FFD27A"/>
                </a:solidFill>
                <a:latin typeface="Instrument Serif"/>
                <a:ea typeface="Instrument Serif"/>
                <a:cs typeface="Instrument Serif"/>
                <a:sym typeface="Instrument Serif"/>
              </a:rPr>
              <a:t>04</a:t>
            </a:r>
            <a:endParaRPr/>
          </a:p>
        </p:txBody>
      </p:sp>
      <p:sp>
        <p:nvSpPr>
          <p:cNvPr id="256" name="Google Shape;256;p19"/>
          <p:cNvSpPr txBox="1"/>
          <p:nvPr/>
        </p:nvSpPr>
        <p:spPr>
          <a:xfrm>
            <a:off x="1460463" y="4800479"/>
            <a:ext cx="3555911"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a:solidFill>
                  <a:srgbClr val="F4EFE6"/>
                </a:solidFill>
                <a:latin typeface="Space Grotesk"/>
                <a:ea typeface="Space Grotesk"/>
                <a:cs typeface="Space Grotesk"/>
                <a:sym typeface="Space Grotesk"/>
              </a:rPr>
              <a:t>Scheme matcher</a:t>
            </a:r>
            <a:endParaRPr/>
          </a:p>
        </p:txBody>
      </p:sp>
      <p:sp>
        <p:nvSpPr>
          <p:cNvPr id="257" name="Google Shape;257;p19"/>
          <p:cNvSpPr txBox="1"/>
          <p:nvPr/>
        </p:nvSpPr>
        <p:spPr>
          <a:xfrm>
            <a:off x="5206869" y="4825879"/>
            <a:ext cx="6273643"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a:solidFill>
                  <a:srgbClr val="9E988E"/>
                </a:solidFill>
                <a:latin typeface="Space Grotesk"/>
                <a:ea typeface="Space Grotesk"/>
                <a:cs typeface="Space Grotesk"/>
                <a:sym typeface="Space Grotesk"/>
              </a:rPr>
              <a:t>Three questions check eligibility for e-Shram, PM-SYM, PMSBY.</a:t>
            </a:r>
            <a:endParaRPr/>
          </a:p>
        </p:txBody>
      </p:sp>
      <p:cxnSp>
        <p:nvCxnSpPr>
          <p:cNvPr id="258" name="Google Shape;258;p19"/>
          <p:cNvCxnSpPr/>
          <p:nvPr/>
        </p:nvCxnSpPr>
        <p:spPr>
          <a:xfrm>
            <a:off x="711182" y="5333866"/>
            <a:ext cx="10769330" cy="0"/>
          </a:xfrm>
          <a:prstGeom prst="straightConnector1">
            <a:avLst/>
          </a:prstGeom>
          <a:noFill/>
          <a:ln cap="flat" cmpd="sng" w="9525">
            <a:solidFill>
              <a:srgbClr val="332D25"/>
            </a:solidFill>
            <a:prstDash val="solid"/>
            <a:round/>
            <a:headEnd len="sm" w="sm" type="none"/>
            <a:tailEnd len="sm" w="sm" type="none"/>
          </a:ln>
          <a:effectLst>
            <a:outerShdw blurRad="40000" rotWithShape="0" dir="5400000" dist="20000">
              <a:srgbClr val="000000">
                <a:alpha val="38039"/>
              </a:srgbClr>
            </a:outerShdw>
          </a:effectLst>
        </p:spPr>
      </p:cxnSp>
      <p:sp>
        <p:nvSpPr>
          <p:cNvPr id="259" name="Google Shape;259;p19"/>
          <p:cNvSpPr txBox="1"/>
          <p:nvPr/>
        </p:nvSpPr>
        <p:spPr>
          <a:xfrm>
            <a:off x="711182" y="5473563"/>
            <a:ext cx="634984" cy="44448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1" lang="en-US" sz="2400">
                <a:solidFill>
                  <a:srgbClr val="FFD27A"/>
                </a:solidFill>
                <a:latin typeface="Instrument Serif"/>
                <a:ea typeface="Instrument Serif"/>
                <a:cs typeface="Instrument Serif"/>
                <a:sym typeface="Instrument Serif"/>
              </a:rPr>
              <a:t>05</a:t>
            </a:r>
            <a:endParaRPr/>
          </a:p>
        </p:txBody>
      </p:sp>
      <p:sp>
        <p:nvSpPr>
          <p:cNvPr id="260" name="Google Shape;260;p19"/>
          <p:cNvSpPr txBox="1"/>
          <p:nvPr/>
        </p:nvSpPr>
        <p:spPr>
          <a:xfrm>
            <a:off x="1460463" y="5498962"/>
            <a:ext cx="3555911"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a:solidFill>
                  <a:srgbClr val="F4EFE6"/>
                </a:solidFill>
                <a:latin typeface="Space Grotesk"/>
                <a:ea typeface="Space Grotesk"/>
                <a:cs typeface="Space Grotesk"/>
                <a:sym typeface="Space Grotesk"/>
              </a:rPr>
              <a:t>Wage-complaint draft</a:t>
            </a:r>
            <a:endParaRPr/>
          </a:p>
        </p:txBody>
      </p:sp>
      <p:sp>
        <p:nvSpPr>
          <p:cNvPr id="261" name="Google Shape;261;p19"/>
          <p:cNvSpPr txBox="1"/>
          <p:nvPr/>
        </p:nvSpPr>
        <p:spPr>
          <a:xfrm>
            <a:off x="5206869" y="5524361"/>
            <a:ext cx="6273643"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a:solidFill>
                  <a:srgbClr val="9E988E"/>
                </a:solidFill>
                <a:latin typeface="Space Grotesk"/>
                <a:ea typeface="Space Grotesk"/>
                <a:cs typeface="Space Grotesk"/>
                <a:sym typeface="Space Grotesk"/>
              </a:rPr>
              <a:t>A printable Hindi complaint letter the worker reviews first.</a:t>
            </a:r>
            <a:endParaRPr/>
          </a:p>
        </p:txBody>
      </p:sp>
      <p:cxnSp>
        <p:nvCxnSpPr>
          <p:cNvPr id="262" name="Google Shape;262;p19"/>
          <p:cNvCxnSpPr/>
          <p:nvPr/>
        </p:nvCxnSpPr>
        <p:spPr>
          <a:xfrm>
            <a:off x="711182" y="6032349"/>
            <a:ext cx="10769330" cy="0"/>
          </a:xfrm>
          <a:prstGeom prst="straightConnector1">
            <a:avLst/>
          </a:prstGeom>
          <a:noFill/>
          <a:ln cap="flat" cmpd="sng" w="9525">
            <a:solidFill>
              <a:srgbClr val="332D25"/>
            </a:solidFill>
            <a:prstDash val="solid"/>
            <a:round/>
            <a:headEnd len="sm" w="sm" type="none"/>
            <a:tailEnd len="sm" w="sm" type="none"/>
          </a:ln>
          <a:effectLst>
            <a:outerShdw blurRad="40000" rotWithShape="0" dir="5400000" dist="20000">
              <a:srgbClr val="000000">
                <a:alpha val="38039"/>
              </a:srgbClr>
            </a:outerShdw>
          </a:effectLst>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pic>
        <p:nvPicPr>
          <p:cNvPr descr="hot.png" id="267" name="Google Shape;267;p20"/>
          <p:cNvPicPr preferRelativeResize="0"/>
          <p:nvPr/>
        </p:nvPicPr>
        <p:blipFill rotWithShape="1">
          <a:blip r:embed="rId3">
            <a:alphaModFix/>
          </a:blip>
          <a:srcRect b="0" l="0" r="0" t="0"/>
          <a:stretch/>
        </p:blipFill>
        <p:spPr>
          <a:xfrm>
            <a:off x="0" y="0"/>
            <a:ext cx="12191695" cy="6857828"/>
          </a:xfrm>
          <a:prstGeom prst="rect">
            <a:avLst/>
          </a:prstGeom>
          <a:noFill/>
          <a:ln>
            <a:noFill/>
          </a:ln>
        </p:spPr>
      </p:pic>
      <p:sp>
        <p:nvSpPr>
          <p:cNvPr id="268" name="Google Shape;268;p20"/>
          <p:cNvSpPr txBox="1"/>
          <p:nvPr/>
        </p:nvSpPr>
        <p:spPr>
          <a:xfrm>
            <a:off x="711182" y="558786"/>
            <a:ext cx="4444888" cy="25399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a:solidFill>
                  <a:srgbClr val="F4EFE6"/>
                </a:solidFill>
                <a:latin typeface="Space Grotesk"/>
                <a:ea typeface="Space Grotesk"/>
                <a:cs typeface="Space Grotesk"/>
                <a:sym typeface="Space Grotesk"/>
              </a:rPr>
              <a:t>✱  BFWAI/HACK 26</a:t>
            </a:r>
            <a:endParaRPr/>
          </a:p>
        </p:txBody>
      </p:sp>
      <p:sp>
        <p:nvSpPr>
          <p:cNvPr id="269" name="Google Shape;269;p20"/>
          <p:cNvSpPr txBox="1"/>
          <p:nvPr/>
        </p:nvSpPr>
        <p:spPr>
          <a:xfrm>
            <a:off x="6984825" y="571485"/>
            <a:ext cx="4495687" cy="253993"/>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100">
                <a:solidFill>
                  <a:srgbClr val="757068"/>
                </a:solidFill>
                <a:latin typeface="Space Grotesk"/>
                <a:ea typeface="Space Grotesk"/>
                <a:cs typeface="Space Grotesk"/>
                <a:sym typeface="Space Grotesk"/>
              </a:rPr>
              <a:t>08 · Baseline &amp; evaluation</a:t>
            </a:r>
            <a:endParaRPr/>
          </a:p>
        </p:txBody>
      </p:sp>
      <p:cxnSp>
        <p:nvCxnSpPr>
          <p:cNvPr id="270" name="Google Shape;270;p20"/>
          <p:cNvCxnSpPr/>
          <p:nvPr/>
        </p:nvCxnSpPr>
        <p:spPr>
          <a:xfrm>
            <a:off x="711182" y="6286342"/>
            <a:ext cx="10769330" cy="0"/>
          </a:xfrm>
          <a:prstGeom prst="straightConnector1">
            <a:avLst/>
          </a:prstGeom>
          <a:noFill/>
          <a:ln cap="flat" cmpd="sng" w="9525">
            <a:solidFill>
              <a:srgbClr val="332D25"/>
            </a:solidFill>
            <a:prstDash val="solid"/>
            <a:round/>
            <a:headEnd len="sm" w="sm" type="none"/>
            <a:tailEnd len="sm" w="sm" type="none"/>
          </a:ln>
          <a:effectLst>
            <a:outerShdw blurRad="40000" rotWithShape="0" dir="5400000" dist="20000">
              <a:srgbClr val="000000">
                <a:alpha val="38039"/>
              </a:srgbClr>
            </a:outerShdw>
          </a:effectLst>
        </p:spPr>
      </p:cxnSp>
      <p:sp>
        <p:nvSpPr>
          <p:cNvPr id="271" name="Google Shape;271;p20"/>
          <p:cNvSpPr txBox="1"/>
          <p:nvPr/>
        </p:nvSpPr>
        <p:spPr>
          <a:xfrm>
            <a:off x="711182" y="6413339"/>
            <a:ext cx="5714857" cy="22859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a:solidFill>
                  <a:srgbClr val="F4EFE6"/>
                </a:solidFill>
                <a:latin typeface="Space Grotesk"/>
                <a:ea typeface="Space Grotesk"/>
                <a:cs typeface="Space Grotesk"/>
                <a:sym typeface="Space Grotesk"/>
              </a:rPr>
              <a:t>buildfastwithai.com/hackathon ↗</a:t>
            </a:r>
            <a:endParaRPr/>
          </a:p>
        </p:txBody>
      </p:sp>
      <p:sp>
        <p:nvSpPr>
          <p:cNvPr id="272" name="Google Shape;272;p20"/>
          <p:cNvSpPr txBox="1"/>
          <p:nvPr/>
        </p:nvSpPr>
        <p:spPr>
          <a:xfrm>
            <a:off x="8254793" y="6426039"/>
            <a:ext cx="3225719" cy="228594"/>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00">
                <a:solidFill>
                  <a:srgbClr val="757068"/>
                </a:solidFill>
                <a:latin typeface="JetBrains Mono"/>
                <a:ea typeface="JetBrains Mono"/>
                <a:cs typeface="JetBrains Mono"/>
                <a:sym typeface="JetBrains Mono"/>
              </a:rPr>
              <a:t>08 / 10</a:t>
            </a:r>
            <a:endParaRPr/>
          </a:p>
        </p:txBody>
      </p:sp>
      <p:sp>
        <p:nvSpPr>
          <p:cNvPr id="273" name="Google Shape;273;p20"/>
          <p:cNvSpPr txBox="1"/>
          <p:nvPr/>
        </p:nvSpPr>
        <p:spPr>
          <a:xfrm>
            <a:off x="711182" y="1206469"/>
            <a:ext cx="5714857"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BASELINE &amp; EVALUATION</a:t>
            </a:r>
            <a:endParaRPr/>
          </a:p>
        </p:txBody>
      </p:sp>
      <p:sp>
        <p:nvSpPr>
          <p:cNvPr id="274" name="Google Shape;274;p20"/>
          <p:cNvSpPr txBox="1"/>
          <p:nvPr/>
        </p:nvSpPr>
        <p:spPr>
          <a:xfrm>
            <a:off x="711182" y="1492212"/>
            <a:ext cx="10794730" cy="952476"/>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0" i="0" lang="en-US" sz="5000">
                <a:solidFill>
                  <a:srgbClr val="F4EFE6"/>
                </a:solidFill>
                <a:latin typeface="Instrument Serif"/>
                <a:ea typeface="Instrument Serif"/>
                <a:cs typeface="Instrument Serif"/>
                <a:sym typeface="Instrument Serif"/>
              </a:rPr>
              <a:t>How we'll </a:t>
            </a:r>
            <a:r>
              <a:rPr b="0" i="1" lang="en-US" sz="5000">
                <a:solidFill>
                  <a:srgbClr val="FFD27A"/>
                </a:solidFill>
                <a:latin typeface="Instrument Serif"/>
                <a:ea typeface="Instrument Serif"/>
                <a:cs typeface="Instrument Serif"/>
                <a:sym typeface="Instrument Serif"/>
              </a:rPr>
              <a:t>prove it works</a:t>
            </a:r>
            <a:endParaRPr/>
          </a:p>
        </p:txBody>
      </p:sp>
      <p:sp>
        <p:nvSpPr>
          <p:cNvPr id="275" name="Google Shape;275;p20"/>
          <p:cNvSpPr/>
          <p:nvPr/>
        </p:nvSpPr>
        <p:spPr>
          <a:xfrm>
            <a:off x="711182" y="2539936"/>
            <a:ext cx="5206869" cy="1714457"/>
          </a:xfrm>
          <a:prstGeom prst="roundRect">
            <a:avLst>
              <a:gd fmla="val 6000" name="adj"/>
            </a:avLst>
          </a:prstGeom>
          <a:solidFill>
            <a:srgbClr val="17130E"/>
          </a:solidFill>
          <a:ln cap="flat" cmpd="sng" w="12700">
            <a:solidFill>
              <a:srgbClr val="332D2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6" name="Google Shape;276;p20"/>
          <p:cNvSpPr txBox="1"/>
          <p:nvPr/>
        </p:nvSpPr>
        <p:spPr>
          <a:xfrm>
            <a:off x="914377" y="2717732"/>
            <a:ext cx="4825879"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TODAY · WITHOUT YOUR SYSTEM</a:t>
            </a:r>
            <a:endParaRPr/>
          </a:p>
        </p:txBody>
      </p:sp>
      <p:sp>
        <p:nvSpPr>
          <p:cNvPr id="277" name="Google Shape;277;p20"/>
          <p:cNvSpPr txBox="1"/>
          <p:nvPr/>
        </p:nvSpPr>
        <p:spPr>
          <a:xfrm>
            <a:off x="914377" y="2984425"/>
            <a:ext cx="4800479" cy="5079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000">
                <a:solidFill>
                  <a:srgbClr val="F4EFE6"/>
                </a:solidFill>
                <a:latin typeface="Instrument Serif"/>
                <a:ea typeface="Instrument Serif"/>
                <a:cs typeface="Instrument Serif"/>
                <a:sym typeface="Instrument Serif"/>
              </a:rPr>
              <a:t>Ungrounded LLM</a:t>
            </a:r>
            <a:endParaRPr/>
          </a:p>
        </p:txBody>
      </p:sp>
      <p:sp>
        <p:nvSpPr>
          <p:cNvPr id="278" name="Google Shape;278;p20"/>
          <p:cNvSpPr txBox="1"/>
          <p:nvPr/>
        </p:nvSpPr>
        <p:spPr>
          <a:xfrm>
            <a:off x="914377" y="3619409"/>
            <a:ext cx="4800479" cy="57148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100">
                <a:solidFill>
                  <a:srgbClr val="9E988E"/>
                </a:solidFill>
                <a:latin typeface="Space Grotesk"/>
                <a:ea typeface="Space Grotesk"/>
                <a:cs typeface="Space Grotesk"/>
                <a:sym typeface="Space Grotesk"/>
              </a:rPr>
              <a:t>Same 60 Hindi questions, same LLM, no rights corpus. We measure the share of uncited or wrong answers by 1 Oct.</a:t>
            </a:r>
            <a:endParaRPr/>
          </a:p>
        </p:txBody>
      </p:sp>
      <p:sp>
        <p:nvSpPr>
          <p:cNvPr id="279" name="Google Shape;279;p20"/>
          <p:cNvSpPr/>
          <p:nvPr/>
        </p:nvSpPr>
        <p:spPr>
          <a:xfrm>
            <a:off x="6273643" y="2539936"/>
            <a:ext cx="5206869" cy="1714457"/>
          </a:xfrm>
          <a:prstGeom prst="roundRect">
            <a:avLst>
              <a:gd fmla="val 6000" name="adj"/>
            </a:avLst>
          </a:prstGeom>
          <a:solidFill>
            <a:srgbClr val="2A2110"/>
          </a:solidFill>
          <a:ln cap="flat" cmpd="sng" w="12700">
            <a:solidFill>
              <a:srgbClr val="8A682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0" name="Google Shape;280;p20"/>
          <p:cNvSpPr txBox="1"/>
          <p:nvPr/>
        </p:nvSpPr>
        <p:spPr>
          <a:xfrm>
            <a:off x="6476838" y="2717732"/>
            <a:ext cx="4825879"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TARGET · WITH YOUR SYSTEM</a:t>
            </a:r>
            <a:endParaRPr/>
          </a:p>
        </p:txBody>
      </p:sp>
      <p:sp>
        <p:nvSpPr>
          <p:cNvPr id="281" name="Google Shape;281;p20"/>
          <p:cNvSpPr txBox="1"/>
          <p:nvPr/>
        </p:nvSpPr>
        <p:spPr>
          <a:xfrm>
            <a:off x="6476838" y="2984425"/>
            <a:ext cx="4800479" cy="5079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000">
                <a:solidFill>
                  <a:srgbClr val="FFD27A"/>
                </a:solidFill>
                <a:latin typeface="Instrument Serif"/>
                <a:ea typeface="Instrument Serif"/>
                <a:cs typeface="Instrument Serif"/>
                <a:sym typeface="Instrument Serif"/>
              </a:rPr>
              <a:t>≥90% cited</a:t>
            </a:r>
            <a:endParaRPr/>
          </a:p>
        </p:txBody>
      </p:sp>
      <p:sp>
        <p:nvSpPr>
          <p:cNvPr id="282" name="Google Shape;282;p20"/>
          <p:cNvSpPr txBox="1"/>
          <p:nvPr/>
        </p:nvSpPr>
        <p:spPr>
          <a:xfrm>
            <a:off x="6476838" y="3619409"/>
            <a:ext cx="4800479" cy="57148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100">
                <a:solidFill>
                  <a:srgbClr val="9E988E"/>
                </a:solidFill>
                <a:latin typeface="Space Grotesk"/>
                <a:ea typeface="Space Grotesk"/>
                <a:cs typeface="Space Grotesk"/>
                <a:sym typeface="Space Grotesk"/>
              </a:rPr>
              <a:t>Answers whose cited card supports the claim; ≥95% of out-of-scope questions refused; under 10 s end to end.</a:t>
            </a:r>
            <a:endParaRPr/>
          </a:p>
        </p:txBody>
      </p:sp>
      <p:sp>
        <p:nvSpPr>
          <p:cNvPr id="283" name="Google Shape;283;p20"/>
          <p:cNvSpPr txBox="1"/>
          <p:nvPr/>
        </p:nvSpPr>
        <p:spPr>
          <a:xfrm>
            <a:off x="5918052" y="3206669"/>
            <a:ext cx="355591" cy="38099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3000">
                <a:solidFill>
                  <a:srgbClr val="F2B632"/>
                </a:solidFill>
                <a:latin typeface="Space Grotesk"/>
                <a:ea typeface="Space Grotesk"/>
                <a:cs typeface="Space Grotesk"/>
                <a:sym typeface="Space Grotesk"/>
              </a:rPr>
              <a:t>→</a:t>
            </a:r>
            <a:endParaRPr/>
          </a:p>
        </p:txBody>
      </p:sp>
      <p:sp>
        <p:nvSpPr>
          <p:cNvPr id="284" name="Google Shape;284;p20"/>
          <p:cNvSpPr/>
          <p:nvPr/>
        </p:nvSpPr>
        <p:spPr>
          <a:xfrm>
            <a:off x="711182" y="4508387"/>
            <a:ext cx="10769330" cy="1460463"/>
          </a:xfrm>
          <a:prstGeom prst="roundRect">
            <a:avLst>
              <a:gd fmla="val 6000" name="adj"/>
            </a:avLst>
          </a:prstGeom>
          <a:solidFill>
            <a:srgbClr val="17130E"/>
          </a:solidFill>
          <a:ln cap="flat" cmpd="sng" w="12700">
            <a:solidFill>
              <a:srgbClr val="332D2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5" name="Google Shape;285;p20"/>
          <p:cNvSpPr txBox="1"/>
          <p:nvPr/>
        </p:nvSpPr>
        <p:spPr>
          <a:xfrm>
            <a:off x="914377" y="4686182"/>
            <a:ext cx="10362940"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HOW YOU'LL EVALUATE IT</a:t>
            </a:r>
            <a:endParaRPr/>
          </a:p>
        </p:txBody>
      </p:sp>
      <p:sp>
        <p:nvSpPr>
          <p:cNvPr id="286" name="Google Shape;286;p20"/>
          <p:cNvSpPr txBox="1"/>
          <p:nvPr/>
        </p:nvSpPr>
        <p:spPr>
          <a:xfrm>
            <a:off x="914377" y="4952876"/>
            <a:ext cx="10362940" cy="850878"/>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1200">
                <a:solidFill>
                  <a:srgbClr val="9E988E"/>
                </a:solidFill>
                <a:latin typeface="Space Grotesk"/>
                <a:ea typeface="Space Grotesk"/>
                <a:cs typeface="Space Grotesk"/>
                <a:sym typeface="Space Grotesk"/>
              </a:rPr>
              <a:t>60 Hindi questions written by the builder (fluent in Hindi): 50 in scope across wages, schemes, maternity and harassment, plus 10 out-of-scope traps. Metrics: citation accuracy, correct-refusal rate, Hindi speech-to-text error rate on our own recordings, and latency. Every failure is logged per question and fixed in the cards, not hidden in the prompt.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pic>
        <p:nvPicPr>
          <p:cNvPr descr="top.png" id="291" name="Google Shape;291;p21"/>
          <p:cNvPicPr preferRelativeResize="0"/>
          <p:nvPr/>
        </p:nvPicPr>
        <p:blipFill rotWithShape="1">
          <a:blip r:embed="rId3">
            <a:alphaModFix/>
          </a:blip>
          <a:srcRect b="0" l="0" r="0" t="0"/>
          <a:stretch/>
        </p:blipFill>
        <p:spPr>
          <a:xfrm>
            <a:off x="0" y="0"/>
            <a:ext cx="12191695" cy="6857828"/>
          </a:xfrm>
          <a:prstGeom prst="rect">
            <a:avLst/>
          </a:prstGeom>
          <a:noFill/>
          <a:ln>
            <a:noFill/>
          </a:ln>
        </p:spPr>
      </p:pic>
      <p:sp>
        <p:nvSpPr>
          <p:cNvPr id="292" name="Google Shape;292;p21"/>
          <p:cNvSpPr txBox="1"/>
          <p:nvPr/>
        </p:nvSpPr>
        <p:spPr>
          <a:xfrm>
            <a:off x="711182" y="558786"/>
            <a:ext cx="4444888" cy="25399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a:solidFill>
                  <a:srgbClr val="F4EFE6"/>
                </a:solidFill>
                <a:latin typeface="Space Grotesk"/>
                <a:ea typeface="Space Grotesk"/>
                <a:cs typeface="Space Grotesk"/>
                <a:sym typeface="Space Grotesk"/>
              </a:rPr>
              <a:t>✱  BFWAI/HACK 26</a:t>
            </a:r>
            <a:endParaRPr/>
          </a:p>
        </p:txBody>
      </p:sp>
      <p:sp>
        <p:nvSpPr>
          <p:cNvPr id="293" name="Google Shape;293;p21"/>
          <p:cNvSpPr txBox="1"/>
          <p:nvPr/>
        </p:nvSpPr>
        <p:spPr>
          <a:xfrm>
            <a:off x="6984825" y="571485"/>
            <a:ext cx="4495687" cy="253993"/>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100">
                <a:solidFill>
                  <a:srgbClr val="757068"/>
                </a:solidFill>
                <a:latin typeface="Space Grotesk"/>
                <a:ea typeface="Space Grotesk"/>
                <a:cs typeface="Space Grotesk"/>
                <a:sym typeface="Space Grotesk"/>
              </a:rPr>
              <a:t>09 · Team</a:t>
            </a:r>
            <a:endParaRPr/>
          </a:p>
        </p:txBody>
      </p:sp>
      <p:cxnSp>
        <p:nvCxnSpPr>
          <p:cNvPr id="294" name="Google Shape;294;p21"/>
          <p:cNvCxnSpPr/>
          <p:nvPr/>
        </p:nvCxnSpPr>
        <p:spPr>
          <a:xfrm>
            <a:off x="711182" y="6286342"/>
            <a:ext cx="10769330" cy="0"/>
          </a:xfrm>
          <a:prstGeom prst="straightConnector1">
            <a:avLst/>
          </a:prstGeom>
          <a:noFill/>
          <a:ln cap="flat" cmpd="sng" w="9525">
            <a:solidFill>
              <a:srgbClr val="332D25"/>
            </a:solidFill>
            <a:prstDash val="solid"/>
            <a:round/>
            <a:headEnd len="sm" w="sm" type="none"/>
            <a:tailEnd len="sm" w="sm" type="none"/>
          </a:ln>
          <a:effectLst>
            <a:outerShdw blurRad="40000" rotWithShape="0" dir="5400000" dist="20000">
              <a:srgbClr val="000000">
                <a:alpha val="38039"/>
              </a:srgbClr>
            </a:outerShdw>
          </a:effectLst>
        </p:spPr>
      </p:cxnSp>
      <p:sp>
        <p:nvSpPr>
          <p:cNvPr id="295" name="Google Shape;295;p21"/>
          <p:cNvSpPr txBox="1"/>
          <p:nvPr/>
        </p:nvSpPr>
        <p:spPr>
          <a:xfrm>
            <a:off x="711182" y="6413339"/>
            <a:ext cx="5714857" cy="22859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a:solidFill>
                  <a:srgbClr val="F4EFE6"/>
                </a:solidFill>
                <a:latin typeface="Space Grotesk"/>
                <a:ea typeface="Space Grotesk"/>
                <a:cs typeface="Space Grotesk"/>
                <a:sym typeface="Space Grotesk"/>
              </a:rPr>
              <a:t>buildfastwithai.com/hackathon ↗</a:t>
            </a:r>
            <a:endParaRPr/>
          </a:p>
        </p:txBody>
      </p:sp>
      <p:sp>
        <p:nvSpPr>
          <p:cNvPr id="296" name="Google Shape;296;p21"/>
          <p:cNvSpPr txBox="1"/>
          <p:nvPr/>
        </p:nvSpPr>
        <p:spPr>
          <a:xfrm>
            <a:off x="8254793" y="6426039"/>
            <a:ext cx="3225719" cy="228594"/>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00">
                <a:solidFill>
                  <a:srgbClr val="757068"/>
                </a:solidFill>
                <a:latin typeface="JetBrains Mono"/>
                <a:ea typeface="JetBrains Mono"/>
                <a:cs typeface="JetBrains Mono"/>
                <a:sym typeface="JetBrains Mono"/>
              </a:rPr>
              <a:t>09 / 10</a:t>
            </a:r>
            <a:endParaRPr/>
          </a:p>
        </p:txBody>
      </p:sp>
      <p:sp>
        <p:nvSpPr>
          <p:cNvPr id="297" name="Google Shape;297;p21"/>
          <p:cNvSpPr txBox="1"/>
          <p:nvPr/>
        </p:nvSpPr>
        <p:spPr>
          <a:xfrm>
            <a:off x="711182" y="1206469"/>
            <a:ext cx="5714857"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TEAM</a:t>
            </a:r>
            <a:endParaRPr/>
          </a:p>
        </p:txBody>
      </p:sp>
      <p:sp>
        <p:nvSpPr>
          <p:cNvPr id="298" name="Google Shape;298;p21"/>
          <p:cNvSpPr txBox="1"/>
          <p:nvPr/>
        </p:nvSpPr>
        <p:spPr>
          <a:xfrm>
            <a:off x="711182" y="1492212"/>
            <a:ext cx="10794730" cy="952476"/>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0" i="0" lang="en-US" sz="5000">
                <a:solidFill>
                  <a:srgbClr val="F4EFE6"/>
                </a:solidFill>
                <a:latin typeface="Instrument Serif"/>
                <a:ea typeface="Instrument Serif"/>
                <a:cs typeface="Instrument Serif"/>
                <a:sym typeface="Instrument Serif"/>
              </a:rPr>
              <a:t>Mythos</a:t>
            </a:r>
            <a:endParaRPr/>
          </a:p>
        </p:txBody>
      </p:sp>
      <p:sp>
        <p:nvSpPr>
          <p:cNvPr id="310" name="Google Shape;310;p21"/>
          <p:cNvSpPr/>
          <p:nvPr/>
        </p:nvSpPr>
        <p:spPr>
          <a:xfrm>
            <a:off x="4381390" y="2666933"/>
            <a:ext cx="3428914" cy="3174920"/>
          </a:xfrm>
          <a:prstGeom prst="roundRect">
            <a:avLst>
              <a:gd fmla="val 6000" name="adj"/>
            </a:avLst>
          </a:prstGeom>
          <a:solidFill>
            <a:srgbClr val="17130E"/>
          </a:solidFill>
          <a:ln cap="flat" cmpd="sng" w="12700">
            <a:solidFill>
              <a:srgbClr val="332D2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1" name="Google Shape;311;p21"/>
          <p:cNvSpPr txBox="1"/>
          <p:nvPr/>
        </p:nvSpPr>
        <p:spPr>
          <a:xfrm>
            <a:off x="4609984" y="2870128"/>
            <a:ext cx="2984425"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MEMBER 01</a:t>
            </a:r>
            <a:endParaRPr/>
          </a:p>
        </p:txBody>
      </p:sp>
      <p:sp>
        <p:nvSpPr>
          <p:cNvPr id="312" name="Google Shape;312;p21"/>
          <p:cNvSpPr txBox="1"/>
          <p:nvPr/>
        </p:nvSpPr>
        <p:spPr>
          <a:xfrm>
            <a:off x="4609984" y="3174920"/>
            <a:ext cx="2984425" cy="44448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800">
                <a:solidFill>
                  <a:srgbClr val="F4EFE6"/>
                </a:solidFill>
                <a:latin typeface="Instrument Serif"/>
                <a:ea typeface="Instrument Serif"/>
                <a:cs typeface="Instrument Serif"/>
                <a:sym typeface="Instrument Serif"/>
              </a:rPr>
              <a:t>Yash Vishnoi</a:t>
            </a:r>
            <a:endParaRPr/>
          </a:p>
        </p:txBody>
      </p:sp>
      <p:sp>
        <p:nvSpPr>
          <p:cNvPr id="313" name="Google Shape;313;p21"/>
          <p:cNvSpPr txBox="1"/>
          <p:nvPr/>
        </p:nvSpPr>
        <p:spPr>
          <a:xfrm>
            <a:off x="4609984" y="3873403"/>
            <a:ext cx="1015974" cy="25399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50">
                <a:solidFill>
                  <a:srgbClr val="757068"/>
                </a:solidFill>
                <a:latin typeface="JetBrains Mono"/>
                <a:ea typeface="JetBrains Mono"/>
                <a:cs typeface="JetBrains Mono"/>
                <a:sym typeface="JetBrains Mono"/>
              </a:rPr>
              <a:t>COLLEGE</a:t>
            </a:r>
            <a:endParaRPr/>
          </a:p>
        </p:txBody>
      </p:sp>
      <p:sp>
        <p:nvSpPr>
          <p:cNvPr id="314" name="Google Shape;314;p21"/>
          <p:cNvSpPr txBox="1"/>
          <p:nvPr/>
        </p:nvSpPr>
        <p:spPr>
          <a:xfrm>
            <a:off x="5651358" y="3848003"/>
            <a:ext cx="1968450"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00">
                <a:solidFill>
                  <a:srgbClr val="9E988E"/>
                </a:solidFill>
                <a:latin typeface="Space Grotesk"/>
                <a:ea typeface="Space Grotesk"/>
                <a:cs typeface="Space Grotesk"/>
                <a:sym typeface="Space Grotesk"/>
              </a:rPr>
              <a:t>Thapar Institute of Engineering and Technology</a:t>
            </a:r>
            <a:endParaRPr/>
          </a:p>
        </p:txBody>
      </p:sp>
      <p:sp>
        <p:nvSpPr>
          <p:cNvPr id="315" name="Google Shape;315;p21"/>
          <p:cNvSpPr txBox="1"/>
          <p:nvPr/>
        </p:nvSpPr>
        <p:spPr>
          <a:xfrm>
            <a:off x="4609984" y="4330591"/>
            <a:ext cx="1015974" cy="25399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50">
                <a:solidFill>
                  <a:srgbClr val="757068"/>
                </a:solidFill>
                <a:latin typeface="JetBrains Mono"/>
                <a:ea typeface="JetBrains Mono"/>
                <a:cs typeface="JetBrains Mono"/>
                <a:sym typeface="JetBrains Mono"/>
              </a:rPr>
              <a:t>YEAR</a:t>
            </a:r>
            <a:endParaRPr/>
          </a:p>
        </p:txBody>
      </p:sp>
      <p:sp>
        <p:nvSpPr>
          <p:cNvPr id="316" name="Google Shape;316;p21"/>
          <p:cNvSpPr txBox="1"/>
          <p:nvPr/>
        </p:nvSpPr>
        <p:spPr>
          <a:xfrm>
            <a:off x="5651358" y="4305192"/>
            <a:ext cx="1968450"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50">
                <a:solidFill>
                  <a:srgbClr val="9E988E"/>
                </a:solidFill>
                <a:latin typeface="Space Grotesk"/>
                <a:ea typeface="Space Grotesk"/>
                <a:cs typeface="Space Grotesk"/>
                <a:sym typeface="Space Grotesk"/>
              </a:rPr>
              <a:t>3rd year</a:t>
            </a:r>
            <a:endParaRPr/>
          </a:p>
        </p:txBody>
      </p:sp>
      <p:sp>
        <p:nvSpPr>
          <p:cNvPr id="317" name="Google Shape;317;p21"/>
          <p:cNvSpPr txBox="1"/>
          <p:nvPr/>
        </p:nvSpPr>
        <p:spPr>
          <a:xfrm>
            <a:off x="4609984" y="4787780"/>
            <a:ext cx="1015974" cy="25399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50">
                <a:solidFill>
                  <a:srgbClr val="757068"/>
                </a:solidFill>
                <a:latin typeface="JetBrains Mono"/>
                <a:ea typeface="JetBrains Mono"/>
                <a:cs typeface="JetBrains Mono"/>
                <a:sym typeface="JetBrains Mono"/>
              </a:rPr>
              <a:t>ROLE</a:t>
            </a:r>
            <a:endParaRPr/>
          </a:p>
        </p:txBody>
      </p:sp>
      <p:sp>
        <p:nvSpPr>
          <p:cNvPr id="318" name="Google Shape;318;p21"/>
          <p:cNvSpPr txBox="1"/>
          <p:nvPr/>
        </p:nvSpPr>
        <p:spPr>
          <a:xfrm>
            <a:off x="5651358" y="4762380"/>
            <a:ext cx="1968450"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50">
                <a:solidFill>
                  <a:srgbClr val="9E988E"/>
                </a:solidFill>
                <a:latin typeface="Space Grotesk"/>
                <a:ea typeface="Space Grotesk"/>
                <a:cs typeface="Space Grotesk"/>
                <a:sym typeface="Space Grotesk"/>
              </a:rPr>
              <a:t>Entire build: idea, data, code, demo</a:t>
            </a:r>
            <a:endParaRPr/>
          </a:p>
        </p:txBody>
      </p:sp>
      <p:sp>
        <p:nvSpPr>
          <p:cNvPr id="319" name="Google Shape;319;p21"/>
          <p:cNvSpPr txBox="1"/>
          <p:nvPr/>
        </p:nvSpPr>
        <p:spPr>
          <a:xfrm>
            <a:off x="4609984" y="5244968"/>
            <a:ext cx="1015974" cy="25399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50">
                <a:solidFill>
                  <a:srgbClr val="757068"/>
                </a:solidFill>
                <a:latin typeface="JetBrains Mono"/>
                <a:ea typeface="JetBrains Mono"/>
                <a:cs typeface="JetBrains Mono"/>
                <a:sym typeface="JetBrains Mono"/>
              </a:rPr>
              <a:t>LINKEDIN</a:t>
            </a:r>
            <a:endParaRPr/>
          </a:p>
        </p:txBody>
      </p:sp>
      <p:sp>
        <p:nvSpPr>
          <p:cNvPr id="320" name="Google Shape;320;p21"/>
          <p:cNvSpPr txBox="1"/>
          <p:nvPr/>
        </p:nvSpPr>
        <p:spPr>
          <a:xfrm>
            <a:off x="5651358" y="5219569"/>
            <a:ext cx="1968450"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00">
                <a:solidFill>
                  <a:srgbClr val="9E988E"/>
                </a:solidFill>
                <a:latin typeface="Space Grotesk"/>
                <a:ea typeface="Space Grotesk"/>
                <a:cs typeface="Space Grotesk"/>
                <a:sym typeface="Space Grotesk"/>
                <a:hlinkClick r:id="rIdLinkedIn"/>
              </a:rPr>
              <a:t>linkedin.com/in/yash-vishnoi-8656a7312</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pic>
        <p:nvPicPr>
          <p:cNvPr descr="hot.png" id="336" name="Google Shape;336;p22"/>
          <p:cNvPicPr preferRelativeResize="0"/>
          <p:nvPr/>
        </p:nvPicPr>
        <p:blipFill rotWithShape="1">
          <a:blip r:embed="rId3">
            <a:alphaModFix/>
          </a:blip>
          <a:srcRect b="0" l="0" r="0" t="0"/>
          <a:stretch/>
        </p:blipFill>
        <p:spPr>
          <a:xfrm>
            <a:off x="0" y="0"/>
            <a:ext cx="12191695" cy="6857828"/>
          </a:xfrm>
          <a:prstGeom prst="rect">
            <a:avLst/>
          </a:prstGeom>
          <a:noFill/>
          <a:ln>
            <a:noFill/>
          </a:ln>
        </p:spPr>
      </p:pic>
      <p:sp>
        <p:nvSpPr>
          <p:cNvPr id="337" name="Google Shape;337;p22"/>
          <p:cNvSpPr txBox="1"/>
          <p:nvPr/>
        </p:nvSpPr>
        <p:spPr>
          <a:xfrm>
            <a:off x="711182" y="558786"/>
            <a:ext cx="4444888" cy="25399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a:solidFill>
                  <a:srgbClr val="F4EFE6"/>
                </a:solidFill>
                <a:latin typeface="Space Grotesk"/>
                <a:ea typeface="Space Grotesk"/>
                <a:cs typeface="Space Grotesk"/>
                <a:sym typeface="Space Grotesk"/>
              </a:rPr>
              <a:t>✱  BFWAI/HACK 26</a:t>
            </a:r>
            <a:endParaRPr/>
          </a:p>
        </p:txBody>
      </p:sp>
      <p:sp>
        <p:nvSpPr>
          <p:cNvPr id="338" name="Google Shape;338;p22"/>
          <p:cNvSpPr txBox="1"/>
          <p:nvPr/>
        </p:nvSpPr>
        <p:spPr>
          <a:xfrm>
            <a:off x="6984825" y="571485"/>
            <a:ext cx="4495687" cy="253993"/>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100">
                <a:solidFill>
                  <a:srgbClr val="757068"/>
                </a:solidFill>
                <a:latin typeface="Space Grotesk"/>
                <a:ea typeface="Space Grotesk"/>
                <a:cs typeface="Space Grotesk"/>
                <a:sym typeface="Space Grotesk"/>
              </a:rPr>
              <a:t>Thank you</a:t>
            </a:r>
            <a:endParaRPr/>
          </a:p>
        </p:txBody>
      </p:sp>
      <p:cxnSp>
        <p:nvCxnSpPr>
          <p:cNvPr id="339" name="Google Shape;339;p22"/>
          <p:cNvCxnSpPr/>
          <p:nvPr/>
        </p:nvCxnSpPr>
        <p:spPr>
          <a:xfrm>
            <a:off x="711182" y="6286342"/>
            <a:ext cx="10769330" cy="0"/>
          </a:xfrm>
          <a:prstGeom prst="straightConnector1">
            <a:avLst/>
          </a:prstGeom>
          <a:noFill/>
          <a:ln cap="flat" cmpd="sng" w="9525">
            <a:solidFill>
              <a:srgbClr val="332D25"/>
            </a:solidFill>
            <a:prstDash val="solid"/>
            <a:round/>
            <a:headEnd len="sm" w="sm" type="none"/>
            <a:tailEnd len="sm" w="sm" type="none"/>
          </a:ln>
          <a:effectLst>
            <a:outerShdw blurRad="40000" rotWithShape="0" dir="5400000" dist="20000">
              <a:srgbClr val="000000">
                <a:alpha val="38039"/>
              </a:srgbClr>
            </a:outerShdw>
          </a:effectLst>
        </p:spPr>
      </p:cxnSp>
      <p:sp>
        <p:nvSpPr>
          <p:cNvPr id="340" name="Google Shape;340;p22"/>
          <p:cNvSpPr txBox="1"/>
          <p:nvPr/>
        </p:nvSpPr>
        <p:spPr>
          <a:xfrm>
            <a:off x="711182" y="6413339"/>
            <a:ext cx="5714857" cy="22859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a:solidFill>
                  <a:srgbClr val="F4EFE6"/>
                </a:solidFill>
                <a:latin typeface="Space Grotesk"/>
                <a:ea typeface="Space Grotesk"/>
                <a:cs typeface="Space Grotesk"/>
                <a:sym typeface="Space Grotesk"/>
              </a:rPr>
              <a:t>buildfastwithai.com/hackathon ↗</a:t>
            </a:r>
            <a:endParaRPr/>
          </a:p>
        </p:txBody>
      </p:sp>
      <p:sp>
        <p:nvSpPr>
          <p:cNvPr id="341" name="Google Shape;341;p22"/>
          <p:cNvSpPr txBox="1"/>
          <p:nvPr/>
        </p:nvSpPr>
        <p:spPr>
          <a:xfrm>
            <a:off x="8254793" y="6426039"/>
            <a:ext cx="3225719" cy="228594"/>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00">
                <a:solidFill>
                  <a:srgbClr val="757068"/>
                </a:solidFill>
                <a:latin typeface="JetBrains Mono"/>
                <a:ea typeface="JetBrains Mono"/>
                <a:cs typeface="JetBrains Mono"/>
                <a:sym typeface="JetBrains Mono"/>
              </a:rPr>
              <a:t>10 / 10</a:t>
            </a:r>
            <a:endParaRPr/>
          </a:p>
        </p:txBody>
      </p:sp>
      <p:sp>
        <p:nvSpPr>
          <p:cNvPr id="342" name="Google Shape;342;p22"/>
          <p:cNvSpPr txBox="1"/>
          <p:nvPr/>
        </p:nvSpPr>
        <p:spPr>
          <a:xfrm>
            <a:off x="711182" y="2984425"/>
            <a:ext cx="5714857"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MYTHOS · PS-06</a:t>
            </a:r>
            <a:endParaRPr/>
          </a:p>
        </p:txBody>
      </p:sp>
      <p:sp>
        <p:nvSpPr>
          <p:cNvPr id="343" name="Google Shape;343;p22"/>
          <p:cNvSpPr txBox="1"/>
          <p:nvPr/>
        </p:nvSpPr>
        <p:spPr>
          <a:xfrm>
            <a:off x="711182" y="3238419"/>
            <a:ext cx="10159746" cy="139696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000">
                <a:solidFill>
                  <a:srgbClr val="F4EFE6"/>
                </a:solidFill>
                <a:latin typeface="Instrument Serif"/>
                <a:ea typeface="Instrument Serif"/>
                <a:cs typeface="Instrument Serif"/>
                <a:sym typeface="Instrument Serif"/>
              </a:rPr>
              <a:t>Thank </a:t>
            </a:r>
            <a:r>
              <a:rPr b="0" i="1" lang="en-US" sz="11000">
                <a:solidFill>
                  <a:srgbClr val="FFD27A"/>
                </a:solidFill>
                <a:latin typeface="Instrument Serif"/>
                <a:ea typeface="Instrument Serif"/>
                <a:cs typeface="Instrument Serif"/>
                <a:sym typeface="Instrument Serif"/>
              </a:rPr>
              <a:t>you.</a:t>
            </a:r>
            <a:endParaRPr/>
          </a:p>
        </p:txBody>
      </p:sp>
      <p:sp>
        <p:nvSpPr>
          <p:cNvPr id="344" name="Google Shape;344;p22"/>
          <p:cNvSpPr txBox="1"/>
          <p:nvPr/>
        </p:nvSpPr>
        <p:spPr>
          <a:xfrm>
            <a:off x="711182" y="5079873"/>
            <a:ext cx="5714857"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757068"/>
                </a:solidFill>
                <a:latin typeface="JetBrains Mono"/>
                <a:ea typeface="JetBrains Mono"/>
                <a:cs typeface="JetBrains Mono"/>
                <a:sym typeface="JetBrains Mono"/>
              </a:rPr>
              <a:t>OUR PUBLIC POST</a:t>
            </a:r>
            <a:endParaRPr/>
          </a:p>
        </p:txBody>
      </p:sp>
      <p:sp>
        <p:nvSpPr>
          <p:cNvPr id="345" name="Google Shape;345;p22"/>
          <p:cNvSpPr txBox="1"/>
          <p:nvPr/>
        </p:nvSpPr>
        <p:spPr>
          <a:xfrm>
            <a:off x="711182" y="5333866"/>
            <a:ext cx="8889777" cy="31749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a:solidFill>
                  <a:srgbClr val="F4EFE6"/>
                </a:solidFill>
                <a:latin typeface="Space Grotesk"/>
                <a:ea typeface="Space Grotesk"/>
                <a:cs typeface="Space Grotesk"/>
                <a:sym typeface="Space Grotesk"/>
              </a:rPr>
              <a:t>[Paste your LinkedIn or X post URL]</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pic>
        <p:nvPicPr>
          <p:cNvPr descr="hot.png" id="267" name="Google Shape;267;p20"/>
          <p:cNvPicPr preferRelativeResize="0"/>
          <p:nvPr/>
        </p:nvPicPr>
        <p:blipFill rotWithShape="1">
          <a:blip r:embed="rId3">
            <a:alphaModFix/>
          </a:blip>
          <a:srcRect b="0" l="0" r="0" t="0"/>
          <a:stretch/>
        </p:blipFill>
        <p:spPr>
          <a:xfrm>
            <a:off x="0" y="0"/>
            <a:ext cx="12191695" cy="6857828"/>
          </a:xfrm>
          <a:prstGeom prst="rect">
            <a:avLst/>
          </a:prstGeom>
          <a:noFill/>
          <a:ln>
            <a:noFill/>
          </a:ln>
        </p:spPr>
      </p:pic>
      <p:sp>
        <p:nvSpPr>
          <p:cNvPr id="268" name="Google Shape;268;p20"/>
          <p:cNvSpPr txBox="1"/>
          <p:nvPr/>
        </p:nvSpPr>
        <p:spPr>
          <a:xfrm>
            <a:off x="711182" y="558786"/>
            <a:ext cx="4444888" cy="25399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a:solidFill>
                  <a:srgbClr val="F4EFE6"/>
                </a:solidFill>
                <a:latin typeface="Space Grotesk"/>
                <a:ea typeface="Space Grotesk"/>
                <a:cs typeface="Space Grotesk"/>
                <a:sym typeface="Space Grotesk"/>
              </a:rPr>
              <a:t>✱  BFWAI/HACK 26</a:t>
            </a:r>
            <a:endParaRPr/>
          </a:p>
        </p:txBody>
      </p:sp>
      <p:sp>
        <p:nvSpPr>
          <p:cNvPr id="269" name="Google Shape;269;p20"/>
          <p:cNvSpPr txBox="1"/>
          <p:nvPr/>
        </p:nvSpPr>
        <p:spPr>
          <a:xfrm>
            <a:off x="6984825" y="571485"/>
            <a:ext cx="4495687" cy="253993"/>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100">
                <a:solidFill>
                  <a:srgbClr val="757068"/>
                </a:solidFill>
                <a:latin typeface="Space Grotesk"/>
                <a:ea typeface="Space Grotesk"/>
                <a:cs typeface="Space Grotesk"/>
                <a:sym typeface="Space Grotesk"/>
              </a:rPr>
              <a:t>03 · The evidence</a:t>
            </a:r>
            <a:endParaRPr/>
          </a:p>
        </p:txBody>
      </p:sp>
      <p:cxnSp>
        <p:nvCxnSpPr>
          <p:cNvPr id="270" name="Google Shape;270;p20"/>
          <p:cNvCxnSpPr/>
          <p:nvPr/>
        </p:nvCxnSpPr>
        <p:spPr>
          <a:xfrm>
            <a:off x="711182" y="6286342"/>
            <a:ext cx="10769330" cy="0"/>
          </a:xfrm>
          <a:prstGeom prst="straightConnector1">
            <a:avLst/>
          </a:prstGeom>
          <a:noFill/>
          <a:ln cap="flat" cmpd="sng" w="9525">
            <a:solidFill>
              <a:srgbClr val="332D25"/>
            </a:solidFill>
            <a:prstDash val="solid"/>
            <a:round/>
            <a:headEnd len="sm" w="sm" type="none"/>
            <a:tailEnd len="sm" w="sm" type="none"/>
          </a:ln>
          <a:effectLst>
            <a:outerShdw blurRad="40000" rotWithShape="0" dir="5400000" dist="20000">
              <a:srgbClr val="000000">
                <a:alpha val="38039"/>
              </a:srgbClr>
            </a:outerShdw>
          </a:effectLst>
        </p:spPr>
      </p:cxnSp>
      <p:sp>
        <p:nvSpPr>
          <p:cNvPr id="271" name="Google Shape;271;p20"/>
          <p:cNvSpPr txBox="1"/>
          <p:nvPr/>
        </p:nvSpPr>
        <p:spPr>
          <a:xfrm>
            <a:off x="711182" y="6413339"/>
            <a:ext cx="5714857" cy="22859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a:solidFill>
                  <a:srgbClr val="F4EFE6"/>
                </a:solidFill>
                <a:latin typeface="Space Grotesk"/>
                <a:ea typeface="Space Grotesk"/>
                <a:cs typeface="Space Grotesk"/>
                <a:sym typeface="Space Grotesk"/>
              </a:rPr>
              <a:t>buildfastwithai.com/hackathon ↗</a:t>
            </a:r>
            <a:endParaRPr/>
          </a:p>
        </p:txBody>
      </p:sp>
      <p:sp>
        <p:nvSpPr>
          <p:cNvPr id="272" name="Google Shape;272;p20"/>
          <p:cNvSpPr txBox="1"/>
          <p:nvPr/>
        </p:nvSpPr>
        <p:spPr>
          <a:xfrm>
            <a:off x="8254793" y="6426039"/>
            <a:ext cx="3225719" cy="228594"/>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00">
                <a:solidFill>
                  <a:srgbClr val="757068"/>
                </a:solidFill>
                <a:latin typeface="JetBrains Mono"/>
                <a:ea typeface="JetBrains Mono"/>
                <a:cs typeface="JetBrains Mono"/>
                <a:sym typeface="JetBrains Mono"/>
              </a:rPr>
              <a:t>03 / 10</a:t>
            </a:r>
            <a:endParaRPr/>
          </a:p>
        </p:txBody>
      </p:sp>
      <p:sp>
        <p:nvSpPr>
          <p:cNvPr id="273" name="Google Shape;273;p20"/>
          <p:cNvSpPr txBox="1"/>
          <p:nvPr/>
        </p:nvSpPr>
        <p:spPr>
          <a:xfrm>
            <a:off x="711182" y="1206469"/>
            <a:ext cx="5714857"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THE EVIDENCE</a:t>
            </a:r>
            <a:endParaRPr/>
          </a:p>
        </p:txBody>
      </p:sp>
      <p:sp>
        <p:nvSpPr>
          <p:cNvPr id="274" name="Google Shape;274;p20"/>
          <p:cNvSpPr txBox="1"/>
          <p:nvPr/>
        </p:nvSpPr>
        <p:spPr>
          <a:xfrm>
            <a:off x="711182" y="1492212"/>
            <a:ext cx="10794730" cy="952476"/>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0" i="0" lang="en-US" sz="5000">
                <a:solidFill>
                  <a:srgbClr val="F4EFE6"/>
                </a:solidFill>
                <a:latin typeface="Instrument Serif"/>
                <a:ea typeface="Instrument Serif"/>
                <a:cs typeface="Instrument Serif"/>
                <a:sym typeface="Instrument Serif"/>
              </a:rPr>
              <a:t>The proof </a:t>
            </a:r>
            <a:r>
              <a:rPr b="0" i="1" lang="en-US" sz="5000">
                <a:solidFill>
                  <a:srgbClr val="FFD27A"/>
                </a:solidFill>
                <a:latin typeface="Instrument Serif"/>
                <a:ea typeface="Instrument Serif"/>
                <a:cs typeface="Instrument Serif"/>
                <a:sym typeface="Instrument Serif"/>
              </a:rPr>
              <a:t>it's real</a:t>
            </a:r>
            <a:endParaRPr/>
          </a:p>
        </p:txBody>
      </p:sp>
      <p:sp>
        <p:nvSpPr>
          <p:cNvPr id="275" name="Google Shape;275;p20"/>
          <p:cNvSpPr/>
          <p:nvPr/>
        </p:nvSpPr>
        <p:spPr>
          <a:xfrm>
            <a:off x="711182" y="2539936"/>
            <a:ext cx="5206869" cy="1714457"/>
          </a:xfrm>
          <a:prstGeom prst="roundRect">
            <a:avLst>
              <a:gd fmla="val 6000" name="adj"/>
            </a:avLst>
          </a:prstGeom>
          <a:solidFill>
            <a:srgbClr val="17130E"/>
          </a:solidFill>
          <a:ln cap="flat" cmpd="sng" w="12700">
            <a:solidFill>
              <a:srgbClr val="332D2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6" name="Google Shape;276;p20"/>
          <p:cNvSpPr txBox="1"/>
          <p:nvPr/>
        </p:nvSpPr>
        <p:spPr>
          <a:xfrm>
            <a:off x="914377" y="2717732"/>
            <a:ext cx="4825879"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BELOW MINIMUM WAGE · CASUAL WORKERS</a:t>
            </a:r>
            <a:endParaRPr/>
          </a:p>
        </p:txBody>
      </p:sp>
      <p:sp>
        <p:nvSpPr>
          <p:cNvPr id="277" name="Google Shape;277;p20"/>
          <p:cNvSpPr txBox="1"/>
          <p:nvPr/>
        </p:nvSpPr>
        <p:spPr>
          <a:xfrm>
            <a:off x="914377" y="2984425"/>
            <a:ext cx="4800479" cy="5079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000">
                <a:solidFill>
                  <a:srgbClr val="F4EFE6"/>
                </a:solidFill>
                <a:latin typeface="Instrument Serif"/>
                <a:ea typeface="Instrument Serif"/>
                <a:cs typeface="Instrument Serif"/>
                <a:sym typeface="Instrument Serif"/>
              </a:rPr>
              <a:t>~70%</a:t>
            </a:r>
            <a:endParaRPr/>
          </a:p>
        </p:txBody>
      </p:sp>
      <p:sp>
        <p:nvSpPr>
          <p:cNvPr id="278" name="Google Shape;278;p20"/>
          <p:cNvSpPr txBox="1"/>
          <p:nvPr/>
        </p:nvSpPr>
        <p:spPr>
          <a:xfrm>
            <a:off x="914377" y="3619409"/>
            <a:ext cx="4800479" cy="57148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100">
                <a:solidFill>
                  <a:srgbClr val="9E988E"/>
                </a:solidFill>
                <a:latin typeface="Space Grotesk"/>
                <a:ea typeface="Space Grotesk"/>
                <a:cs typeface="Space Grotesk"/>
                <a:sym typeface="Space Grotesk"/>
              </a:rPr>
              <a:t>Chhattisgarh (Odisha ~66%, Jharkhand ~65%). SBI Research on PLFS 2025 data, May 2026.</a:t>
            </a:r>
            <a:endParaRPr/>
          </a:p>
        </p:txBody>
      </p:sp>
      <p:sp>
        <p:nvSpPr>
          <p:cNvPr id="279" name="Google Shape;279;p20"/>
          <p:cNvSpPr/>
          <p:nvPr/>
        </p:nvSpPr>
        <p:spPr>
          <a:xfrm>
            <a:off x="6273643" y="2539936"/>
            <a:ext cx="5206869" cy="1714457"/>
          </a:xfrm>
          <a:prstGeom prst="roundRect">
            <a:avLst>
              <a:gd fmla="val 6000" name="adj"/>
            </a:avLst>
          </a:prstGeom>
          <a:solidFill>
            <a:srgbClr val="2A2110"/>
          </a:solidFill>
          <a:ln cap="flat" cmpd="sng" w="12700">
            <a:solidFill>
              <a:srgbClr val="8A682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0" name="Google Shape;280;p20"/>
          <p:cNvSpPr txBox="1"/>
          <p:nvPr/>
        </p:nvSpPr>
        <p:spPr>
          <a:xfrm>
            <a:off x="6476838" y="2717732"/>
            <a:ext cx="4825879"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ENGLISH SPEAKERS · CHHATTISGARH</a:t>
            </a:r>
            <a:endParaRPr/>
          </a:p>
        </p:txBody>
      </p:sp>
      <p:sp>
        <p:nvSpPr>
          <p:cNvPr id="281" name="Google Shape;281;p20"/>
          <p:cNvSpPr txBox="1"/>
          <p:nvPr/>
        </p:nvSpPr>
        <p:spPr>
          <a:xfrm>
            <a:off x="6476838" y="2984425"/>
            <a:ext cx="4800479" cy="5079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000">
                <a:solidFill>
                  <a:srgbClr val="FFD27A"/>
                </a:solidFill>
                <a:latin typeface="Instrument Serif"/>
                <a:ea typeface="Instrument Serif"/>
                <a:cs typeface="Instrument Serif"/>
                <a:sym typeface="Instrument Serif"/>
              </a:rPr>
              <a:t>2.29%</a:t>
            </a:r>
            <a:endParaRPr/>
          </a:p>
        </p:txBody>
      </p:sp>
      <p:sp>
        <p:nvSpPr>
          <p:cNvPr id="282" name="Google Shape;282;p20"/>
          <p:cNvSpPr txBox="1"/>
          <p:nvPr/>
        </p:nvSpPr>
        <p:spPr>
          <a:xfrm>
            <a:off x="6476838" y="3619409"/>
            <a:ext cx="4800479" cy="57148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100">
                <a:solidFill>
                  <a:srgbClr val="9E988E"/>
                </a:solidFill>
                <a:latin typeface="Space Grotesk"/>
                <a:ea typeface="Space Grotesk"/>
                <a:cs typeface="Space Grotesk"/>
                <a:sym typeface="Space Grotesk"/>
              </a:rPr>
              <a:t>Hindi proficiency is 93.64%. Same state, highest below-minimum-wage rate. Census 2011.</a:t>
            </a:r>
            <a:endParaRPr/>
          </a:p>
        </p:txBody>
      </p:sp>
      <p:sp>
        <p:nvSpPr>
          <p:cNvPr id="283" name="Google Shape;283;p20"/>
          <p:cNvSpPr txBox="1"/>
          <p:nvPr/>
        </p:nvSpPr>
        <p:spPr>
          <a:xfrm>
            <a:off x="5918052" y="3206669"/>
            <a:ext cx="355591" cy="38099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3000">
                <a:solidFill>
                  <a:srgbClr val="F2B632"/>
                </a:solidFill>
                <a:latin typeface="Space Grotesk"/>
                <a:ea typeface="Space Grotesk"/>
                <a:cs typeface="Space Grotesk"/>
                <a:sym typeface="Space Grotesk"/>
              </a:rPr>
              <a:t>+</a:t>
            </a:r>
            <a:endParaRPr/>
          </a:p>
        </p:txBody>
      </p:sp>
      <p:sp>
        <p:nvSpPr>
          <p:cNvPr id="284" name="Google Shape;284;p20"/>
          <p:cNvSpPr/>
          <p:nvPr/>
        </p:nvSpPr>
        <p:spPr>
          <a:xfrm>
            <a:off x="711182" y="4508387"/>
            <a:ext cx="10769330" cy="1460463"/>
          </a:xfrm>
          <a:prstGeom prst="roundRect">
            <a:avLst>
              <a:gd fmla="val 6000" name="adj"/>
            </a:avLst>
          </a:prstGeom>
          <a:solidFill>
            <a:srgbClr val="17130E"/>
          </a:solidFill>
          <a:ln cap="flat" cmpd="sng" w="12700">
            <a:solidFill>
              <a:srgbClr val="332D2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5" name="Google Shape;285;p20"/>
          <p:cNvSpPr txBox="1"/>
          <p:nvPr/>
        </p:nvSpPr>
        <p:spPr>
          <a:xfrm>
            <a:off x="914377" y="4686182"/>
            <a:ext cx="10362940"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MORE SIGNALS</a:t>
            </a:r>
            <a:endParaRPr/>
          </a:p>
        </p:txBody>
      </p:sp>
      <p:sp>
        <p:nvSpPr>
          <p:cNvPr id="286" name="Google Shape;286;p20"/>
          <p:cNvSpPr txBox="1"/>
          <p:nvPr/>
        </p:nvSpPr>
        <p:spPr>
          <a:xfrm>
            <a:off x="914377" y="4952876"/>
            <a:ext cx="10362940" cy="850878"/>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100">
                <a:solidFill>
                  <a:srgbClr val="9E988E"/>
                </a:solidFill>
                <a:latin typeface="Space Grotesk"/>
                <a:ea typeface="Space Grotesk"/>
                <a:cs typeface="Space Grotesk"/>
                <a:sym typeface="Space Grotesk"/>
              </a:rPr>
              <a:t>89% of 11,159 stranded migrant workers went unpaid during the 2020 lockdown (SWAN survey).</a:t>
            </a:r>
            <a:endParaRPr/>
          </a:p>
          <a:p>
            <a:pPr indent="0" lvl="0" marL="0" marR="0" rtl="0" algn="l">
              <a:lnSpc>
                <a:spcPct val="115000"/>
              </a:lnSpc>
              <a:spcBef>
                <a:spcPts val="300"/>
              </a:spcBef>
              <a:spcAft>
                <a:spcPts val="0"/>
              </a:spcAft>
              <a:buNone/>
            </a:pPr>
            <a:r>
              <a:rPr b="0" i="0" lang="en-US" sz="1100">
                <a:solidFill>
                  <a:srgbClr val="9E988E"/>
                </a:solidFill>
                <a:latin typeface="Space Grotesk"/>
                <a:ea typeface="Space Grotesk"/>
                <a:cs typeface="Space Grotesk"/>
                <a:sym typeface="Space Grotesk"/>
              </a:rPr>
              <a:t>₹22,000+ crore collected for construction workers’ welfare sat unspent (Factly, 2017); 30.58 crore workers are on e-Shram (Feb 2025).</a:t>
            </a:r>
            <a:endParaRPr/>
          </a:p>
          <a:p>
            <a:pPr indent="0" lvl="0" marL="0" marR="0" rtl="0" algn="l">
              <a:lnSpc>
                <a:spcPct val="115000"/>
              </a:lnSpc>
              <a:spcBef>
                <a:spcPts val="300"/>
              </a:spcBef>
              <a:spcAft>
                <a:spcPts val="0"/>
              </a:spcAft>
              <a:buNone/>
            </a:pPr>
            <a:r>
              <a:rPr b="0" i="0" lang="en-US" sz="1100">
                <a:solidFill>
                  <a:srgbClr val="9E988E"/>
                </a:solidFill>
                <a:latin typeface="Space Grotesk"/>
                <a:ea typeface="Space Grotesk"/>
                <a:cs typeface="Space Grotesk"/>
                <a:sym typeface="Space Grotesk"/>
              </a:rPr>
              <a:t>No dedicated central law for domestic workers: the Supreme Court ordered a study in Jan 2025; the committee said none is needed (Jul 2025).</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pic>
        <p:nvPicPr>
          <p:cNvPr descr="corner.png" id="234" name="Google Shape;234;p19"/>
          <p:cNvPicPr preferRelativeResize="0"/>
          <p:nvPr/>
        </p:nvPicPr>
        <p:blipFill rotWithShape="1">
          <a:blip r:embed="rId3">
            <a:alphaModFix/>
          </a:blip>
          <a:srcRect b="0" l="0" r="0" t="0"/>
          <a:stretch/>
        </p:blipFill>
        <p:spPr>
          <a:xfrm>
            <a:off x="0" y="0"/>
            <a:ext cx="12191695" cy="6857828"/>
          </a:xfrm>
          <a:prstGeom prst="rect">
            <a:avLst/>
          </a:prstGeom>
          <a:noFill/>
          <a:ln>
            <a:noFill/>
          </a:ln>
        </p:spPr>
      </p:pic>
      <p:sp>
        <p:nvSpPr>
          <p:cNvPr id="235" name="Google Shape;235;p19"/>
          <p:cNvSpPr txBox="1"/>
          <p:nvPr/>
        </p:nvSpPr>
        <p:spPr>
          <a:xfrm>
            <a:off x="711182" y="558786"/>
            <a:ext cx="4444888" cy="25399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a:solidFill>
                  <a:srgbClr val="F4EFE6"/>
                </a:solidFill>
                <a:latin typeface="Space Grotesk"/>
                <a:ea typeface="Space Grotesk"/>
                <a:cs typeface="Space Grotesk"/>
                <a:sym typeface="Space Grotesk"/>
              </a:rPr>
              <a:t>✱  BFWAI/HACK 26</a:t>
            </a:r>
            <a:endParaRPr/>
          </a:p>
        </p:txBody>
      </p:sp>
      <p:sp>
        <p:nvSpPr>
          <p:cNvPr id="236" name="Google Shape;236;p19"/>
          <p:cNvSpPr txBox="1"/>
          <p:nvPr/>
        </p:nvSpPr>
        <p:spPr>
          <a:xfrm>
            <a:off x="6984825" y="571485"/>
            <a:ext cx="4495687" cy="253993"/>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100">
                <a:solidFill>
                  <a:srgbClr val="757068"/>
                </a:solidFill>
                <a:latin typeface="Space Grotesk"/>
                <a:ea typeface="Space Grotesk"/>
                <a:cs typeface="Space Grotesk"/>
                <a:sym typeface="Space Grotesk"/>
              </a:rPr>
              <a:t>06 · Data &amp; sources</a:t>
            </a:r>
            <a:endParaRPr/>
          </a:p>
        </p:txBody>
      </p:sp>
      <p:cxnSp>
        <p:nvCxnSpPr>
          <p:cNvPr id="237" name="Google Shape;237;p19"/>
          <p:cNvCxnSpPr/>
          <p:nvPr/>
        </p:nvCxnSpPr>
        <p:spPr>
          <a:xfrm>
            <a:off x="711182" y="6286342"/>
            <a:ext cx="10769330" cy="0"/>
          </a:xfrm>
          <a:prstGeom prst="straightConnector1">
            <a:avLst/>
          </a:prstGeom>
          <a:noFill/>
          <a:ln cap="flat" cmpd="sng" w="9525">
            <a:solidFill>
              <a:srgbClr val="332D25"/>
            </a:solidFill>
            <a:prstDash val="solid"/>
            <a:round/>
            <a:headEnd len="sm" w="sm" type="none"/>
            <a:tailEnd len="sm" w="sm" type="none"/>
          </a:ln>
          <a:effectLst>
            <a:outerShdw blurRad="40000" rotWithShape="0" dir="5400000" dist="20000">
              <a:srgbClr val="000000">
                <a:alpha val="38039"/>
              </a:srgbClr>
            </a:outerShdw>
          </a:effectLst>
        </p:spPr>
      </p:cxnSp>
      <p:sp>
        <p:nvSpPr>
          <p:cNvPr id="238" name="Google Shape;238;p19"/>
          <p:cNvSpPr txBox="1"/>
          <p:nvPr/>
        </p:nvSpPr>
        <p:spPr>
          <a:xfrm>
            <a:off x="711182" y="6413339"/>
            <a:ext cx="5714857" cy="22859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a:solidFill>
                  <a:srgbClr val="F4EFE6"/>
                </a:solidFill>
                <a:latin typeface="Space Grotesk"/>
                <a:ea typeface="Space Grotesk"/>
                <a:cs typeface="Space Grotesk"/>
                <a:sym typeface="Space Grotesk"/>
              </a:rPr>
              <a:t>buildfastwithai.com/hackathon ↗</a:t>
            </a:r>
            <a:endParaRPr/>
          </a:p>
        </p:txBody>
      </p:sp>
      <p:sp>
        <p:nvSpPr>
          <p:cNvPr id="239" name="Google Shape;239;p19"/>
          <p:cNvSpPr txBox="1"/>
          <p:nvPr/>
        </p:nvSpPr>
        <p:spPr>
          <a:xfrm>
            <a:off x="8254793" y="6426039"/>
            <a:ext cx="3225719" cy="228594"/>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00">
                <a:solidFill>
                  <a:srgbClr val="757068"/>
                </a:solidFill>
                <a:latin typeface="JetBrains Mono"/>
                <a:ea typeface="JetBrains Mono"/>
                <a:cs typeface="JetBrains Mono"/>
                <a:sym typeface="JetBrains Mono"/>
              </a:rPr>
              <a:t>06 / 10</a:t>
            </a:r>
            <a:endParaRPr/>
          </a:p>
        </p:txBody>
      </p:sp>
      <p:sp>
        <p:nvSpPr>
          <p:cNvPr id="240" name="Google Shape;240;p19"/>
          <p:cNvSpPr txBox="1"/>
          <p:nvPr/>
        </p:nvSpPr>
        <p:spPr>
          <a:xfrm>
            <a:off x="711182" y="1206469"/>
            <a:ext cx="5714857"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DATA &amp; SOURCES</a:t>
            </a:r>
            <a:endParaRPr/>
          </a:p>
        </p:txBody>
      </p:sp>
      <p:sp>
        <p:nvSpPr>
          <p:cNvPr id="241" name="Google Shape;241;p19"/>
          <p:cNvSpPr txBox="1"/>
          <p:nvPr/>
        </p:nvSpPr>
        <p:spPr>
          <a:xfrm>
            <a:off x="711182" y="1492212"/>
            <a:ext cx="10794730" cy="952476"/>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0" i="0" lang="en-US" sz="5000">
                <a:solidFill>
                  <a:srgbClr val="F4EFE6"/>
                </a:solidFill>
                <a:latin typeface="Instrument Serif"/>
                <a:ea typeface="Instrument Serif"/>
                <a:cs typeface="Instrument Serif"/>
                <a:sym typeface="Instrument Serif"/>
              </a:rPr>
              <a:t>Where the data </a:t>
            </a:r>
            <a:r>
              <a:rPr b="0" i="1" lang="en-US" sz="5000">
                <a:solidFill>
                  <a:srgbClr val="FFD27A"/>
                </a:solidFill>
                <a:latin typeface="Instrument Serif"/>
                <a:ea typeface="Instrument Serif"/>
                <a:cs typeface="Instrument Serif"/>
                <a:sym typeface="Instrument Serif"/>
              </a:rPr>
              <a:t>comes from</a:t>
            </a:r>
            <a:endParaRPr/>
          </a:p>
        </p:txBody>
      </p:sp>
      <p:cxnSp>
        <p:nvCxnSpPr>
          <p:cNvPr id="242" name="Google Shape;242;p19"/>
          <p:cNvCxnSpPr/>
          <p:nvPr/>
        </p:nvCxnSpPr>
        <p:spPr>
          <a:xfrm>
            <a:off x="711182" y="2539936"/>
            <a:ext cx="10769330" cy="0"/>
          </a:xfrm>
          <a:prstGeom prst="straightConnector1">
            <a:avLst/>
          </a:prstGeom>
          <a:noFill/>
          <a:ln cap="flat" cmpd="sng" w="9525">
            <a:solidFill>
              <a:srgbClr val="332D25"/>
            </a:solidFill>
            <a:prstDash val="solid"/>
            <a:round/>
            <a:headEnd len="sm" w="sm" type="none"/>
            <a:tailEnd len="sm" w="sm" type="none"/>
          </a:ln>
          <a:effectLst>
            <a:outerShdw blurRad="40000" rotWithShape="0" dir="5400000" dist="20000">
              <a:srgbClr val="000000">
                <a:alpha val="38039"/>
              </a:srgbClr>
            </a:outerShdw>
          </a:effectLst>
        </p:spPr>
      </p:cxnSp>
      <p:sp>
        <p:nvSpPr>
          <p:cNvPr id="243" name="Google Shape;243;p19"/>
          <p:cNvSpPr txBox="1"/>
          <p:nvPr/>
        </p:nvSpPr>
        <p:spPr>
          <a:xfrm>
            <a:off x="711182" y="2679633"/>
            <a:ext cx="634984" cy="44448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1" lang="en-US" sz="2400">
                <a:solidFill>
                  <a:srgbClr val="FFD27A"/>
                </a:solidFill>
                <a:latin typeface="Instrument Serif"/>
                <a:ea typeface="Instrument Serif"/>
                <a:cs typeface="Instrument Serif"/>
                <a:sym typeface="Instrument Serif"/>
              </a:rPr>
              <a:t>01</a:t>
            </a:r>
            <a:endParaRPr/>
          </a:p>
        </p:txBody>
      </p:sp>
      <p:sp>
        <p:nvSpPr>
          <p:cNvPr id="244" name="Google Shape;244;p19"/>
          <p:cNvSpPr txBox="1"/>
          <p:nvPr/>
        </p:nvSpPr>
        <p:spPr>
          <a:xfrm>
            <a:off x="1460463" y="2705032"/>
            <a:ext cx="3555911"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a:solidFill>
                  <a:srgbClr val="F4EFE6"/>
                </a:solidFill>
                <a:latin typeface="Space Grotesk"/>
                <a:ea typeface="Space Grotesk"/>
                <a:cs typeface="Space Grotesk"/>
                <a:sym typeface="Space Grotesk"/>
              </a:rPr>
              <a:t>Code on Wages, 2019</a:t>
            </a:r>
            <a:endParaRPr/>
          </a:p>
        </p:txBody>
      </p:sp>
      <p:sp>
        <p:nvSpPr>
          <p:cNvPr id="245" name="Google Shape;245;p19"/>
          <p:cNvSpPr txBox="1"/>
          <p:nvPr/>
        </p:nvSpPr>
        <p:spPr>
          <a:xfrm>
            <a:off x="5206869" y="2730431"/>
            <a:ext cx="6273643"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00">
                <a:solidFill>
                  <a:srgbClr val="9E988E"/>
                </a:solidFill>
                <a:latin typeface="Space Grotesk"/>
                <a:ea typeface="Space Grotesk"/>
                <a:cs typeface="Space Grotesk"/>
                <a:sym typeface="Space Grotesk"/>
              </a:rPr>
              <a:t>Official gazette (labour.gov.in). Minimum wage (s.5), payment deadlines (s.17) and the 3-year claim window become wage-rights cards.</a:t>
            </a:r>
            <a:endParaRPr/>
          </a:p>
        </p:txBody>
      </p:sp>
      <p:cxnSp>
        <p:nvCxnSpPr>
          <p:cNvPr id="246" name="Google Shape;246;p19"/>
          <p:cNvCxnSpPr/>
          <p:nvPr/>
        </p:nvCxnSpPr>
        <p:spPr>
          <a:xfrm>
            <a:off x="711182" y="3238419"/>
            <a:ext cx="10769330" cy="0"/>
          </a:xfrm>
          <a:prstGeom prst="straightConnector1">
            <a:avLst/>
          </a:prstGeom>
          <a:noFill/>
          <a:ln cap="flat" cmpd="sng" w="9525">
            <a:solidFill>
              <a:srgbClr val="332D25"/>
            </a:solidFill>
            <a:prstDash val="solid"/>
            <a:round/>
            <a:headEnd len="sm" w="sm" type="none"/>
            <a:tailEnd len="sm" w="sm" type="none"/>
          </a:ln>
          <a:effectLst>
            <a:outerShdw blurRad="40000" rotWithShape="0" dir="5400000" dist="20000">
              <a:srgbClr val="000000">
                <a:alpha val="38039"/>
              </a:srgbClr>
            </a:outerShdw>
          </a:effectLst>
        </p:spPr>
      </p:cxnSp>
      <p:sp>
        <p:nvSpPr>
          <p:cNvPr id="247" name="Google Shape;247;p19"/>
          <p:cNvSpPr txBox="1"/>
          <p:nvPr/>
        </p:nvSpPr>
        <p:spPr>
          <a:xfrm>
            <a:off x="711182" y="3378115"/>
            <a:ext cx="634984" cy="44448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1" lang="en-US" sz="2400">
                <a:solidFill>
                  <a:srgbClr val="FFD27A"/>
                </a:solidFill>
                <a:latin typeface="Instrument Serif"/>
                <a:ea typeface="Instrument Serif"/>
                <a:cs typeface="Instrument Serif"/>
                <a:sym typeface="Instrument Serif"/>
              </a:rPr>
              <a:t>02</a:t>
            </a:r>
            <a:endParaRPr/>
          </a:p>
        </p:txBody>
      </p:sp>
      <p:sp>
        <p:nvSpPr>
          <p:cNvPr id="248" name="Google Shape;248;p19"/>
          <p:cNvSpPr txBox="1"/>
          <p:nvPr/>
        </p:nvSpPr>
        <p:spPr>
          <a:xfrm>
            <a:off x="1460463" y="3403514"/>
            <a:ext cx="3555911"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a:solidFill>
                  <a:srgbClr val="F4EFE6"/>
                </a:solidFill>
                <a:latin typeface="Space Grotesk"/>
                <a:ea typeface="Space Grotesk"/>
                <a:cs typeface="Space Grotesk"/>
                <a:sym typeface="Space Grotesk"/>
              </a:rPr>
              <a:t>Code on Social Security</a:t>
            </a:r>
            <a:endParaRPr/>
          </a:p>
        </p:txBody>
      </p:sp>
      <p:sp>
        <p:nvSpPr>
          <p:cNvPr id="249" name="Google Shape;249;p19"/>
          <p:cNvSpPr txBox="1"/>
          <p:nvPr/>
        </p:nvSpPr>
        <p:spPr>
          <a:xfrm>
            <a:off x="5206869" y="3428914"/>
            <a:ext cx="6273643"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00">
                <a:solidFill>
                  <a:srgbClr val="9E988E"/>
                </a:solidFill>
                <a:latin typeface="Space Grotesk"/>
                <a:ea typeface="Space Grotesk"/>
                <a:cs typeface="Space Grotesk"/>
                <a:sym typeface="Space Grotesk"/>
              </a:rPr>
              <a:t>PIB and PRS summaries. Covers unorganised and domestic workers; becomes benefits and registration cards.</a:t>
            </a:r>
            <a:endParaRPr/>
          </a:p>
        </p:txBody>
      </p:sp>
      <p:cxnSp>
        <p:nvCxnSpPr>
          <p:cNvPr id="250" name="Google Shape;250;p19"/>
          <p:cNvCxnSpPr/>
          <p:nvPr/>
        </p:nvCxnSpPr>
        <p:spPr>
          <a:xfrm>
            <a:off x="711182" y="3936901"/>
            <a:ext cx="10769330" cy="0"/>
          </a:xfrm>
          <a:prstGeom prst="straightConnector1">
            <a:avLst/>
          </a:prstGeom>
          <a:noFill/>
          <a:ln cap="flat" cmpd="sng" w="9525">
            <a:solidFill>
              <a:srgbClr val="332D25"/>
            </a:solidFill>
            <a:prstDash val="solid"/>
            <a:round/>
            <a:headEnd len="sm" w="sm" type="none"/>
            <a:tailEnd len="sm" w="sm" type="none"/>
          </a:ln>
          <a:effectLst>
            <a:outerShdw blurRad="40000" rotWithShape="0" dir="5400000" dist="20000">
              <a:srgbClr val="000000">
                <a:alpha val="38039"/>
              </a:srgbClr>
            </a:outerShdw>
          </a:effectLst>
        </p:spPr>
      </p:cxnSp>
      <p:sp>
        <p:nvSpPr>
          <p:cNvPr id="251" name="Google Shape;251;p19"/>
          <p:cNvSpPr txBox="1"/>
          <p:nvPr/>
        </p:nvSpPr>
        <p:spPr>
          <a:xfrm>
            <a:off x="711182" y="4076598"/>
            <a:ext cx="634984" cy="44448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1" lang="en-US" sz="2400">
                <a:solidFill>
                  <a:srgbClr val="FFD27A"/>
                </a:solidFill>
                <a:latin typeface="Instrument Serif"/>
                <a:ea typeface="Instrument Serif"/>
                <a:cs typeface="Instrument Serif"/>
                <a:sym typeface="Instrument Serif"/>
              </a:rPr>
              <a:t>03</a:t>
            </a:r>
            <a:endParaRPr/>
          </a:p>
        </p:txBody>
      </p:sp>
      <p:sp>
        <p:nvSpPr>
          <p:cNvPr id="252" name="Google Shape;252;p19"/>
          <p:cNvSpPr txBox="1"/>
          <p:nvPr/>
        </p:nvSpPr>
        <p:spPr>
          <a:xfrm>
            <a:off x="1460463" y="4101997"/>
            <a:ext cx="3555911"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a:solidFill>
                  <a:srgbClr val="F4EFE6"/>
                </a:solidFill>
                <a:latin typeface="Space Grotesk"/>
                <a:ea typeface="Space Grotesk"/>
                <a:cs typeface="Space Grotesk"/>
                <a:sym typeface="Space Grotesk"/>
              </a:rPr>
              <a:t>e-Shram · PM-SYM · PMSBY</a:t>
            </a:r>
            <a:endParaRPr/>
          </a:p>
        </p:txBody>
      </p:sp>
      <p:sp>
        <p:nvSpPr>
          <p:cNvPr id="253" name="Google Shape;253;p19"/>
          <p:cNvSpPr txBox="1"/>
          <p:nvPr/>
        </p:nvSpPr>
        <p:spPr>
          <a:xfrm>
            <a:off x="5206869" y="4127396"/>
            <a:ext cx="6273643"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00">
                <a:solidFill>
                  <a:srgbClr val="9E988E"/>
                </a:solidFill>
                <a:latin typeface="Space Grotesk"/>
                <a:ea typeface="Space Grotesk"/>
                <a:cs typeface="Space Grotesk"/>
                <a:sym typeface="Space Grotesk"/>
              </a:rPr>
              <a:t>Official portals. Free registration, ₹2 lakh accident cover and a ₹3,000 pension (ages 18–40) feed the scheme matcher.</a:t>
            </a:r>
            <a:endParaRPr/>
          </a:p>
        </p:txBody>
      </p:sp>
      <p:cxnSp>
        <p:nvCxnSpPr>
          <p:cNvPr id="254" name="Google Shape;254;p19"/>
          <p:cNvCxnSpPr/>
          <p:nvPr/>
        </p:nvCxnSpPr>
        <p:spPr>
          <a:xfrm>
            <a:off x="711182" y="4635384"/>
            <a:ext cx="10769330" cy="0"/>
          </a:xfrm>
          <a:prstGeom prst="straightConnector1">
            <a:avLst/>
          </a:prstGeom>
          <a:noFill/>
          <a:ln cap="flat" cmpd="sng" w="9525">
            <a:solidFill>
              <a:srgbClr val="332D25"/>
            </a:solidFill>
            <a:prstDash val="solid"/>
            <a:round/>
            <a:headEnd len="sm" w="sm" type="none"/>
            <a:tailEnd len="sm" w="sm" type="none"/>
          </a:ln>
          <a:effectLst>
            <a:outerShdw blurRad="40000" rotWithShape="0" dir="5400000" dist="20000">
              <a:srgbClr val="000000">
                <a:alpha val="38039"/>
              </a:srgbClr>
            </a:outerShdw>
          </a:effectLst>
        </p:spPr>
      </p:cxnSp>
      <p:sp>
        <p:nvSpPr>
          <p:cNvPr id="255" name="Google Shape;255;p19"/>
          <p:cNvSpPr txBox="1"/>
          <p:nvPr/>
        </p:nvSpPr>
        <p:spPr>
          <a:xfrm>
            <a:off x="711182" y="4775080"/>
            <a:ext cx="634984" cy="44448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1" lang="en-US" sz="2400">
                <a:solidFill>
                  <a:srgbClr val="FFD27A"/>
                </a:solidFill>
                <a:latin typeface="Instrument Serif"/>
                <a:ea typeface="Instrument Serif"/>
                <a:cs typeface="Instrument Serif"/>
                <a:sym typeface="Instrument Serif"/>
              </a:rPr>
              <a:t>04</a:t>
            </a:r>
            <a:endParaRPr/>
          </a:p>
        </p:txBody>
      </p:sp>
      <p:sp>
        <p:nvSpPr>
          <p:cNvPr id="256" name="Google Shape;256;p19"/>
          <p:cNvSpPr txBox="1"/>
          <p:nvPr/>
        </p:nvSpPr>
        <p:spPr>
          <a:xfrm>
            <a:off x="1460463" y="4800479"/>
            <a:ext cx="3555911"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a:solidFill>
                  <a:srgbClr val="F4EFE6"/>
                </a:solidFill>
                <a:latin typeface="Space Grotesk"/>
                <a:ea typeface="Space Grotesk"/>
                <a:cs typeface="Space Grotesk"/>
                <a:sym typeface="Space Grotesk"/>
              </a:rPr>
              <a:t>Maternity &amp; POSH Acts</a:t>
            </a:r>
            <a:endParaRPr/>
          </a:p>
        </p:txBody>
      </p:sp>
      <p:sp>
        <p:nvSpPr>
          <p:cNvPr id="257" name="Google Shape;257;p19"/>
          <p:cNvSpPr txBox="1"/>
          <p:nvPr/>
        </p:nvSpPr>
        <p:spPr>
          <a:xfrm>
            <a:off x="5206869" y="4825879"/>
            <a:ext cx="6273643"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00">
                <a:solidFill>
                  <a:srgbClr val="9E988E"/>
                </a:solidFill>
                <a:latin typeface="Space Grotesk"/>
                <a:ea typeface="Space Grotesk"/>
                <a:cs typeface="Space Grotesk"/>
                <a:sym typeface="Space Grotesk"/>
              </a:rPr>
              <a:t>Bare Acts and the ILO guide. Maternity leave and workplace-harassment redress become two rights cards.</a:t>
            </a:r>
            <a:endParaRPr/>
          </a:p>
        </p:txBody>
      </p:sp>
      <p:cxnSp>
        <p:nvCxnSpPr>
          <p:cNvPr id="258" name="Google Shape;258;p19"/>
          <p:cNvCxnSpPr/>
          <p:nvPr/>
        </p:nvCxnSpPr>
        <p:spPr>
          <a:xfrm>
            <a:off x="711182" y="5333866"/>
            <a:ext cx="10769330" cy="0"/>
          </a:xfrm>
          <a:prstGeom prst="straightConnector1">
            <a:avLst/>
          </a:prstGeom>
          <a:noFill/>
          <a:ln cap="flat" cmpd="sng" w="9525">
            <a:solidFill>
              <a:srgbClr val="332D25"/>
            </a:solidFill>
            <a:prstDash val="solid"/>
            <a:round/>
            <a:headEnd len="sm" w="sm" type="none"/>
            <a:tailEnd len="sm" w="sm" type="none"/>
          </a:ln>
          <a:effectLst>
            <a:outerShdw blurRad="40000" rotWithShape="0" dir="5400000" dist="20000">
              <a:srgbClr val="000000">
                <a:alpha val="38039"/>
              </a:srgbClr>
            </a:outerShdw>
          </a:effectLst>
        </p:spPr>
      </p:cxnSp>
      <p:sp>
        <p:nvSpPr>
          <p:cNvPr id="259" name="Google Shape;259;p19"/>
          <p:cNvSpPr txBox="1"/>
          <p:nvPr/>
        </p:nvSpPr>
        <p:spPr>
          <a:xfrm>
            <a:off x="711182" y="5473563"/>
            <a:ext cx="634984" cy="44448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1" lang="en-US" sz="2400">
                <a:solidFill>
                  <a:srgbClr val="FFD27A"/>
                </a:solidFill>
                <a:latin typeface="Instrument Serif"/>
                <a:ea typeface="Instrument Serif"/>
                <a:cs typeface="Instrument Serif"/>
                <a:sym typeface="Instrument Serif"/>
              </a:rPr>
              <a:t>05</a:t>
            </a:r>
            <a:endParaRPr/>
          </a:p>
        </p:txBody>
      </p:sp>
      <p:sp>
        <p:nvSpPr>
          <p:cNvPr id="260" name="Google Shape;260;p19"/>
          <p:cNvSpPr txBox="1"/>
          <p:nvPr/>
        </p:nvSpPr>
        <p:spPr>
          <a:xfrm>
            <a:off x="1460463" y="5498962"/>
            <a:ext cx="3555911"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a:solidFill>
                  <a:srgbClr val="F4EFE6"/>
                </a:solidFill>
                <a:latin typeface="Space Grotesk"/>
                <a:ea typeface="Space Grotesk"/>
                <a:cs typeface="Space Grotesk"/>
                <a:sym typeface="Space Grotesk"/>
              </a:rPr>
              <a:t>How we use it</a:t>
            </a:r>
            <a:endParaRPr/>
          </a:p>
        </p:txBody>
      </p:sp>
      <p:sp>
        <p:nvSpPr>
          <p:cNvPr id="261" name="Google Shape;261;p19"/>
          <p:cNvSpPr txBox="1"/>
          <p:nvPr/>
        </p:nvSpPr>
        <p:spPr>
          <a:xfrm>
            <a:off x="5206869" y="5524361"/>
            <a:ext cx="6273643"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00">
                <a:solidFill>
                  <a:srgbClr val="9E988E"/>
                </a:solidFill>
                <a:latin typeface="Space Grotesk"/>
                <a:ea typeface="Space Grotesk"/>
                <a:cs typeface="Space Grotesk"/>
                <a:sym typeface="Space Grotesk"/>
              </a:rPr>
              <a:t>Each source becomes short Hindi cards with section and link, embedded and retrieved; the answer must cite a card, or refuse.</a:t>
            </a:r>
            <a:endParaRPr/>
          </a:p>
        </p:txBody>
      </p:sp>
      <p:cxnSp>
        <p:nvCxnSpPr>
          <p:cNvPr id="262" name="Google Shape;262;p19"/>
          <p:cNvCxnSpPr/>
          <p:nvPr/>
        </p:nvCxnSpPr>
        <p:spPr>
          <a:xfrm>
            <a:off x="711182" y="6032349"/>
            <a:ext cx="10769330" cy="0"/>
          </a:xfrm>
          <a:prstGeom prst="straightConnector1">
            <a:avLst/>
          </a:prstGeom>
          <a:noFill/>
          <a:ln cap="flat" cmpd="sng" w="9525">
            <a:solidFill>
              <a:srgbClr val="332D25"/>
            </a:solidFill>
            <a:prstDash val="solid"/>
            <a:round/>
            <a:headEnd len="sm" w="sm" type="none"/>
            <a:tailEnd len="sm" w="sm" type="none"/>
          </a:ln>
          <a:effectLst>
            <a:outerShdw blurRad="40000" rotWithShape="0" dir="5400000" dist="20000">
              <a:srgbClr val="000000">
                <a:alpha val="38039"/>
              </a:srgbClr>
            </a:outerShdw>
          </a:effectLst>
        </p:spPr>
      </p:cxn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